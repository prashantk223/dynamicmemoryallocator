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3"/>
  </p:notesMasterIdLst>
  <p:sldIdLst>
    <p:sldId id="2389" r:id="rId2"/>
    <p:sldId id="2437" r:id="rId3"/>
    <p:sldId id="2375" r:id="rId4"/>
    <p:sldId id="2390" r:id="rId5"/>
    <p:sldId id="2376" r:id="rId6"/>
    <p:sldId id="2436" r:id="rId7"/>
    <p:sldId id="2377" r:id="rId8"/>
    <p:sldId id="2393" r:id="rId9"/>
    <p:sldId id="2424" r:id="rId10"/>
    <p:sldId id="2425" r:id="rId11"/>
    <p:sldId id="2421" r:id="rId12"/>
    <p:sldId id="2423" r:id="rId13"/>
    <p:sldId id="2426" r:id="rId14"/>
    <p:sldId id="2378" r:id="rId15"/>
    <p:sldId id="2382" r:id="rId16"/>
    <p:sldId id="2383" r:id="rId17"/>
    <p:sldId id="2384" r:id="rId18"/>
    <p:sldId id="2385" r:id="rId19"/>
    <p:sldId id="2419" r:id="rId20"/>
    <p:sldId id="2420" r:id="rId21"/>
    <p:sldId id="2418" r:id="rId22"/>
    <p:sldId id="2386" r:id="rId23"/>
    <p:sldId id="1489" r:id="rId24"/>
    <p:sldId id="2388" r:id="rId25"/>
    <p:sldId id="2391" r:id="rId26"/>
    <p:sldId id="2392" r:id="rId27"/>
    <p:sldId id="2394" r:id="rId28"/>
    <p:sldId id="2427" r:id="rId29"/>
    <p:sldId id="2428" r:id="rId30"/>
    <p:sldId id="2429" r:id="rId31"/>
    <p:sldId id="2430" r:id="rId32"/>
    <p:sldId id="2431" r:id="rId33"/>
    <p:sldId id="2432" r:id="rId34"/>
    <p:sldId id="2433" r:id="rId35"/>
    <p:sldId id="2434" r:id="rId36"/>
    <p:sldId id="2438" r:id="rId37"/>
    <p:sldId id="2442" r:id="rId38"/>
    <p:sldId id="2440" r:id="rId39"/>
    <p:sldId id="2441" r:id="rId40"/>
    <p:sldId id="2435" r:id="rId41"/>
    <p:sldId id="2452" r:id="rId42"/>
    <p:sldId id="2447" r:id="rId43"/>
    <p:sldId id="2448" r:id="rId44"/>
    <p:sldId id="2449" r:id="rId45"/>
    <p:sldId id="2450" r:id="rId46"/>
    <p:sldId id="2453" r:id="rId47"/>
    <p:sldId id="2454" r:id="rId48"/>
    <p:sldId id="2455" r:id="rId49"/>
    <p:sldId id="2456" r:id="rId50"/>
    <p:sldId id="2457" r:id="rId51"/>
    <p:sldId id="2458" r:id="rId52"/>
    <p:sldId id="2459" r:id="rId53"/>
    <p:sldId id="2462" r:id="rId54"/>
    <p:sldId id="2460" r:id="rId55"/>
    <p:sldId id="2461" r:id="rId56"/>
    <p:sldId id="2469" r:id="rId57"/>
    <p:sldId id="2470" r:id="rId58"/>
    <p:sldId id="2472" r:id="rId59"/>
    <p:sldId id="2473" r:id="rId60"/>
    <p:sldId id="2474" r:id="rId61"/>
    <p:sldId id="2471" r:id="rId62"/>
    <p:sldId id="2395" r:id="rId63"/>
    <p:sldId id="2476" r:id="rId64"/>
    <p:sldId id="2484" r:id="rId65"/>
    <p:sldId id="2477" r:id="rId66"/>
    <p:sldId id="2479" r:id="rId67"/>
    <p:sldId id="2485" r:id="rId68"/>
    <p:sldId id="2480" r:id="rId69"/>
    <p:sldId id="2481" r:id="rId70"/>
    <p:sldId id="2482" r:id="rId71"/>
    <p:sldId id="2475" r:id="rId72"/>
    <p:sldId id="2483" r:id="rId73"/>
    <p:sldId id="2468" r:id="rId74"/>
    <p:sldId id="2464" r:id="rId75"/>
    <p:sldId id="2466" r:id="rId76"/>
    <p:sldId id="2467" r:id="rId77"/>
    <p:sldId id="2465" r:id="rId78"/>
    <p:sldId id="2488" r:id="rId79"/>
    <p:sldId id="2444" r:id="rId80"/>
    <p:sldId id="2396" r:id="rId81"/>
    <p:sldId id="2397" r:id="rId82"/>
    <p:sldId id="2398" r:id="rId83"/>
    <p:sldId id="2400" r:id="rId84"/>
    <p:sldId id="2487" r:id="rId85"/>
    <p:sldId id="2498" r:id="rId86"/>
    <p:sldId id="2489" r:id="rId87"/>
    <p:sldId id="2491" r:id="rId88"/>
    <p:sldId id="2492" r:id="rId89"/>
    <p:sldId id="2493" r:id="rId90"/>
    <p:sldId id="2495" r:id="rId91"/>
    <p:sldId id="2494" r:id="rId92"/>
    <p:sldId id="2504" r:id="rId93"/>
    <p:sldId id="2501" r:id="rId94"/>
    <p:sldId id="2502" r:id="rId95"/>
    <p:sldId id="2505" r:id="rId96"/>
    <p:sldId id="2503" r:id="rId97"/>
    <p:sldId id="2506" r:id="rId98"/>
    <p:sldId id="2507" r:id="rId99"/>
    <p:sldId id="2508" r:id="rId100"/>
    <p:sldId id="2509" r:id="rId101"/>
    <p:sldId id="2510" r:id="rId102"/>
    <p:sldId id="2486" r:id="rId103"/>
    <p:sldId id="2513" r:id="rId104"/>
    <p:sldId id="2514" r:id="rId105"/>
    <p:sldId id="2515" r:id="rId106"/>
    <p:sldId id="2518" r:id="rId107"/>
    <p:sldId id="2517" r:id="rId108"/>
    <p:sldId id="2519" r:id="rId109"/>
    <p:sldId id="2521" r:id="rId110"/>
    <p:sldId id="2520" r:id="rId111"/>
    <p:sldId id="2523" r:id="rId112"/>
    <p:sldId id="2524" r:id="rId113"/>
    <p:sldId id="2522" r:id="rId114"/>
    <p:sldId id="2525" r:id="rId115"/>
    <p:sldId id="2526" r:id="rId116"/>
    <p:sldId id="2528" r:id="rId117"/>
    <p:sldId id="2527" r:id="rId118"/>
    <p:sldId id="2533" r:id="rId119"/>
    <p:sldId id="2529" r:id="rId120"/>
    <p:sldId id="2531" r:id="rId121"/>
    <p:sldId id="2512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9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5AC97-8628-0F42-844D-96C77C3872EC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F3189-1D68-FF46-839F-8B932A470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97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913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1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63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00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3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900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71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26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74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57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11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32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93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1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796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981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18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2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76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61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0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67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896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4577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47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716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362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7706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97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865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592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7656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3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820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5916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1698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326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266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060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0752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19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87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4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8029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7968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245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436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017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834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365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5772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222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804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8548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8023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358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575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2318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4797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5852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9485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5247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0398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672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374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184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6753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39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9156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1108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5840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35428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6865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221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192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4507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28407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7272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10296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1482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6095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3589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823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38843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691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3185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1247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19750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48508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0316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98910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18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0254-65D1-B0A8-A7D4-FC5AA67D3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22608-CFA4-9BF3-4D98-03F5725E0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5F4E-AC54-AB7D-24EB-60E7F7B8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9839-D45E-BBBB-29C9-AE41B7EE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0D169-1F67-DF16-7149-3184187F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7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9039-F0CC-A823-5D23-B540533B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9271-6DED-8509-BF60-8079D193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6BC60-84F5-104D-2BAE-76C515EF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32120-A22A-23A0-B9DD-F6B18289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6EA6-B86E-CC1C-0F83-4693C489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5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3E0E-DE5A-EA4E-3BCC-066530E3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C05AF-C0FA-5A19-D751-F0538B0B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E2B11-E9BE-F4BE-3352-13A414FA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95B90-3A1F-229C-98A8-851A7F10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E5018-B506-73E0-6E7F-8FF86F76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C156-D1B8-8E23-1A28-34324551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6564-ADBF-362B-BD3E-EF9874EE3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53B9B-78C7-BA40-34BE-BB45EED89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12D04-2A63-8469-AD10-3106F26E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5C1B2-33A2-215B-642D-0DDF8AC1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217C9-4FDB-949F-B207-ED638C02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9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78DF-A844-5BC0-C114-2252C3F7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907F8-639F-951A-F3C5-8A6E58B17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7E79D-0323-ECF6-7ACC-B5C9C0293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2A075-8F8B-1E9A-C47F-7C374EF54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C91B2-474B-FAB7-5B97-94AE87460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9C37A-FE44-ED93-E306-EEDC1BE7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E3930-2C09-E765-7A7B-D7E5AC72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00490-768A-CE35-6E9B-00B9B77F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8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F23-37B9-943D-3387-CD06F123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5B045-CD7D-649E-EB43-C505B2A7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83E60-7092-6E44-3900-E264A202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7CB44-2568-7328-AA03-D5BA765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0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A41DA-E1CA-9F6F-1E5D-15EE98B3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B744E-71B9-CCCB-BAB3-305AB3B6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DCDE4-1C0C-F729-2B5E-D0A7B5E9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5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B911-E3EE-34F2-0F94-8A512D02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9629-CB42-CAC7-7AD4-9266FB7C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A14B1-0AF5-D755-B5B0-F5A6E1320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8475D-FA13-8202-E856-08C5AEF5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D3748-36DD-A464-1B12-23FA0BEF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0DD20-DE18-E8E9-EDB1-EF6198E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6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544F-7B1F-7611-94F0-6D0E6A7E1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FFA71-B2CF-5686-D7C9-2A19A72A3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A3F65-5A07-CD54-EFAA-2E9C40C1B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D4A57-6198-1BDC-FB3C-917A7955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59E18-3828-B81A-2DF6-D1D49996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CEA1D-B4E2-AA96-C13E-EE30DCFC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E11B-B57D-618A-F969-31FD45E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03F16-B10C-84E0-988B-A7C210848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0C6D-82EC-02C3-49E9-92F115FF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759E0-8A84-8C96-99B9-ACEB7E98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3BA8A-A902-2779-1E4C-4E5848D1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0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DC288-8E9D-B07E-A16A-DF1F817B2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7D1F6-0EE2-49A8-A363-A387D0475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0718A-8289-02EC-C513-11BAF2BE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F3F14-AD13-12D6-1FDA-DE65913A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D0A30-6A77-B593-BD3F-26840EEB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41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0"/>
            <a:ext cx="101092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95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EE7DE-EAAB-C47F-0B9E-DAF01CCC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6D357-B27D-DB84-BB4C-74A7E3C64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ECD10-767A-A179-43D6-B30141D60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BBDA6-409E-3B41-8B60-914C70E0AFE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BF336-015F-80B5-5DF4-7703CCF17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5C1E-36F8-1F34-F277-70F71297A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328EC-F3B1-BF49-89C2-B003ECBE2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4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chinites/LinuxMemoryManage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insta.com/operating-systems/first-fit-best-fit-worst-fit-in-os-example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897097" y="1074509"/>
            <a:ext cx="10786927" cy="44627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Operating System Project</a:t>
            </a:r>
          </a:p>
          <a:p>
            <a:pPr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Implement Linux 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Heap Memory Manager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In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CEC4F-C12E-45DB-B22C-1CB5BBED5A6A}"/>
              </a:ext>
            </a:extLst>
          </p:cNvPr>
          <p:cNvSpPr txBox="1"/>
          <p:nvPr/>
        </p:nvSpPr>
        <p:spPr>
          <a:xfrm>
            <a:off x="8649746" y="6036408"/>
            <a:ext cx="3182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Author : Abhishek Sagar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Website : www.csepracticals.com</a:t>
            </a:r>
          </a:p>
        </p:txBody>
      </p:sp>
    </p:spTree>
    <p:extLst>
      <p:ext uri="{BB962C8B-B14F-4D97-AF65-F5344CB8AC3E}">
        <p14:creationId xmlns:p14="http://schemas.microsoft.com/office/powerpoint/2010/main" val="221001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583014" y="2886319"/>
            <a:ext cx="1089224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679004" y="1754499"/>
            <a:ext cx="976008" cy="3295021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818164" y="1754498"/>
            <a:ext cx="976008" cy="32950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7072008" y="1754498"/>
            <a:ext cx="976008" cy="3295019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8201440" y="1754497"/>
            <a:ext cx="976008" cy="3295019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618825" y="276617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5188084" y="196341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6494686" y="196341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787720" y="1972593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679004" y="177079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3F48CE-6E86-4866-B711-9200AE37A244}"/>
              </a:ext>
            </a:extLst>
          </p:cNvPr>
          <p:cNvSpPr/>
          <p:nvPr/>
        </p:nvSpPr>
        <p:spPr>
          <a:xfrm>
            <a:off x="4674054" y="269390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844701" y="177661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834973" y="215232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7072008" y="338816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7072008" y="376387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7088650" y="214165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54D571-8CB5-457B-AA77-63BC7E5E5E5E}"/>
              </a:ext>
            </a:extLst>
          </p:cNvPr>
          <p:cNvSpPr/>
          <p:nvPr/>
        </p:nvSpPr>
        <p:spPr>
          <a:xfrm>
            <a:off x="8200416" y="270980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810270" y="379921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26C06E-297B-4525-891D-0B68E5D0FB59}"/>
              </a:ext>
            </a:extLst>
          </p:cNvPr>
          <p:cNvSpPr/>
          <p:nvPr/>
        </p:nvSpPr>
        <p:spPr>
          <a:xfrm>
            <a:off x="5807326" y="340737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8200416" y="379921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697051" y="379202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2289AD-D073-4556-B68D-040F576BD68C}"/>
              </a:ext>
            </a:extLst>
          </p:cNvPr>
          <p:cNvSpPr/>
          <p:nvPr/>
        </p:nvSpPr>
        <p:spPr>
          <a:xfrm>
            <a:off x="5837419" y="461119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7E66EA-2409-436C-A7A9-7F21689672C5}"/>
              </a:ext>
            </a:extLst>
          </p:cNvPr>
          <p:cNvSpPr/>
          <p:nvPr/>
        </p:nvSpPr>
        <p:spPr>
          <a:xfrm>
            <a:off x="1658180" y="3940391"/>
            <a:ext cx="976008" cy="353035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11B6F-6548-4102-8AEA-07ED39DDC80B}"/>
              </a:ext>
            </a:extLst>
          </p:cNvPr>
          <p:cNvSpPr/>
          <p:nvPr/>
        </p:nvSpPr>
        <p:spPr>
          <a:xfrm>
            <a:off x="1137939" y="479249"/>
            <a:ext cx="1845378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72140-9EA5-4603-94CB-63DB5353C042}"/>
              </a:ext>
            </a:extLst>
          </p:cNvPr>
          <p:cNvSpPr txBox="1"/>
          <p:nvPr/>
        </p:nvSpPr>
        <p:spPr>
          <a:xfrm>
            <a:off x="1109973" y="4920342"/>
            <a:ext cx="3502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entury" panose="02040604050505020304" pitchFamily="18" charset="0"/>
              </a:rPr>
              <a:t>21 Courses/$75 !!</a:t>
            </a:r>
          </a:p>
          <a:p>
            <a:r>
              <a:rPr lang="en-US" b="1" dirty="0">
                <a:latin typeface="Century" panose="02040604050505020304" pitchFamily="18" charset="0"/>
              </a:rPr>
              <a:t>Life-time access!</a:t>
            </a:r>
          </a:p>
          <a:p>
            <a:r>
              <a:rPr lang="en-US" b="1" dirty="0">
                <a:latin typeface="Century" panose="02040604050505020304" pitchFamily="18" charset="0"/>
              </a:rPr>
              <a:t>Visit :  </a:t>
            </a:r>
            <a:r>
              <a:rPr lang="en-US" b="1" dirty="0" err="1">
                <a:latin typeface="Century" panose="02040604050505020304" pitchFamily="18" charset="0"/>
              </a:rPr>
              <a:t>www.csepracticals.com</a:t>
            </a:r>
            <a:endParaRPr lang="en-US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648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Our Final Product Capabilities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9E65B-405D-411D-A95B-3937D99ACFCB}"/>
              </a:ext>
            </a:extLst>
          </p:cNvPr>
          <p:cNvSpPr txBox="1"/>
          <p:nvPr/>
        </p:nvSpPr>
        <p:spPr>
          <a:xfrm>
            <a:off x="609600" y="752376"/>
            <a:ext cx="788228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This Course is an </a:t>
            </a:r>
            <a:r>
              <a:rPr lang="en-US" sz="28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Operating System Project</a:t>
            </a:r>
            <a:endParaRPr lang="en-US" sz="2000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will build a </a:t>
            </a:r>
            <a:r>
              <a:rPr lang="en-US" sz="32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Linux Heap Memory Manager in C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Baskerville Old Face" panose="02020602080505020303" pitchFamily="18" charset="0"/>
              </a:rPr>
              <a:t>Alloc</a:t>
            </a:r>
            <a:r>
              <a:rPr lang="en-US" sz="2000" dirty="0">
                <a:latin typeface="Baskerville Old Face" panose="02020602080505020303" pitchFamily="18" charset="0"/>
              </a:rPr>
              <a:t> and Free the Memory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Catch Memory Leaks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Show memory statistics currently in use for every Structure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Addressing Memory Fragmentation Problems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Understand the Internal Design and Implementation of 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malloc/free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Decorate your Resume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Extension : Visualize Memory Usage Graphically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F5218651-7252-410C-B329-25DE6E91023D}"/>
              </a:ext>
            </a:extLst>
          </p:cNvPr>
          <p:cNvSpPr/>
          <p:nvPr/>
        </p:nvSpPr>
        <p:spPr>
          <a:xfrm>
            <a:off x="8006080" y="1960880"/>
            <a:ext cx="3942080" cy="249936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No Company uses malloc/free directly, they build their custom memory Manager on top of malloc and free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BE3AD-4A5E-4E80-9617-512EE4F0F9DC}"/>
              </a:ext>
            </a:extLst>
          </p:cNvPr>
          <p:cNvSpPr txBox="1"/>
          <p:nvPr/>
        </p:nvSpPr>
        <p:spPr>
          <a:xfrm>
            <a:off x="8649746" y="6036408"/>
            <a:ext cx="3182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Author : Abhishek Sagar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Website : www.csepracticals.com</a:t>
            </a:r>
          </a:p>
        </p:txBody>
      </p:sp>
    </p:spTree>
    <p:extLst>
      <p:ext uri="{BB962C8B-B14F-4D97-AF65-F5344CB8AC3E}">
        <p14:creationId xmlns:p14="http://schemas.microsoft.com/office/powerpoint/2010/main" val="14598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648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Our Final Product Capabilities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9E65B-405D-411D-A95B-3937D99ACFCB}"/>
              </a:ext>
            </a:extLst>
          </p:cNvPr>
          <p:cNvSpPr txBox="1"/>
          <p:nvPr/>
        </p:nvSpPr>
        <p:spPr>
          <a:xfrm>
            <a:off x="345440" y="853976"/>
            <a:ext cx="1171506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This Course is an </a:t>
            </a:r>
            <a:r>
              <a:rPr lang="en-US" sz="28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Operating System Project</a:t>
            </a:r>
            <a:endParaRPr lang="en-US" sz="2000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will build a </a:t>
            </a:r>
            <a:r>
              <a:rPr lang="en-US" sz="32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Linux Heap Memory Manager in C</a:t>
            </a:r>
          </a:p>
          <a:p>
            <a:pPr lvl="1"/>
            <a:endParaRPr lang="en-US" sz="6000" dirty="0">
              <a:latin typeface="Baskerville Old Face" panose="02020602080505020303" pitchFamily="18" charset="0"/>
            </a:endParaRPr>
          </a:p>
          <a:p>
            <a:pPr lvl="1"/>
            <a:r>
              <a:rPr lang="en-US" sz="6000" dirty="0">
                <a:latin typeface="Baskerville Old Face" panose="02020602080505020303" pitchFamily="18" charset="0"/>
              </a:rPr>
              <a:t>Quick Demo of Complete Product !</a:t>
            </a:r>
          </a:p>
        </p:txBody>
      </p:sp>
    </p:spTree>
    <p:extLst>
      <p:ext uri="{BB962C8B-B14F-4D97-AF65-F5344CB8AC3E}">
        <p14:creationId xmlns:p14="http://schemas.microsoft.com/office/powerpoint/2010/main" val="213924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496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Pre-requisites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9E65B-405D-411D-A95B-3937D99ACFCB}"/>
              </a:ext>
            </a:extLst>
          </p:cNvPr>
          <p:cNvSpPr txBox="1"/>
          <p:nvPr/>
        </p:nvSpPr>
        <p:spPr>
          <a:xfrm>
            <a:off x="2072640" y="519747"/>
            <a:ext cx="9443611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This Course is an </a:t>
            </a:r>
            <a:r>
              <a:rPr lang="en-US" sz="32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Operating System Project</a:t>
            </a:r>
            <a:endParaRPr lang="en-US" sz="2400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We will build a </a:t>
            </a:r>
            <a:r>
              <a:rPr lang="en-US" sz="36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Linux Heap Memory Manager in 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92D050"/>
              </a:solidFill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Pre-requisites	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Proficient in C, Doubly Linked List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Theoretical knowledge of Heap Memory and Virtual Memory</a:t>
            </a:r>
          </a:p>
          <a:p>
            <a:pPr lvl="2"/>
            <a:r>
              <a:rPr lang="en-US" sz="2000" dirty="0">
                <a:latin typeface="Baskerville Old Face" panose="02020602080505020303" pitchFamily="18" charset="0"/>
              </a:rPr>
              <a:t>				</a:t>
            </a:r>
            <a:r>
              <a:rPr lang="en-US" sz="1600" dirty="0">
                <a:latin typeface="Baskerville Old Face" panose="02020602080505020303" pitchFamily="18" charset="0"/>
              </a:rPr>
              <a:t>(Included the Theory section in this course for reference)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This course is a practical implementation of Theory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Baskerville Old Face" panose="02020602080505020303" pitchFamily="18" charset="0"/>
              </a:rPr>
              <a:t>Approx</a:t>
            </a:r>
            <a:r>
              <a:rPr lang="en-US" sz="2000" dirty="0">
                <a:latin typeface="Baskerville Old Face" panose="02020602080505020303" pitchFamily="18" charset="0"/>
              </a:rPr>
              <a:t> LOC : 1000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 will avoid discuss or Repeat any theory related to Heap Memory Management</a:t>
            </a:r>
          </a:p>
          <a:p>
            <a:pPr lvl="2"/>
            <a:r>
              <a:rPr lang="en-US" sz="2000" dirty="0">
                <a:latin typeface="Baskerville Old Face" panose="02020602080505020303" pitchFamily="18" charset="0"/>
              </a:rPr>
              <a:t>	unless it reinforce the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85258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4665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Relevance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9E65B-405D-411D-A95B-3937D99ACFCB}"/>
              </a:ext>
            </a:extLst>
          </p:cNvPr>
          <p:cNvSpPr txBox="1"/>
          <p:nvPr/>
        </p:nvSpPr>
        <p:spPr>
          <a:xfrm>
            <a:off x="2072640" y="519747"/>
            <a:ext cx="894187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This Course is an </a:t>
            </a:r>
            <a:r>
              <a:rPr lang="en-US" sz="32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Operating System Project</a:t>
            </a:r>
            <a:endParaRPr lang="en-US" sz="2400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We will build a </a:t>
            </a:r>
            <a:r>
              <a:rPr lang="en-US" sz="36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Linux Heap Memory Manager in 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92D050"/>
              </a:solidFill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Relevance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Most asked Questions in Interviews 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From entry level to for forever … </a:t>
            </a:r>
          </a:p>
          <a:p>
            <a:pPr lvl="2"/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Be prepared !!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Mention the course in your resume, and force interviewer to ask what you</a:t>
            </a:r>
          </a:p>
          <a:p>
            <a:pPr lvl="2"/>
            <a:r>
              <a:rPr lang="en-US" sz="2000" dirty="0">
                <a:latin typeface="Baskerville Old Face" panose="02020602080505020303" pitchFamily="18" charset="0"/>
              </a:rPr>
              <a:t>	already command at</a:t>
            </a:r>
          </a:p>
        </p:txBody>
      </p:sp>
    </p:spTree>
    <p:extLst>
      <p:ext uri="{BB962C8B-B14F-4D97-AF65-F5344CB8AC3E}">
        <p14:creationId xmlns:p14="http://schemas.microsoft.com/office/powerpoint/2010/main" val="26645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491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Code Access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9E65B-405D-411D-A95B-3937D99ACFCB}"/>
              </a:ext>
            </a:extLst>
          </p:cNvPr>
          <p:cNvSpPr txBox="1"/>
          <p:nvPr/>
        </p:nvSpPr>
        <p:spPr>
          <a:xfrm>
            <a:off x="2154857" y="783907"/>
            <a:ext cx="7882286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This Course is an </a:t>
            </a:r>
            <a:r>
              <a:rPr lang="en-US" sz="28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Operating System Project</a:t>
            </a:r>
            <a:endParaRPr lang="en-US" sz="2000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will build a </a:t>
            </a:r>
            <a:r>
              <a:rPr lang="en-US" sz="32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Linux Heap Memory Manager in 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92D050"/>
              </a:solidFill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Code Access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You must have </a:t>
            </a:r>
            <a:r>
              <a:rPr lang="en-US" sz="2000" dirty="0" err="1">
                <a:latin typeface="Baskerville Old Face" panose="02020602080505020303" pitchFamily="18" charset="0"/>
              </a:rPr>
              <a:t>Github</a:t>
            </a:r>
            <a:r>
              <a:rPr lang="en-US" sz="2000" dirty="0">
                <a:latin typeface="Baskerville Old Face" panose="02020602080505020303" pitchFamily="18" charset="0"/>
              </a:rPr>
              <a:t> account to access code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Fork the below git repo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lvl="2"/>
            <a:r>
              <a:rPr lang="en-US" sz="2000" dirty="0">
                <a:latin typeface="Baskerville Old Face" panose="020206020805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clone https://github.com/sachinites/LinuxMemoryManager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2"/>
            <a:endParaRPr lang="en-US" sz="2000" dirty="0">
              <a:latin typeface="Baskerville Old Face" panose="02020602080505020303" pitchFamily="18" charset="0"/>
            </a:endParaRPr>
          </a:p>
          <a:p>
            <a:pPr lvl="2"/>
            <a:r>
              <a:rPr lang="en-US" sz="2000" dirty="0">
                <a:latin typeface="Baskerville Old Face" panose="02020602080505020303" pitchFamily="18" charset="0"/>
              </a:rPr>
              <a:t>Dir : </a:t>
            </a:r>
            <a:r>
              <a:rPr lang="en-US" sz="2000" dirty="0" err="1">
                <a:latin typeface="Baskerville Old Face" panose="02020602080505020303" pitchFamily="18" charset="0"/>
              </a:rPr>
              <a:t>LinuxMemoryManager</a:t>
            </a:r>
            <a:r>
              <a:rPr lang="en-US" sz="2000" dirty="0">
                <a:latin typeface="Baskerville Old Face" panose="02020602080505020303" pitchFamily="18" charset="0"/>
              </a:rPr>
              <a:t>/Course/</a:t>
            </a:r>
            <a:r>
              <a:rPr lang="en-US" sz="2000" dirty="0" err="1">
                <a:latin typeface="Baskerville Old Face" panose="02020602080505020303" pitchFamily="18" charset="0"/>
              </a:rPr>
              <a:t>LinuxMemoryManager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2"/>
            <a:endParaRPr lang="en-US" sz="2000" dirty="0">
              <a:latin typeface="Baskerville Old Face" panose="02020602080505020303" pitchFamily="18" charset="0"/>
            </a:endParaRPr>
          </a:p>
          <a:p>
            <a:pPr lvl="2"/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801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364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Project Development Phases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Project Development Phases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DFF9DDF0-9A1D-43F5-BB9A-ABBCE6BB364E}"/>
              </a:ext>
            </a:extLst>
          </p:cNvPr>
          <p:cNvSpPr/>
          <p:nvPr/>
        </p:nvSpPr>
        <p:spPr>
          <a:xfrm>
            <a:off x="1019176" y="1250518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VM Page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De(Allocation)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92D9843-F717-4A34-AF48-55875A31EBAF}"/>
              </a:ext>
            </a:extLst>
          </p:cNvPr>
          <p:cNvSpPr/>
          <p:nvPr/>
        </p:nvSpPr>
        <p:spPr>
          <a:xfrm>
            <a:off x="1953926" y="2254985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87E09BAA-EEBC-441C-8B52-C8F034060F9F}"/>
              </a:ext>
            </a:extLst>
          </p:cNvPr>
          <p:cNvSpPr/>
          <p:nvPr/>
        </p:nvSpPr>
        <p:spPr>
          <a:xfrm>
            <a:off x="1019175" y="3021032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Page Family Registration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6085EF0-A113-4AAB-AD59-972FA4FAAF09}"/>
              </a:ext>
            </a:extLst>
          </p:cNvPr>
          <p:cNvSpPr/>
          <p:nvPr/>
        </p:nvSpPr>
        <p:spPr>
          <a:xfrm>
            <a:off x="1953926" y="4025499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50228C07-5FBC-4F4F-94C3-48ADE072372A}"/>
              </a:ext>
            </a:extLst>
          </p:cNvPr>
          <p:cNvSpPr/>
          <p:nvPr/>
        </p:nvSpPr>
        <p:spPr>
          <a:xfrm>
            <a:off x="1019175" y="4791546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Meta blocks and Data blocks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1CD418B-5298-446F-AE6E-E2360ECDC656}"/>
              </a:ext>
            </a:extLst>
          </p:cNvPr>
          <p:cNvSpPr/>
          <p:nvPr/>
        </p:nvSpPr>
        <p:spPr>
          <a:xfrm rot="16200000">
            <a:off x="3665619" y="4910755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60F1BAD-374C-4C0D-936A-FC6583CE64D8}"/>
              </a:ext>
            </a:extLst>
          </p:cNvPr>
          <p:cNvSpPr/>
          <p:nvPr/>
        </p:nvSpPr>
        <p:spPr>
          <a:xfrm>
            <a:off x="4272968" y="4791544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Block Splitting &amp; Merging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B28AEA1-90C2-4D95-B4E4-F5B73E913161}"/>
              </a:ext>
            </a:extLst>
          </p:cNvPr>
          <p:cNvSpPr/>
          <p:nvPr/>
        </p:nvSpPr>
        <p:spPr>
          <a:xfrm rot="10800000">
            <a:off x="5138511" y="4025497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B203BB9C-BF0A-4B25-9B3D-CDCFDA373794}"/>
              </a:ext>
            </a:extLst>
          </p:cNvPr>
          <p:cNvSpPr/>
          <p:nvPr/>
        </p:nvSpPr>
        <p:spPr>
          <a:xfrm>
            <a:off x="4127632" y="3021031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VM Page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Management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FAA69DF-3994-458B-81C3-2FCCE43AC197}"/>
              </a:ext>
            </a:extLst>
          </p:cNvPr>
          <p:cNvSpPr/>
          <p:nvPr/>
        </p:nvSpPr>
        <p:spPr>
          <a:xfrm rot="10800000">
            <a:off x="5138510" y="2254983"/>
            <a:ext cx="308008" cy="6429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D988D1F2-7CA1-41C2-A85C-D08815EE7C9A}"/>
              </a:ext>
            </a:extLst>
          </p:cNvPr>
          <p:cNvSpPr/>
          <p:nvPr/>
        </p:nvSpPr>
        <p:spPr>
          <a:xfrm>
            <a:off x="4127631" y="1250517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Free Data Block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Management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F82A705-01C3-484E-B9A8-F54B78281D73}"/>
              </a:ext>
            </a:extLst>
          </p:cNvPr>
          <p:cNvSpPr/>
          <p:nvPr/>
        </p:nvSpPr>
        <p:spPr>
          <a:xfrm rot="16200000">
            <a:off x="6774077" y="1290050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E080122C-95AD-49EB-A19C-ABCE85C8ACCE}"/>
              </a:ext>
            </a:extLst>
          </p:cNvPr>
          <p:cNvSpPr/>
          <p:nvPr/>
        </p:nvSpPr>
        <p:spPr>
          <a:xfrm>
            <a:off x="7412248" y="1170839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Implement </a:t>
            </a:r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xmalloc</a:t>
            </a:r>
            <a:endParaRPr lang="en-US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7C9F861-F43F-46CC-8B3E-5CB9477590B6}"/>
              </a:ext>
            </a:extLst>
          </p:cNvPr>
          <p:cNvSpPr/>
          <p:nvPr/>
        </p:nvSpPr>
        <p:spPr>
          <a:xfrm>
            <a:off x="8431795" y="2206859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2FF7D9DE-A8BA-4720-BEAC-5B606FDF7849}"/>
              </a:ext>
            </a:extLst>
          </p:cNvPr>
          <p:cNvSpPr/>
          <p:nvPr/>
        </p:nvSpPr>
        <p:spPr>
          <a:xfrm>
            <a:off x="7412248" y="2867446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Project Testing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AB9D863-489C-44A4-8189-F7790F9669A1}"/>
              </a:ext>
            </a:extLst>
          </p:cNvPr>
          <p:cNvSpPr/>
          <p:nvPr/>
        </p:nvSpPr>
        <p:spPr>
          <a:xfrm>
            <a:off x="8431795" y="3875468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DDF693D-68D4-4E14-A971-987FE9A98E03}"/>
              </a:ext>
            </a:extLst>
          </p:cNvPr>
          <p:cNvSpPr/>
          <p:nvPr/>
        </p:nvSpPr>
        <p:spPr>
          <a:xfrm>
            <a:off x="7412248" y="4564053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Implement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xfree</a:t>
            </a:r>
            <a:endParaRPr lang="en-US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55C6BCE-B36F-4DFC-BA37-85355C1DBFA2}"/>
              </a:ext>
            </a:extLst>
          </p:cNvPr>
          <p:cNvSpPr/>
          <p:nvPr/>
        </p:nvSpPr>
        <p:spPr>
          <a:xfrm rot="17843338">
            <a:off x="9123942" y="5337972"/>
            <a:ext cx="308008" cy="6160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02E2D563-5174-4826-BB26-3B1B54D728A0}"/>
              </a:ext>
            </a:extLst>
          </p:cNvPr>
          <p:cNvSpPr/>
          <p:nvPr/>
        </p:nvSpPr>
        <p:spPr>
          <a:xfrm>
            <a:off x="9489700" y="5645980"/>
            <a:ext cx="2347103" cy="854437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rgbClr val="00B0F0"/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Project Extensions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1AB77-4CFD-48AA-AA62-9D449338DFAC}"/>
              </a:ext>
            </a:extLst>
          </p:cNvPr>
          <p:cNvSpPr txBox="1"/>
          <p:nvPr/>
        </p:nvSpPr>
        <p:spPr>
          <a:xfrm>
            <a:off x="8739803" y="4058128"/>
            <a:ext cx="688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sym typeface="Wingdings" panose="05000000000000000000" pitchFamily="2" charset="2"/>
              </a:rPr>
              <a:t>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3FAF18-F01F-4A5F-953E-936F68948EF5}"/>
              </a:ext>
            </a:extLst>
          </p:cNvPr>
          <p:cNvSpPr txBox="1"/>
          <p:nvPr/>
        </p:nvSpPr>
        <p:spPr>
          <a:xfrm rot="18544808">
            <a:off x="504988" y="1393470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933C92-1F0B-4E21-A4F4-9D5E58DD0D66}"/>
              </a:ext>
            </a:extLst>
          </p:cNvPr>
          <p:cNvSpPr txBox="1"/>
          <p:nvPr/>
        </p:nvSpPr>
        <p:spPr>
          <a:xfrm rot="18544808">
            <a:off x="470634" y="3051034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73D25E-D41E-4207-AE66-2F32763BDC0C}"/>
              </a:ext>
            </a:extLst>
          </p:cNvPr>
          <p:cNvSpPr txBox="1"/>
          <p:nvPr/>
        </p:nvSpPr>
        <p:spPr>
          <a:xfrm rot="18544808">
            <a:off x="470634" y="4793503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6E86EC-C198-4F7A-92D5-FAFB9CF39ADE}"/>
              </a:ext>
            </a:extLst>
          </p:cNvPr>
          <p:cNvSpPr txBox="1"/>
          <p:nvPr/>
        </p:nvSpPr>
        <p:spPr>
          <a:xfrm rot="18544808">
            <a:off x="3793132" y="1134346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20C6DC-A18E-4BCF-A8C6-9A2611A31A08}"/>
              </a:ext>
            </a:extLst>
          </p:cNvPr>
          <p:cNvSpPr txBox="1"/>
          <p:nvPr/>
        </p:nvSpPr>
        <p:spPr>
          <a:xfrm rot="18544808">
            <a:off x="3758778" y="2791910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5466EF-B210-4644-9DDF-C7D4E3D79C30}"/>
              </a:ext>
            </a:extLst>
          </p:cNvPr>
          <p:cNvSpPr txBox="1"/>
          <p:nvPr/>
        </p:nvSpPr>
        <p:spPr>
          <a:xfrm rot="18544808">
            <a:off x="3949809" y="4527532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8449A8-BF84-44FE-BDBC-297565825151}"/>
              </a:ext>
            </a:extLst>
          </p:cNvPr>
          <p:cNvSpPr txBox="1"/>
          <p:nvPr/>
        </p:nvSpPr>
        <p:spPr>
          <a:xfrm rot="18544808">
            <a:off x="7071069" y="4394014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A12B5A-3A31-44CE-AB34-2FEF49062071}"/>
              </a:ext>
            </a:extLst>
          </p:cNvPr>
          <p:cNvSpPr txBox="1"/>
          <p:nvPr/>
        </p:nvSpPr>
        <p:spPr>
          <a:xfrm rot="18544808">
            <a:off x="7036716" y="2674514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2B183-07EA-42FE-82E6-38F9FED293AE}"/>
              </a:ext>
            </a:extLst>
          </p:cNvPr>
          <p:cNvSpPr txBox="1"/>
          <p:nvPr/>
        </p:nvSpPr>
        <p:spPr>
          <a:xfrm rot="18544808">
            <a:off x="7043397" y="892780"/>
            <a:ext cx="7377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D653F4-E157-417B-807D-900F54D6DF3F}"/>
              </a:ext>
            </a:extLst>
          </p:cNvPr>
          <p:cNvSpPr txBox="1"/>
          <p:nvPr/>
        </p:nvSpPr>
        <p:spPr>
          <a:xfrm>
            <a:off x="10128913" y="5338203"/>
            <a:ext cx="82586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Phase 10</a:t>
            </a:r>
          </a:p>
        </p:txBody>
      </p:sp>
    </p:spTree>
    <p:extLst>
      <p:ext uri="{BB962C8B-B14F-4D97-AF65-F5344CB8AC3E}">
        <p14:creationId xmlns:p14="http://schemas.microsoft.com/office/powerpoint/2010/main" val="23296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1" grpId="0" animBg="1"/>
      <p:bldP spid="23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6946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1 -&gt; VM Page (De)Allocation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BDD62-8584-4DB3-97E6-6AA20A3710E5}"/>
              </a:ext>
            </a:extLst>
          </p:cNvPr>
          <p:cNvSpPr/>
          <p:nvPr/>
        </p:nvSpPr>
        <p:spPr>
          <a:xfrm>
            <a:off x="2569831" y="1074509"/>
            <a:ext cx="7441461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 Page</a:t>
            </a:r>
          </a:p>
          <a:p>
            <a:pPr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(De)Allocation</a:t>
            </a:r>
            <a:b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</a:br>
            <a:r>
              <a:rPr lang="en-US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mmap</a:t>
            </a:r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()/</a:t>
            </a:r>
            <a:r>
              <a:rPr lang="en-US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munmap</a:t>
            </a:r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2832E-DFCC-45EF-A556-619CB353C977}"/>
              </a:ext>
            </a:extLst>
          </p:cNvPr>
          <p:cNvSpPr txBox="1"/>
          <p:nvPr/>
        </p:nvSpPr>
        <p:spPr>
          <a:xfrm>
            <a:off x="1" y="521865"/>
            <a:ext cx="1209040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52555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7003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1 -&gt; VM Page (De)Allocation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29A23-791E-4D14-9586-3309F95222BC}"/>
              </a:ext>
            </a:extLst>
          </p:cNvPr>
          <p:cNvSpPr txBox="1"/>
          <p:nvPr/>
        </p:nvSpPr>
        <p:spPr>
          <a:xfrm>
            <a:off x="304800" y="579120"/>
            <a:ext cx="10083210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Size of the Virtual memory Page is constant on the system (8192 B on most systems)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usually use malloc/</a:t>
            </a:r>
            <a:r>
              <a:rPr lang="en-US" sz="2000" dirty="0" err="1">
                <a:latin typeface="Baskerville Old Face" panose="02020602080505020303" pitchFamily="18" charset="0"/>
              </a:rPr>
              <a:t>calloc</a:t>
            </a:r>
            <a:r>
              <a:rPr lang="en-US" sz="2000" dirty="0">
                <a:latin typeface="Baskerville Old Face" panose="02020602080505020303" pitchFamily="18" charset="0"/>
              </a:rPr>
              <a:t> to allocate dynamic memory in our programs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To start with, we need to learn how we can request underlying linux OS the complete VM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0D537-B1DB-4BBD-A0E1-C6FA35B93A71}"/>
              </a:ext>
            </a:extLst>
          </p:cNvPr>
          <p:cNvSpPr/>
          <p:nvPr/>
        </p:nvSpPr>
        <p:spPr>
          <a:xfrm>
            <a:off x="4754880" y="2697123"/>
            <a:ext cx="3035799" cy="83498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Our LMM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(a user space process)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D5466-C84A-4965-8EE4-82C09132E29B}"/>
              </a:ext>
            </a:extLst>
          </p:cNvPr>
          <p:cNvSpPr/>
          <p:nvPr/>
        </p:nvSpPr>
        <p:spPr>
          <a:xfrm>
            <a:off x="4754879" y="5440323"/>
            <a:ext cx="3035799" cy="83498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Kernel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5EB067D-86B9-410D-8D5A-2AA56744082C}"/>
              </a:ext>
            </a:extLst>
          </p:cNvPr>
          <p:cNvSpPr/>
          <p:nvPr/>
        </p:nvSpPr>
        <p:spPr>
          <a:xfrm>
            <a:off x="5346405" y="3569950"/>
            <a:ext cx="386080" cy="17475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6FCD6D4-B2FF-4F71-850F-E9BA200ABC9B}"/>
              </a:ext>
            </a:extLst>
          </p:cNvPr>
          <p:cNvSpPr/>
          <p:nvPr/>
        </p:nvSpPr>
        <p:spPr>
          <a:xfrm rot="10800000">
            <a:off x="6839925" y="3569950"/>
            <a:ext cx="386080" cy="17475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3CE65-3758-4F6C-B94C-7040EBC4D968}"/>
              </a:ext>
            </a:extLst>
          </p:cNvPr>
          <p:cNvSpPr txBox="1"/>
          <p:nvPr/>
        </p:nvSpPr>
        <p:spPr>
          <a:xfrm>
            <a:off x="4301606" y="4089767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Request a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VM 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E76AEC-73C2-4BFC-A1A0-942EB54E3B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005" y="4028482"/>
            <a:ext cx="533375" cy="5768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B5E4E3-A663-4E00-A6CD-1F3F9C507C15}"/>
              </a:ext>
            </a:extLst>
          </p:cNvPr>
          <p:cNvSpPr txBox="1"/>
          <p:nvPr/>
        </p:nvSpPr>
        <p:spPr>
          <a:xfrm>
            <a:off x="7790678" y="395995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Here it is !</a:t>
            </a:r>
          </a:p>
        </p:txBody>
      </p:sp>
    </p:spTree>
    <p:extLst>
      <p:ext uri="{BB962C8B-B14F-4D97-AF65-F5344CB8AC3E}">
        <p14:creationId xmlns:p14="http://schemas.microsoft.com/office/powerpoint/2010/main" val="237131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4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943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1 -&gt; System Calls for Memory Allocation &amp; Deallocation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E69A2-F1E4-4EED-AD99-6C5B0E66A562}"/>
              </a:ext>
            </a:extLst>
          </p:cNvPr>
          <p:cNvSpPr txBox="1"/>
          <p:nvPr/>
        </p:nvSpPr>
        <p:spPr>
          <a:xfrm>
            <a:off x="477520" y="741680"/>
            <a:ext cx="1160766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In Unix like OS, two primary system calls used to allocate/deallocate virtual memory blocks from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the OS by a running process are 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Standard </a:t>
            </a:r>
            <a:r>
              <a:rPr lang="en-US" sz="2000" dirty="0" err="1">
                <a:latin typeface="Baskerville Old Face" panose="02020602080505020303" pitchFamily="18" charset="0"/>
              </a:rPr>
              <a:t>glibC</a:t>
            </a:r>
            <a:r>
              <a:rPr lang="en-US" sz="2000" dirty="0">
                <a:latin typeface="Baskerville Old Face" panose="02020602080505020303" pitchFamily="18" charset="0"/>
              </a:rPr>
              <a:t> memory management functions – malloc, free, </a:t>
            </a:r>
            <a:r>
              <a:rPr lang="en-US" sz="2000" dirty="0" err="1">
                <a:latin typeface="Baskerville Old Face" panose="02020602080505020303" pitchFamily="18" charset="0"/>
              </a:rPr>
              <a:t>realloc</a:t>
            </a:r>
            <a:r>
              <a:rPr lang="en-US" sz="2000" dirty="0">
                <a:latin typeface="Baskerville Old Face" panose="02020602080505020303" pitchFamily="18" charset="0"/>
              </a:rPr>
              <a:t>, </a:t>
            </a:r>
            <a:r>
              <a:rPr lang="en-US" sz="2000" dirty="0" err="1">
                <a:latin typeface="Baskerville Old Face" panose="02020602080505020303" pitchFamily="18" charset="0"/>
              </a:rPr>
              <a:t>calloc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2000" dirty="0" err="1">
                <a:latin typeface="Baskerville Old Face" panose="02020602080505020303" pitchFamily="18" charset="0"/>
              </a:rPr>
              <a:t>etc</a:t>
            </a:r>
            <a:r>
              <a:rPr lang="en-US" sz="2000" dirty="0">
                <a:latin typeface="Baskerville Old Face" panose="02020602080505020303" pitchFamily="18" charset="0"/>
              </a:rPr>
              <a:t> invokes system calls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In this Course, we shall going to make use of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/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munmap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functions for memory allocation for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a process from kernel instead of </a:t>
            </a:r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Let us discuss how </a:t>
            </a:r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/</a:t>
            </a:r>
            <a:r>
              <a:rPr lang="en-US" sz="2000" dirty="0" err="1">
                <a:latin typeface="Baskerville Old Face" panose="02020602080505020303" pitchFamily="18" charset="0"/>
              </a:rPr>
              <a:t>munmap</a:t>
            </a:r>
            <a:r>
              <a:rPr lang="en-US" sz="2000" dirty="0">
                <a:latin typeface="Baskerville Old Face" panose="02020602080505020303" pitchFamily="18" charset="0"/>
              </a:rPr>
              <a:t> functions/</a:t>
            </a:r>
            <a:r>
              <a:rPr lang="en-US" sz="2000" dirty="0" err="1">
                <a:latin typeface="Baskerville Old Face" panose="02020602080505020303" pitchFamily="18" charset="0"/>
              </a:rPr>
              <a:t>syscall</a:t>
            </a:r>
            <a:r>
              <a:rPr lang="en-US" sz="2000" dirty="0">
                <a:latin typeface="Baskerville Old Face" panose="02020602080505020303" pitchFamily="18" charset="0"/>
              </a:rPr>
              <a:t> can be used by user space process to request and release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Virtual Memory Page to and from the kernel, and then we will discuss the implementation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CCD23FF-4DF6-4F2C-BE2D-AA7E1D6650EA}"/>
              </a:ext>
            </a:extLst>
          </p:cNvPr>
          <p:cNvSpPr/>
          <p:nvPr/>
        </p:nvSpPr>
        <p:spPr>
          <a:xfrm rot="5400000">
            <a:off x="5016084" y="175378"/>
            <a:ext cx="932129" cy="4969897"/>
          </a:xfrm>
          <a:prstGeom prst="leftBrac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C65DC-C9DE-4E88-9A5A-B728590BF59A}"/>
              </a:ext>
            </a:extLst>
          </p:cNvPr>
          <p:cNvSpPr txBox="1"/>
          <p:nvPr/>
        </p:nvSpPr>
        <p:spPr>
          <a:xfrm>
            <a:off x="2372373" y="3126391"/>
            <a:ext cx="1914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Syscall</a:t>
            </a:r>
            <a:r>
              <a:rPr lang="en-US" sz="2000" dirty="0">
                <a:latin typeface="Baskerville Old Face" panose="02020602080505020303" pitchFamily="18" charset="0"/>
              </a:rPr>
              <a:t> : </a:t>
            </a:r>
            <a:r>
              <a:rPr lang="en-US" sz="2000" i="1" dirty="0" err="1">
                <a:latin typeface="Baskerville Old Face" panose="02020602080505020303" pitchFamily="18" charset="0"/>
              </a:rPr>
              <a:t>sbrk</a:t>
            </a:r>
            <a:r>
              <a:rPr lang="en-US" sz="2000" i="1" dirty="0">
                <a:latin typeface="Baskerville Old Face" panose="02020602080505020303" pitchFamily="18" charset="0"/>
              </a:rPr>
              <a:t>/</a:t>
            </a:r>
            <a:r>
              <a:rPr lang="en-US" sz="2000" i="1" dirty="0" err="1">
                <a:latin typeface="Baskerville Old Face" panose="02020602080505020303" pitchFamily="18" charset="0"/>
              </a:rPr>
              <a:t>brk</a:t>
            </a:r>
            <a:endParaRPr lang="en-US" sz="2000" i="1" dirty="0"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E1C7F-9A5B-4BBC-BDDB-1E07B5E21C2F}"/>
              </a:ext>
            </a:extLst>
          </p:cNvPr>
          <p:cNvSpPr txBox="1"/>
          <p:nvPr/>
        </p:nvSpPr>
        <p:spPr>
          <a:xfrm>
            <a:off x="7490466" y="3126391"/>
            <a:ext cx="28504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/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munmap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(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glibC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fn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)</a:t>
            </a:r>
          </a:p>
          <a:p>
            <a:r>
              <a:rPr lang="en-US" sz="2000" dirty="0" err="1">
                <a:latin typeface="Baskerville Old Face" panose="02020602080505020303" pitchFamily="18" charset="0"/>
              </a:rPr>
              <a:t>Syscall</a:t>
            </a:r>
            <a:r>
              <a:rPr lang="en-US" sz="2000" dirty="0">
                <a:latin typeface="Baskerville Old Face" panose="02020602080505020303" pitchFamily="18" charset="0"/>
              </a:rPr>
              <a:t> :  </a:t>
            </a:r>
            <a:r>
              <a:rPr lang="en-US" sz="2000" i="1" dirty="0" err="1">
                <a:latin typeface="Baskerville Old Face" panose="02020602080505020303" pitchFamily="18" charset="0"/>
              </a:rPr>
              <a:t>mmap_pgoff</a:t>
            </a:r>
            <a:r>
              <a:rPr lang="en-US" sz="2000" i="1" dirty="0">
                <a:latin typeface="Baskerville Old Face" panose="02020602080505020303" pitchFamily="18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DEF68-A35E-46B5-9844-11412D68A581}"/>
              </a:ext>
            </a:extLst>
          </p:cNvPr>
          <p:cNvSpPr txBox="1"/>
          <p:nvPr/>
        </p:nvSpPr>
        <p:spPr>
          <a:xfrm>
            <a:off x="4335948" y="1486376"/>
            <a:ext cx="2579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Baskerville Old Face" panose="02020602080505020303" pitchFamily="18" charset="0"/>
              </a:rPr>
              <a:t>malloc/free…</a:t>
            </a:r>
          </a:p>
          <a:p>
            <a:pPr algn="ctr"/>
            <a:r>
              <a:rPr lang="en-US" sz="2000" dirty="0">
                <a:latin typeface="Baskerville Old Face" panose="02020602080505020303" pitchFamily="18" charset="0"/>
              </a:rPr>
              <a:t>(</a:t>
            </a:r>
            <a:r>
              <a:rPr lang="en-US" sz="2000" dirty="0" err="1">
                <a:latin typeface="Baskerville Old Face" panose="02020602080505020303" pitchFamily="18" charset="0"/>
              </a:rPr>
              <a:t>glibC</a:t>
            </a:r>
            <a:r>
              <a:rPr lang="en-US" sz="2000" dirty="0">
                <a:latin typeface="Baskerville Old Face" panose="02020602080505020303" pitchFamily="18" charset="0"/>
              </a:rPr>
              <a:t> library functions)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49DAE6-25E3-441E-80BE-EC9A7B44E862}"/>
              </a:ext>
            </a:extLst>
          </p:cNvPr>
          <p:cNvSpPr/>
          <p:nvPr/>
        </p:nvSpPr>
        <p:spPr>
          <a:xfrm>
            <a:off x="6705600" y="2902147"/>
            <a:ext cx="4555971" cy="1151693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127000">
              <a:srgbClr val="FFC0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9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6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990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1 -&gt;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mmap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system call for Memory Allocation &amp; Deallocation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45E0BA-CB53-4260-9846-794DE0F4F3E8}"/>
              </a:ext>
            </a:extLst>
          </p:cNvPr>
          <p:cNvSpPr/>
          <p:nvPr/>
        </p:nvSpPr>
        <p:spPr>
          <a:xfrm>
            <a:off x="650240" y="701040"/>
            <a:ext cx="2871574" cy="593081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30">
            <a:extLst>
              <a:ext uri="{FF2B5EF4-FFF2-40B4-BE49-F238E27FC236}">
                <a16:creationId xmlns:a16="http://schemas.microsoft.com/office/drawing/2014/main" id="{48F9CA5B-8448-4E22-9628-116701278ED9}"/>
              </a:ext>
            </a:extLst>
          </p:cNvPr>
          <p:cNvSpPr/>
          <p:nvPr/>
        </p:nvSpPr>
        <p:spPr>
          <a:xfrm>
            <a:off x="890328" y="1148080"/>
            <a:ext cx="2213361" cy="510031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D3C86D-2441-4815-8BA2-45BDC3F58D25}"/>
              </a:ext>
            </a:extLst>
          </p:cNvPr>
          <p:cNvSpPr/>
          <p:nvPr/>
        </p:nvSpPr>
        <p:spPr>
          <a:xfrm>
            <a:off x="6644640" y="552797"/>
            <a:ext cx="3035799" cy="122520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addr1 =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mmap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()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addr2 =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mmap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8F98DAFA-6308-43A2-BBBB-821058A46EDF}"/>
              </a:ext>
            </a:extLst>
          </p:cNvPr>
          <p:cNvSpPr/>
          <p:nvPr/>
        </p:nvSpPr>
        <p:spPr>
          <a:xfrm>
            <a:off x="4846320" y="369332"/>
            <a:ext cx="365760" cy="6488668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6BDCE-AA76-4C5E-A32E-1BC42906E214}"/>
              </a:ext>
            </a:extLst>
          </p:cNvPr>
          <p:cNvSpPr txBox="1"/>
          <p:nvPr/>
        </p:nvSpPr>
        <p:spPr>
          <a:xfrm rot="16200000">
            <a:off x="3693294" y="3244333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Kernel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059DF-0181-47A3-AC8E-13B7E33D144C}"/>
              </a:ext>
            </a:extLst>
          </p:cNvPr>
          <p:cNvSpPr txBox="1"/>
          <p:nvPr/>
        </p:nvSpPr>
        <p:spPr>
          <a:xfrm rot="5400000">
            <a:off x="5112377" y="3244334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User Space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A1FAD28E-2971-47D0-A043-33274D3920CA}"/>
              </a:ext>
            </a:extLst>
          </p:cNvPr>
          <p:cNvSpPr/>
          <p:nvPr/>
        </p:nvSpPr>
        <p:spPr>
          <a:xfrm>
            <a:off x="985520" y="4378960"/>
            <a:ext cx="2011680" cy="35559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VM Page 1</a:t>
            </a:r>
          </a:p>
        </p:txBody>
      </p:sp>
      <p:sp>
        <p:nvSpPr>
          <p:cNvPr id="17" name="Rounded Rectangle 30">
            <a:extLst>
              <a:ext uri="{FF2B5EF4-FFF2-40B4-BE49-F238E27FC236}">
                <a16:creationId xmlns:a16="http://schemas.microsoft.com/office/drawing/2014/main" id="{419456BF-7159-4898-8B68-62E8AFCBD5C1}"/>
              </a:ext>
            </a:extLst>
          </p:cNvPr>
          <p:cNvSpPr/>
          <p:nvPr/>
        </p:nvSpPr>
        <p:spPr>
          <a:xfrm>
            <a:off x="985520" y="3080267"/>
            <a:ext cx="2011680" cy="35559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VM Page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82D41-0714-4957-A4D5-176432281838}"/>
              </a:ext>
            </a:extLst>
          </p:cNvPr>
          <p:cNvSpPr txBox="1"/>
          <p:nvPr/>
        </p:nvSpPr>
        <p:spPr>
          <a:xfrm>
            <a:off x="7815788" y="177679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LMM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E3905A-85EA-467C-97A4-7B5BF19FF9E4}"/>
              </a:ext>
            </a:extLst>
          </p:cNvPr>
          <p:cNvSpPr txBox="1"/>
          <p:nvPr/>
        </p:nvSpPr>
        <p:spPr>
          <a:xfrm>
            <a:off x="6569786" y="2177138"/>
            <a:ext cx="49922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Once our LMM is assigned the VM complete page from kernel, LMM will further split VM page to meet the application hunger for memory 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VM page allocated are need not be contiguous in Heap Memory segment of the process as opposed to 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 behavior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Heap Memory Segment </a:t>
            </a:r>
            <a:r>
              <a:rPr lang="en-US" dirty="0">
                <a:latin typeface="Baskerville Old Face" panose="02020602080505020303" pitchFamily="18" charset="0"/>
              </a:rPr>
              <a:t>is just a data structure maintained by kernel for every process, which keeps track of Virtual Memory Pages being used by the process (LMM)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Our LMM always request and release memory from kernel in Virtual Memory PAGE SIZE granularity</a:t>
            </a:r>
          </a:p>
        </p:txBody>
      </p:sp>
      <p:sp>
        <p:nvSpPr>
          <p:cNvPr id="20" name="Rounded Rectangle 30">
            <a:extLst>
              <a:ext uri="{FF2B5EF4-FFF2-40B4-BE49-F238E27FC236}">
                <a16:creationId xmlns:a16="http://schemas.microsoft.com/office/drawing/2014/main" id="{E181CFD5-5ABD-4C84-977E-EFDB28F9F2F5}"/>
              </a:ext>
            </a:extLst>
          </p:cNvPr>
          <p:cNvSpPr/>
          <p:nvPr/>
        </p:nvSpPr>
        <p:spPr>
          <a:xfrm>
            <a:off x="9184640" y="826509"/>
            <a:ext cx="1259840" cy="247146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 Page 1</a:t>
            </a:r>
          </a:p>
        </p:txBody>
      </p:sp>
      <p:sp>
        <p:nvSpPr>
          <p:cNvPr id="21" name="Rounded Rectangle 30">
            <a:extLst>
              <a:ext uri="{FF2B5EF4-FFF2-40B4-BE49-F238E27FC236}">
                <a16:creationId xmlns:a16="http://schemas.microsoft.com/office/drawing/2014/main" id="{D976F0D2-F71C-499A-85DA-CBA818757F56}"/>
              </a:ext>
            </a:extLst>
          </p:cNvPr>
          <p:cNvSpPr/>
          <p:nvPr/>
        </p:nvSpPr>
        <p:spPr>
          <a:xfrm>
            <a:off x="9184640" y="1117821"/>
            <a:ext cx="1259840" cy="247146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 Page 2</a:t>
            </a: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83344D61-9E91-47F4-8AE8-3AA32A0863C8}"/>
              </a:ext>
            </a:extLst>
          </p:cNvPr>
          <p:cNvSpPr/>
          <p:nvPr/>
        </p:nvSpPr>
        <p:spPr>
          <a:xfrm rot="5400000">
            <a:off x="4815840" y="162560"/>
            <a:ext cx="365760" cy="2336800"/>
          </a:xfrm>
          <a:prstGeom prst="upDown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681E92-2AC2-48F2-9314-16E352F3D74E}"/>
              </a:ext>
            </a:extLst>
          </p:cNvPr>
          <p:cNvSpPr txBox="1"/>
          <p:nvPr/>
        </p:nvSpPr>
        <p:spPr>
          <a:xfrm>
            <a:off x="4287164" y="1425860"/>
            <a:ext cx="1664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System Call</a:t>
            </a:r>
          </a:p>
          <a:p>
            <a:pPr algn="ctr"/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mmap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/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munmap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8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889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1 -&gt; API for VM Page (De)allocation from Kernel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816FE-F66E-44D2-ACCB-E5274FD680D9}"/>
              </a:ext>
            </a:extLst>
          </p:cNvPr>
          <p:cNvSpPr txBox="1"/>
          <p:nvPr/>
        </p:nvSpPr>
        <p:spPr>
          <a:xfrm>
            <a:off x="1097280" y="985520"/>
            <a:ext cx="939712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sz="2400" dirty="0">
                <a:latin typeface="Baskerville Old Face" panose="02020602080505020303" pitchFamily="18" charset="0"/>
              </a:rPr>
              <a:t>Requesting ‘units’ number of contiguous pages from kernel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static void *</a:t>
            </a:r>
          </a:p>
          <a:p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mm_get_new_vm_page_from_kernel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(int units); /*Return starting address*/</a:t>
            </a: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sz="2400" dirty="0">
                <a:latin typeface="Baskerville Old Face" panose="02020602080505020303" pitchFamily="18" charset="0"/>
              </a:rPr>
              <a:t>Return ‘units’ number of contiguous pages to kernel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static void</a:t>
            </a:r>
          </a:p>
          <a:p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mm_return_vm_page_to_kernel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(void *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int units);</a:t>
            </a:r>
          </a:p>
          <a:p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0" name="Rounded Rectangle 30">
            <a:extLst>
              <a:ext uri="{FF2B5EF4-FFF2-40B4-BE49-F238E27FC236}">
                <a16:creationId xmlns:a16="http://schemas.microsoft.com/office/drawing/2014/main" id="{BE22CC8A-2642-472A-A12C-2848508CD387}"/>
              </a:ext>
            </a:extLst>
          </p:cNvPr>
          <p:cNvSpPr/>
          <p:nvPr/>
        </p:nvSpPr>
        <p:spPr>
          <a:xfrm>
            <a:off x="3402724" y="2998987"/>
            <a:ext cx="2011680" cy="35559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VM Page 3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161515F3-BC87-49DA-AF6E-1424BB87A28E}"/>
              </a:ext>
            </a:extLst>
          </p:cNvPr>
          <p:cNvSpPr/>
          <p:nvPr/>
        </p:nvSpPr>
        <p:spPr>
          <a:xfrm>
            <a:off x="3402724" y="3354586"/>
            <a:ext cx="2011680" cy="35559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VM Page 2</a:t>
            </a:r>
          </a:p>
        </p:txBody>
      </p:sp>
      <p:sp>
        <p:nvSpPr>
          <p:cNvPr id="12" name="Rounded Rectangle 30">
            <a:extLst>
              <a:ext uri="{FF2B5EF4-FFF2-40B4-BE49-F238E27FC236}">
                <a16:creationId xmlns:a16="http://schemas.microsoft.com/office/drawing/2014/main" id="{0E7A27C1-0F07-4A22-8707-FE53A0BDFBFC}"/>
              </a:ext>
            </a:extLst>
          </p:cNvPr>
          <p:cNvSpPr/>
          <p:nvPr/>
        </p:nvSpPr>
        <p:spPr>
          <a:xfrm>
            <a:off x="3402724" y="3701811"/>
            <a:ext cx="2011680" cy="35559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VM Page 1</a:t>
            </a:r>
          </a:p>
        </p:txBody>
      </p:sp>
    </p:spTree>
    <p:extLst>
      <p:ext uri="{BB962C8B-B14F-4D97-AF65-F5344CB8AC3E}">
        <p14:creationId xmlns:p14="http://schemas.microsoft.com/office/powerpoint/2010/main" val="416611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01B7C-AB05-46B3-988A-43A26F0C03C8}"/>
              </a:ext>
            </a:extLst>
          </p:cNvPr>
          <p:cNvSpPr txBox="1"/>
          <p:nvPr/>
        </p:nvSpPr>
        <p:spPr>
          <a:xfrm>
            <a:off x="9103360" y="674859"/>
            <a:ext cx="2438400" cy="4708981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foo(){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 = malloc(20)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 = malloc(40)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free(A)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805680" y="600164"/>
            <a:ext cx="2580640" cy="43375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27901-AD30-454B-8BC3-0486B18E4382}"/>
              </a:ext>
            </a:extLst>
          </p:cNvPr>
          <p:cNvSpPr/>
          <p:nvPr/>
        </p:nvSpPr>
        <p:spPr>
          <a:xfrm>
            <a:off x="650240" y="492443"/>
            <a:ext cx="2726108" cy="613941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50B3905-F223-4F85-B819-8E43E8A49AB1}"/>
              </a:ext>
            </a:extLst>
          </p:cNvPr>
          <p:cNvSpPr/>
          <p:nvPr/>
        </p:nvSpPr>
        <p:spPr>
          <a:xfrm>
            <a:off x="906615" y="6050742"/>
            <a:ext cx="2213361" cy="418744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6BF24CF-82FE-42EB-8120-FD018C441504}"/>
              </a:ext>
            </a:extLst>
          </p:cNvPr>
          <p:cNvSpPr/>
          <p:nvPr/>
        </p:nvSpPr>
        <p:spPr>
          <a:xfrm>
            <a:off x="914388" y="5613345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Initialized Data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14912A0-8B78-41D8-B6AA-77013B03C539}"/>
              </a:ext>
            </a:extLst>
          </p:cNvPr>
          <p:cNvSpPr/>
          <p:nvPr/>
        </p:nvSpPr>
        <p:spPr>
          <a:xfrm>
            <a:off x="906614" y="1239459"/>
            <a:ext cx="2213361" cy="40165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E1401C07-F903-4482-89E6-97A1C3FD9E63}"/>
              </a:ext>
            </a:extLst>
          </p:cNvPr>
          <p:cNvSpPr/>
          <p:nvPr/>
        </p:nvSpPr>
        <p:spPr>
          <a:xfrm>
            <a:off x="2013294" y="1677156"/>
            <a:ext cx="86718" cy="2649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38370A-6B70-4030-AE22-99299258F4F5}"/>
              </a:ext>
            </a:extLst>
          </p:cNvPr>
          <p:cNvCxnSpPr/>
          <p:nvPr/>
        </p:nvCxnSpPr>
        <p:spPr>
          <a:xfrm flipV="1">
            <a:off x="650240" y="2427979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74D428-4D51-4E49-A21C-7CABE28987F7}"/>
              </a:ext>
            </a:extLst>
          </p:cNvPr>
          <p:cNvSpPr txBox="1"/>
          <p:nvPr/>
        </p:nvSpPr>
        <p:spPr>
          <a:xfrm>
            <a:off x="1159673" y="2036123"/>
            <a:ext cx="17219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stack growth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0ACA0-809B-4483-9551-7DFF619F1C37}"/>
              </a:ext>
            </a:extLst>
          </p:cNvPr>
          <p:cNvCxnSpPr/>
          <p:nvPr/>
        </p:nvCxnSpPr>
        <p:spPr>
          <a:xfrm flipV="1">
            <a:off x="650240" y="896017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2FB171-7BFC-4992-94B4-6B27E9AB3391}"/>
              </a:ext>
            </a:extLst>
          </p:cNvPr>
          <p:cNvSpPr txBox="1"/>
          <p:nvPr/>
        </p:nvSpPr>
        <p:spPr>
          <a:xfrm>
            <a:off x="913966" y="509564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  <a:cs typeface="Arial" panose="020B0604020202020204" pitchFamily="34" charset="0"/>
              </a:rPr>
              <a:t>Cmd</a:t>
            </a:r>
            <a:r>
              <a:rPr lang="en-US" dirty="0">
                <a:latin typeface="Baskerville Old Face" panose="02020602080505020303" pitchFamily="18" charset="0"/>
                <a:cs typeface="Arial" panose="020B0604020202020204" pitchFamily="34" charset="0"/>
              </a:rPr>
              <a:t> line arguments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0C11013-5C09-440B-94B8-AE038C7F1048}"/>
              </a:ext>
            </a:extLst>
          </p:cNvPr>
          <p:cNvSpPr/>
          <p:nvPr/>
        </p:nvSpPr>
        <p:spPr>
          <a:xfrm>
            <a:off x="902358" y="5204708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Uninitialized data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ADED-D8C1-4418-A434-548BD11F0A27}"/>
              </a:ext>
            </a:extLst>
          </p:cNvPr>
          <p:cNvSpPr txBox="1"/>
          <p:nvPr/>
        </p:nvSpPr>
        <p:spPr>
          <a:xfrm>
            <a:off x="3473064" y="36933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 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CF583-8A89-4F5D-88A4-4D322E359402}"/>
              </a:ext>
            </a:extLst>
          </p:cNvPr>
          <p:cNvSpPr txBox="1"/>
          <p:nvPr/>
        </p:nvSpPr>
        <p:spPr>
          <a:xfrm>
            <a:off x="3376348" y="6287935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72D92-0C83-41FA-8E1F-48473BEB26E5}"/>
              </a:ext>
            </a:extLst>
          </p:cNvPr>
          <p:cNvSpPr txBox="1"/>
          <p:nvPr/>
        </p:nvSpPr>
        <p:spPr>
          <a:xfrm>
            <a:off x="3833548" y="3862674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EE1FDF6A-1575-48E1-A724-C70162D96474}"/>
              </a:ext>
            </a:extLst>
          </p:cNvPr>
          <p:cNvSpPr/>
          <p:nvPr/>
        </p:nvSpPr>
        <p:spPr>
          <a:xfrm rot="16200000">
            <a:off x="3410199" y="3677864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3E726474-364E-444D-8CC5-895EE9FC62FA}"/>
              </a:ext>
            </a:extLst>
          </p:cNvPr>
          <p:cNvSpPr/>
          <p:nvPr/>
        </p:nvSpPr>
        <p:spPr>
          <a:xfrm>
            <a:off x="877674" y="4013329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E8D39-3AD2-48CA-8996-A18E7F8C9FDD}"/>
              </a:ext>
            </a:extLst>
          </p:cNvPr>
          <p:cNvSpPr txBox="1"/>
          <p:nvPr/>
        </p:nvSpPr>
        <p:spPr>
          <a:xfrm>
            <a:off x="3802513" y="4219675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31" name="Down Arrow 29">
            <a:extLst>
              <a:ext uri="{FF2B5EF4-FFF2-40B4-BE49-F238E27FC236}">
                <a16:creationId xmlns:a16="http://schemas.microsoft.com/office/drawing/2014/main" id="{5DFC1889-69F4-4C44-9BA7-DC2BB59B7193}"/>
              </a:ext>
            </a:extLst>
          </p:cNvPr>
          <p:cNvSpPr/>
          <p:nvPr/>
        </p:nvSpPr>
        <p:spPr>
          <a:xfrm rot="16200000">
            <a:off x="3386392" y="4053404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0">
            <a:extLst>
              <a:ext uri="{FF2B5EF4-FFF2-40B4-BE49-F238E27FC236}">
                <a16:creationId xmlns:a16="http://schemas.microsoft.com/office/drawing/2014/main" id="{E5055B56-E8EB-4166-94E2-3BC842AA4DE7}"/>
              </a:ext>
            </a:extLst>
          </p:cNvPr>
          <p:cNvSpPr/>
          <p:nvPr/>
        </p:nvSpPr>
        <p:spPr>
          <a:xfrm>
            <a:off x="890328" y="4411807"/>
            <a:ext cx="2213361" cy="76379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1F4C5857-8BE6-471C-9A82-596A3F50C6EE}"/>
              </a:ext>
            </a:extLst>
          </p:cNvPr>
          <p:cNvSpPr/>
          <p:nvPr/>
        </p:nvSpPr>
        <p:spPr>
          <a:xfrm>
            <a:off x="4934959" y="896017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DB222452-0748-426B-87EE-57D657564588}"/>
              </a:ext>
            </a:extLst>
          </p:cNvPr>
          <p:cNvSpPr/>
          <p:nvPr/>
        </p:nvSpPr>
        <p:spPr>
          <a:xfrm>
            <a:off x="4989318" y="1665233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(40 + x)B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060D706D-BC3D-4DD1-A861-C67D7E098F21}"/>
              </a:ext>
            </a:extLst>
          </p:cNvPr>
          <p:cNvSpPr/>
          <p:nvPr/>
        </p:nvSpPr>
        <p:spPr>
          <a:xfrm>
            <a:off x="4989316" y="1942076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 + x)B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558A9-0549-4D25-B35F-0E817BE6B533}"/>
              </a:ext>
            </a:extLst>
          </p:cNvPr>
          <p:cNvSpPr txBox="1"/>
          <p:nvPr/>
        </p:nvSpPr>
        <p:spPr>
          <a:xfrm>
            <a:off x="5372944" y="4930901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Glibc Cache</a:t>
            </a:r>
          </a:p>
        </p:txBody>
      </p:sp>
    </p:spTree>
    <p:extLst>
      <p:ext uri="{BB962C8B-B14F-4D97-AF65-F5344CB8AC3E}">
        <p14:creationId xmlns:p14="http://schemas.microsoft.com/office/powerpoint/2010/main" val="415152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 animBg="1"/>
      <p:bldP spid="33" grpId="0" animBg="1"/>
      <p:bldP spid="35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01B7C-AB05-46B3-988A-43A26F0C03C8}"/>
              </a:ext>
            </a:extLst>
          </p:cNvPr>
          <p:cNvSpPr txBox="1"/>
          <p:nvPr/>
        </p:nvSpPr>
        <p:spPr>
          <a:xfrm>
            <a:off x="9103360" y="674859"/>
            <a:ext cx="2438400" cy="4708981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foo(){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 = malloc(20)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 = malloc(40)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free(A)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 = malloc(30)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 = malloc(10)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805680" y="600164"/>
            <a:ext cx="2580640" cy="43375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27901-AD30-454B-8BC3-0486B18E4382}"/>
              </a:ext>
            </a:extLst>
          </p:cNvPr>
          <p:cNvSpPr/>
          <p:nvPr/>
        </p:nvSpPr>
        <p:spPr>
          <a:xfrm>
            <a:off x="650240" y="492443"/>
            <a:ext cx="2726108" cy="613941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50B3905-F223-4F85-B819-8E43E8A49AB1}"/>
              </a:ext>
            </a:extLst>
          </p:cNvPr>
          <p:cNvSpPr/>
          <p:nvPr/>
        </p:nvSpPr>
        <p:spPr>
          <a:xfrm>
            <a:off x="906615" y="6050742"/>
            <a:ext cx="2213361" cy="418744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6BF24CF-82FE-42EB-8120-FD018C441504}"/>
              </a:ext>
            </a:extLst>
          </p:cNvPr>
          <p:cNvSpPr/>
          <p:nvPr/>
        </p:nvSpPr>
        <p:spPr>
          <a:xfrm>
            <a:off x="914388" y="5613345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Initialized Data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14912A0-8B78-41D8-B6AA-77013B03C539}"/>
              </a:ext>
            </a:extLst>
          </p:cNvPr>
          <p:cNvSpPr/>
          <p:nvPr/>
        </p:nvSpPr>
        <p:spPr>
          <a:xfrm>
            <a:off x="906614" y="1239459"/>
            <a:ext cx="2213361" cy="40165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E1401C07-F903-4482-89E6-97A1C3FD9E63}"/>
              </a:ext>
            </a:extLst>
          </p:cNvPr>
          <p:cNvSpPr/>
          <p:nvPr/>
        </p:nvSpPr>
        <p:spPr>
          <a:xfrm>
            <a:off x="2013294" y="1677156"/>
            <a:ext cx="86718" cy="2649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38370A-6B70-4030-AE22-99299258F4F5}"/>
              </a:ext>
            </a:extLst>
          </p:cNvPr>
          <p:cNvCxnSpPr/>
          <p:nvPr/>
        </p:nvCxnSpPr>
        <p:spPr>
          <a:xfrm flipV="1">
            <a:off x="650240" y="2427979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74D428-4D51-4E49-A21C-7CABE28987F7}"/>
              </a:ext>
            </a:extLst>
          </p:cNvPr>
          <p:cNvSpPr txBox="1"/>
          <p:nvPr/>
        </p:nvSpPr>
        <p:spPr>
          <a:xfrm>
            <a:off x="1159673" y="2036123"/>
            <a:ext cx="17219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stack growth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0ACA0-809B-4483-9551-7DFF619F1C37}"/>
              </a:ext>
            </a:extLst>
          </p:cNvPr>
          <p:cNvCxnSpPr/>
          <p:nvPr/>
        </p:nvCxnSpPr>
        <p:spPr>
          <a:xfrm flipV="1">
            <a:off x="650240" y="896017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2FB171-7BFC-4992-94B4-6B27E9AB3391}"/>
              </a:ext>
            </a:extLst>
          </p:cNvPr>
          <p:cNvSpPr txBox="1"/>
          <p:nvPr/>
        </p:nvSpPr>
        <p:spPr>
          <a:xfrm>
            <a:off x="913966" y="509564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  <a:cs typeface="Arial" panose="020B0604020202020204" pitchFamily="34" charset="0"/>
              </a:rPr>
              <a:t>Cmd</a:t>
            </a:r>
            <a:r>
              <a:rPr lang="en-US" dirty="0">
                <a:latin typeface="Baskerville Old Face" panose="02020602080505020303" pitchFamily="18" charset="0"/>
                <a:cs typeface="Arial" panose="020B0604020202020204" pitchFamily="34" charset="0"/>
              </a:rPr>
              <a:t> line arguments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0C11013-5C09-440B-94B8-AE038C7F1048}"/>
              </a:ext>
            </a:extLst>
          </p:cNvPr>
          <p:cNvSpPr/>
          <p:nvPr/>
        </p:nvSpPr>
        <p:spPr>
          <a:xfrm>
            <a:off x="902358" y="5204708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Uninitialized data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ADED-D8C1-4418-A434-548BD11F0A27}"/>
              </a:ext>
            </a:extLst>
          </p:cNvPr>
          <p:cNvSpPr txBox="1"/>
          <p:nvPr/>
        </p:nvSpPr>
        <p:spPr>
          <a:xfrm>
            <a:off x="3473064" y="36933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 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CF583-8A89-4F5D-88A4-4D322E359402}"/>
              </a:ext>
            </a:extLst>
          </p:cNvPr>
          <p:cNvSpPr txBox="1"/>
          <p:nvPr/>
        </p:nvSpPr>
        <p:spPr>
          <a:xfrm>
            <a:off x="3376348" y="6287935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72D92-0C83-41FA-8E1F-48473BEB26E5}"/>
              </a:ext>
            </a:extLst>
          </p:cNvPr>
          <p:cNvSpPr txBox="1"/>
          <p:nvPr/>
        </p:nvSpPr>
        <p:spPr>
          <a:xfrm>
            <a:off x="3833548" y="3862674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EE1FDF6A-1575-48E1-A724-C70162D96474}"/>
              </a:ext>
            </a:extLst>
          </p:cNvPr>
          <p:cNvSpPr/>
          <p:nvPr/>
        </p:nvSpPr>
        <p:spPr>
          <a:xfrm rot="16200000">
            <a:off x="3410199" y="3677864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3E726474-364E-444D-8CC5-895EE9FC62FA}"/>
              </a:ext>
            </a:extLst>
          </p:cNvPr>
          <p:cNvSpPr/>
          <p:nvPr/>
        </p:nvSpPr>
        <p:spPr>
          <a:xfrm>
            <a:off x="877674" y="4013329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E8D39-3AD2-48CA-8996-A18E7F8C9FDD}"/>
              </a:ext>
            </a:extLst>
          </p:cNvPr>
          <p:cNvSpPr txBox="1"/>
          <p:nvPr/>
        </p:nvSpPr>
        <p:spPr>
          <a:xfrm>
            <a:off x="3802513" y="4219675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31" name="Down Arrow 29">
            <a:extLst>
              <a:ext uri="{FF2B5EF4-FFF2-40B4-BE49-F238E27FC236}">
                <a16:creationId xmlns:a16="http://schemas.microsoft.com/office/drawing/2014/main" id="{5DFC1889-69F4-4C44-9BA7-DC2BB59B7193}"/>
              </a:ext>
            </a:extLst>
          </p:cNvPr>
          <p:cNvSpPr/>
          <p:nvPr/>
        </p:nvSpPr>
        <p:spPr>
          <a:xfrm rot="16200000">
            <a:off x="3386392" y="4053404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0">
            <a:extLst>
              <a:ext uri="{FF2B5EF4-FFF2-40B4-BE49-F238E27FC236}">
                <a16:creationId xmlns:a16="http://schemas.microsoft.com/office/drawing/2014/main" id="{E5055B56-E8EB-4166-94E2-3BC842AA4DE7}"/>
              </a:ext>
            </a:extLst>
          </p:cNvPr>
          <p:cNvSpPr/>
          <p:nvPr/>
        </p:nvSpPr>
        <p:spPr>
          <a:xfrm>
            <a:off x="890328" y="4411807"/>
            <a:ext cx="2213361" cy="76379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1F4C5857-8BE6-471C-9A82-596A3F50C6EE}"/>
              </a:ext>
            </a:extLst>
          </p:cNvPr>
          <p:cNvSpPr/>
          <p:nvPr/>
        </p:nvSpPr>
        <p:spPr>
          <a:xfrm>
            <a:off x="4934959" y="896017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DB222452-0748-426B-87EE-57D657564588}"/>
              </a:ext>
            </a:extLst>
          </p:cNvPr>
          <p:cNvSpPr/>
          <p:nvPr/>
        </p:nvSpPr>
        <p:spPr>
          <a:xfrm>
            <a:off x="4989318" y="1665233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(40 + x)B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7C9BC27F-C891-406A-BEBA-DA1B1A6B5515}"/>
              </a:ext>
            </a:extLst>
          </p:cNvPr>
          <p:cNvSpPr/>
          <p:nvPr/>
        </p:nvSpPr>
        <p:spPr>
          <a:xfrm>
            <a:off x="4989316" y="1961086"/>
            <a:ext cx="2082041" cy="269193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 + x)B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FB57702B-874D-4497-B39D-59BAC43BE701}"/>
              </a:ext>
            </a:extLst>
          </p:cNvPr>
          <p:cNvSpPr/>
          <p:nvPr/>
        </p:nvSpPr>
        <p:spPr>
          <a:xfrm>
            <a:off x="4989315" y="1373325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(30 + x)B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E95702-A096-479D-8BC7-FF9C1E0FD491}"/>
              </a:ext>
            </a:extLst>
          </p:cNvPr>
          <p:cNvSpPr txBox="1"/>
          <p:nvPr/>
        </p:nvSpPr>
        <p:spPr>
          <a:xfrm>
            <a:off x="5372944" y="4930901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Glibc Cache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99FBBE-8746-4CAB-B701-D6C7D6E9885C}"/>
              </a:ext>
            </a:extLst>
          </p:cNvPr>
          <p:cNvSpPr txBox="1"/>
          <p:nvPr/>
        </p:nvSpPr>
        <p:spPr>
          <a:xfrm>
            <a:off x="0" y="0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49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01B7C-AB05-46B3-988A-43A26F0C03C8}"/>
              </a:ext>
            </a:extLst>
          </p:cNvPr>
          <p:cNvSpPr txBox="1"/>
          <p:nvPr/>
        </p:nvSpPr>
        <p:spPr>
          <a:xfrm>
            <a:off x="9103360" y="674859"/>
            <a:ext cx="2438400" cy="4708981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foo(){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 = malloc(20)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 = malloc(40)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free(A)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 = malloc(30)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 = malloc(10)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E = malloc(100)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Free(B)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Free(D)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Free(C)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805680" y="600164"/>
            <a:ext cx="2580640" cy="43375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27901-AD30-454B-8BC3-0486B18E4382}"/>
              </a:ext>
            </a:extLst>
          </p:cNvPr>
          <p:cNvSpPr/>
          <p:nvPr/>
        </p:nvSpPr>
        <p:spPr>
          <a:xfrm>
            <a:off x="650240" y="492443"/>
            <a:ext cx="2726108" cy="613941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50B3905-F223-4F85-B819-8E43E8A49AB1}"/>
              </a:ext>
            </a:extLst>
          </p:cNvPr>
          <p:cNvSpPr/>
          <p:nvPr/>
        </p:nvSpPr>
        <p:spPr>
          <a:xfrm>
            <a:off x="906615" y="6050742"/>
            <a:ext cx="2213361" cy="418744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6BF24CF-82FE-42EB-8120-FD018C441504}"/>
              </a:ext>
            </a:extLst>
          </p:cNvPr>
          <p:cNvSpPr/>
          <p:nvPr/>
        </p:nvSpPr>
        <p:spPr>
          <a:xfrm>
            <a:off x="914388" y="5613345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Initialized Data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14912A0-8B78-41D8-B6AA-77013B03C539}"/>
              </a:ext>
            </a:extLst>
          </p:cNvPr>
          <p:cNvSpPr/>
          <p:nvPr/>
        </p:nvSpPr>
        <p:spPr>
          <a:xfrm>
            <a:off x="906614" y="1239459"/>
            <a:ext cx="2213361" cy="40165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E1401C07-F903-4482-89E6-97A1C3FD9E63}"/>
              </a:ext>
            </a:extLst>
          </p:cNvPr>
          <p:cNvSpPr/>
          <p:nvPr/>
        </p:nvSpPr>
        <p:spPr>
          <a:xfrm>
            <a:off x="2013294" y="1677156"/>
            <a:ext cx="86718" cy="2649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38370A-6B70-4030-AE22-99299258F4F5}"/>
              </a:ext>
            </a:extLst>
          </p:cNvPr>
          <p:cNvCxnSpPr/>
          <p:nvPr/>
        </p:nvCxnSpPr>
        <p:spPr>
          <a:xfrm flipV="1">
            <a:off x="650240" y="2427979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74D428-4D51-4E49-A21C-7CABE28987F7}"/>
              </a:ext>
            </a:extLst>
          </p:cNvPr>
          <p:cNvSpPr txBox="1"/>
          <p:nvPr/>
        </p:nvSpPr>
        <p:spPr>
          <a:xfrm>
            <a:off x="1159673" y="2036123"/>
            <a:ext cx="17219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stack growth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0ACA0-809B-4483-9551-7DFF619F1C37}"/>
              </a:ext>
            </a:extLst>
          </p:cNvPr>
          <p:cNvCxnSpPr/>
          <p:nvPr/>
        </p:nvCxnSpPr>
        <p:spPr>
          <a:xfrm flipV="1">
            <a:off x="650240" y="896017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2FB171-7BFC-4992-94B4-6B27E9AB3391}"/>
              </a:ext>
            </a:extLst>
          </p:cNvPr>
          <p:cNvSpPr txBox="1"/>
          <p:nvPr/>
        </p:nvSpPr>
        <p:spPr>
          <a:xfrm>
            <a:off x="913966" y="509564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  <a:cs typeface="Arial" panose="020B0604020202020204" pitchFamily="34" charset="0"/>
              </a:rPr>
              <a:t>Cmd</a:t>
            </a:r>
            <a:r>
              <a:rPr lang="en-US" dirty="0">
                <a:latin typeface="Baskerville Old Face" panose="02020602080505020303" pitchFamily="18" charset="0"/>
                <a:cs typeface="Arial" panose="020B0604020202020204" pitchFamily="34" charset="0"/>
              </a:rPr>
              <a:t> line arguments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0C11013-5C09-440B-94B8-AE038C7F1048}"/>
              </a:ext>
            </a:extLst>
          </p:cNvPr>
          <p:cNvSpPr/>
          <p:nvPr/>
        </p:nvSpPr>
        <p:spPr>
          <a:xfrm>
            <a:off x="902358" y="5204708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Uninitialized data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ADED-D8C1-4418-A434-548BD11F0A27}"/>
              </a:ext>
            </a:extLst>
          </p:cNvPr>
          <p:cNvSpPr txBox="1"/>
          <p:nvPr/>
        </p:nvSpPr>
        <p:spPr>
          <a:xfrm>
            <a:off x="3473064" y="36933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 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CF583-8A89-4F5D-88A4-4D322E359402}"/>
              </a:ext>
            </a:extLst>
          </p:cNvPr>
          <p:cNvSpPr txBox="1"/>
          <p:nvPr/>
        </p:nvSpPr>
        <p:spPr>
          <a:xfrm>
            <a:off x="3376348" y="6287935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72D92-0C83-41FA-8E1F-48473BEB26E5}"/>
              </a:ext>
            </a:extLst>
          </p:cNvPr>
          <p:cNvSpPr txBox="1"/>
          <p:nvPr/>
        </p:nvSpPr>
        <p:spPr>
          <a:xfrm>
            <a:off x="3833548" y="3862674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EE1FDF6A-1575-48E1-A724-C70162D96474}"/>
              </a:ext>
            </a:extLst>
          </p:cNvPr>
          <p:cNvSpPr/>
          <p:nvPr/>
        </p:nvSpPr>
        <p:spPr>
          <a:xfrm rot="16200000">
            <a:off x="3410199" y="3677864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3E726474-364E-444D-8CC5-895EE9FC62FA}"/>
              </a:ext>
            </a:extLst>
          </p:cNvPr>
          <p:cNvSpPr/>
          <p:nvPr/>
        </p:nvSpPr>
        <p:spPr>
          <a:xfrm>
            <a:off x="877674" y="4013329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E8D39-3AD2-48CA-8996-A18E7F8C9FDD}"/>
              </a:ext>
            </a:extLst>
          </p:cNvPr>
          <p:cNvSpPr txBox="1"/>
          <p:nvPr/>
        </p:nvSpPr>
        <p:spPr>
          <a:xfrm>
            <a:off x="3802513" y="4219675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31" name="Down Arrow 29">
            <a:extLst>
              <a:ext uri="{FF2B5EF4-FFF2-40B4-BE49-F238E27FC236}">
                <a16:creationId xmlns:a16="http://schemas.microsoft.com/office/drawing/2014/main" id="{5DFC1889-69F4-4C44-9BA7-DC2BB59B7193}"/>
              </a:ext>
            </a:extLst>
          </p:cNvPr>
          <p:cNvSpPr/>
          <p:nvPr/>
        </p:nvSpPr>
        <p:spPr>
          <a:xfrm rot="16200000">
            <a:off x="3386392" y="4053404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0">
            <a:extLst>
              <a:ext uri="{FF2B5EF4-FFF2-40B4-BE49-F238E27FC236}">
                <a16:creationId xmlns:a16="http://schemas.microsoft.com/office/drawing/2014/main" id="{E5055B56-E8EB-4166-94E2-3BC842AA4DE7}"/>
              </a:ext>
            </a:extLst>
          </p:cNvPr>
          <p:cNvSpPr/>
          <p:nvPr/>
        </p:nvSpPr>
        <p:spPr>
          <a:xfrm>
            <a:off x="890328" y="4411807"/>
            <a:ext cx="2213361" cy="76379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1F4C5857-8BE6-471C-9A82-596A3F50C6EE}"/>
              </a:ext>
            </a:extLst>
          </p:cNvPr>
          <p:cNvSpPr/>
          <p:nvPr/>
        </p:nvSpPr>
        <p:spPr>
          <a:xfrm>
            <a:off x="4934959" y="896017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DB222452-0748-426B-87EE-57D657564588}"/>
              </a:ext>
            </a:extLst>
          </p:cNvPr>
          <p:cNvSpPr/>
          <p:nvPr/>
        </p:nvSpPr>
        <p:spPr>
          <a:xfrm>
            <a:off x="4989318" y="1665233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(40 + x)B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FB57702B-874D-4497-B39D-59BAC43BE701}"/>
              </a:ext>
            </a:extLst>
          </p:cNvPr>
          <p:cNvSpPr/>
          <p:nvPr/>
        </p:nvSpPr>
        <p:spPr>
          <a:xfrm>
            <a:off x="4989315" y="1373325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(30 + x)B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A3CA2A9A-EADD-4B07-8B9D-3E85DCDD1FE2}"/>
              </a:ext>
            </a:extLst>
          </p:cNvPr>
          <p:cNvSpPr/>
          <p:nvPr/>
        </p:nvSpPr>
        <p:spPr>
          <a:xfrm>
            <a:off x="4989319" y="1962397"/>
            <a:ext cx="2082041" cy="134652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+ x)B</a:t>
            </a: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C84C72B4-D3E0-4E7F-98E6-ABD899BC88C8}"/>
              </a:ext>
            </a:extLst>
          </p:cNvPr>
          <p:cNvSpPr/>
          <p:nvPr/>
        </p:nvSpPr>
        <p:spPr>
          <a:xfrm>
            <a:off x="5004179" y="2112447"/>
            <a:ext cx="2082041" cy="13465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(10 - x)B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2BCC7085-A434-43EB-832E-D3708CF1CB01}"/>
              </a:ext>
            </a:extLst>
          </p:cNvPr>
          <p:cNvSpPr/>
          <p:nvPr/>
        </p:nvSpPr>
        <p:spPr>
          <a:xfrm>
            <a:off x="5004179" y="2837984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6E1E6DF0-AAB7-4C3B-8B84-64368E2F18EF}"/>
              </a:ext>
            </a:extLst>
          </p:cNvPr>
          <p:cNvSpPr/>
          <p:nvPr/>
        </p:nvSpPr>
        <p:spPr>
          <a:xfrm>
            <a:off x="5064204" y="3900827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 + x)B</a:t>
            </a:r>
          </a:p>
        </p:txBody>
      </p:sp>
      <p:sp>
        <p:nvSpPr>
          <p:cNvPr id="41" name="Down Arrow 26">
            <a:extLst>
              <a:ext uri="{FF2B5EF4-FFF2-40B4-BE49-F238E27FC236}">
                <a16:creationId xmlns:a16="http://schemas.microsoft.com/office/drawing/2014/main" id="{D7C8F0D0-2265-4DBA-BD92-FB1857E90E4F}"/>
              </a:ext>
            </a:extLst>
          </p:cNvPr>
          <p:cNvSpPr/>
          <p:nvPr/>
        </p:nvSpPr>
        <p:spPr>
          <a:xfrm rot="16200000">
            <a:off x="3392481" y="3265276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AA0A0BF9-D5E8-4C51-B6DC-391B9564E9D1}"/>
              </a:ext>
            </a:extLst>
          </p:cNvPr>
          <p:cNvSpPr/>
          <p:nvPr/>
        </p:nvSpPr>
        <p:spPr>
          <a:xfrm>
            <a:off x="859956" y="3600741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151722-7DC2-4B93-8554-5EC4CB75DC7D}"/>
              </a:ext>
            </a:extLst>
          </p:cNvPr>
          <p:cNvSpPr txBox="1"/>
          <p:nvPr/>
        </p:nvSpPr>
        <p:spPr>
          <a:xfrm>
            <a:off x="3789566" y="3455797"/>
            <a:ext cx="85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2E8332-9F8F-4A54-B871-8FC0F093BA96}"/>
              </a:ext>
            </a:extLst>
          </p:cNvPr>
          <p:cNvSpPr txBox="1"/>
          <p:nvPr/>
        </p:nvSpPr>
        <p:spPr>
          <a:xfrm>
            <a:off x="5372944" y="4930901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Glibc Cache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7E9A44-C4B5-4635-B20C-ABDC23F38A4B}"/>
              </a:ext>
            </a:extLst>
          </p:cNvPr>
          <p:cNvSpPr txBox="1"/>
          <p:nvPr/>
        </p:nvSpPr>
        <p:spPr>
          <a:xfrm>
            <a:off x="0" y="0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9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  <p:bldP spid="30" grpId="0" animBg="1"/>
      <p:bldP spid="30" grpId="1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01B7C-AB05-46B3-988A-43A26F0C03C8}"/>
              </a:ext>
            </a:extLst>
          </p:cNvPr>
          <p:cNvSpPr txBox="1"/>
          <p:nvPr/>
        </p:nvSpPr>
        <p:spPr>
          <a:xfrm>
            <a:off x="9103360" y="674859"/>
            <a:ext cx="2438400" cy="4708981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foo(){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 = malloc(20)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 = malloc(40)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free(A)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 = malloc(30)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 = malloc(10)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E = malloc(100)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Free(B)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Free(D)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Free(C)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805680" y="600164"/>
            <a:ext cx="2580640" cy="43375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27901-AD30-454B-8BC3-0486B18E4382}"/>
              </a:ext>
            </a:extLst>
          </p:cNvPr>
          <p:cNvSpPr/>
          <p:nvPr/>
        </p:nvSpPr>
        <p:spPr>
          <a:xfrm>
            <a:off x="650240" y="492443"/>
            <a:ext cx="2726108" cy="613941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50B3905-F223-4F85-B819-8E43E8A49AB1}"/>
              </a:ext>
            </a:extLst>
          </p:cNvPr>
          <p:cNvSpPr/>
          <p:nvPr/>
        </p:nvSpPr>
        <p:spPr>
          <a:xfrm>
            <a:off x="906615" y="6050742"/>
            <a:ext cx="2213361" cy="418744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6BF24CF-82FE-42EB-8120-FD018C441504}"/>
              </a:ext>
            </a:extLst>
          </p:cNvPr>
          <p:cNvSpPr/>
          <p:nvPr/>
        </p:nvSpPr>
        <p:spPr>
          <a:xfrm>
            <a:off x="914388" y="5613345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Initialized Data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14912A0-8B78-41D8-B6AA-77013B03C539}"/>
              </a:ext>
            </a:extLst>
          </p:cNvPr>
          <p:cNvSpPr/>
          <p:nvPr/>
        </p:nvSpPr>
        <p:spPr>
          <a:xfrm>
            <a:off x="906614" y="1239459"/>
            <a:ext cx="2213361" cy="40165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E1401C07-F903-4482-89E6-97A1C3FD9E63}"/>
              </a:ext>
            </a:extLst>
          </p:cNvPr>
          <p:cNvSpPr/>
          <p:nvPr/>
        </p:nvSpPr>
        <p:spPr>
          <a:xfrm>
            <a:off x="2013294" y="1677156"/>
            <a:ext cx="86718" cy="2649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38370A-6B70-4030-AE22-99299258F4F5}"/>
              </a:ext>
            </a:extLst>
          </p:cNvPr>
          <p:cNvCxnSpPr/>
          <p:nvPr/>
        </p:nvCxnSpPr>
        <p:spPr>
          <a:xfrm flipV="1">
            <a:off x="650240" y="2427979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74D428-4D51-4E49-A21C-7CABE28987F7}"/>
              </a:ext>
            </a:extLst>
          </p:cNvPr>
          <p:cNvSpPr txBox="1"/>
          <p:nvPr/>
        </p:nvSpPr>
        <p:spPr>
          <a:xfrm>
            <a:off x="1159673" y="2036123"/>
            <a:ext cx="17219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stack growth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0ACA0-809B-4483-9551-7DFF619F1C37}"/>
              </a:ext>
            </a:extLst>
          </p:cNvPr>
          <p:cNvCxnSpPr/>
          <p:nvPr/>
        </p:nvCxnSpPr>
        <p:spPr>
          <a:xfrm flipV="1">
            <a:off x="650240" y="896017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2FB171-7BFC-4992-94B4-6B27E9AB3391}"/>
              </a:ext>
            </a:extLst>
          </p:cNvPr>
          <p:cNvSpPr txBox="1"/>
          <p:nvPr/>
        </p:nvSpPr>
        <p:spPr>
          <a:xfrm>
            <a:off x="913966" y="509564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  <a:cs typeface="Arial" panose="020B0604020202020204" pitchFamily="34" charset="0"/>
              </a:rPr>
              <a:t>Cmd</a:t>
            </a:r>
            <a:r>
              <a:rPr lang="en-US" dirty="0">
                <a:latin typeface="Baskerville Old Face" panose="02020602080505020303" pitchFamily="18" charset="0"/>
                <a:cs typeface="Arial" panose="020B0604020202020204" pitchFamily="34" charset="0"/>
              </a:rPr>
              <a:t> line arguments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0C11013-5C09-440B-94B8-AE038C7F1048}"/>
              </a:ext>
            </a:extLst>
          </p:cNvPr>
          <p:cNvSpPr/>
          <p:nvPr/>
        </p:nvSpPr>
        <p:spPr>
          <a:xfrm>
            <a:off x="902358" y="5204708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Uninitialized data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ADED-D8C1-4418-A434-548BD11F0A27}"/>
              </a:ext>
            </a:extLst>
          </p:cNvPr>
          <p:cNvSpPr txBox="1"/>
          <p:nvPr/>
        </p:nvSpPr>
        <p:spPr>
          <a:xfrm>
            <a:off x="3473064" y="36933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 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CF583-8A89-4F5D-88A4-4D322E359402}"/>
              </a:ext>
            </a:extLst>
          </p:cNvPr>
          <p:cNvSpPr txBox="1"/>
          <p:nvPr/>
        </p:nvSpPr>
        <p:spPr>
          <a:xfrm>
            <a:off x="3376348" y="6287935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3E726474-364E-444D-8CC5-895EE9FC62FA}"/>
              </a:ext>
            </a:extLst>
          </p:cNvPr>
          <p:cNvSpPr/>
          <p:nvPr/>
        </p:nvSpPr>
        <p:spPr>
          <a:xfrm>
            <a:off x="877674" y="4013329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VP Page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E8D39-3AD2-48CA-8996-A18E7F8C9FDD}"/>
              </a:ext>
            </a:extLst>
          </p:cNvPr>
          <p:cNvSpPr txBox="1"/>
          <p:nvPr/>
        </p:nvSpPr>
        <p:spPr>
          <a:xfrm>
            <a:off x="3802513" y="4219675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31" name="Down Arrow 29">
            <a:extLst>
              <a:ext uri="{FF2B5EF4-FFF2-40B4-BE49-F238E27FC236}">
                <a16:creationId xmlns:a16="http://schemas.microsoft.com/office/drawing/2014/main" id="{5DFC1889-69F4-4C44-9BA7-DC2BB59B7193}"/>
              </a:ext>
            </a:extLst>
          </p:cNvPr>
          <p:cNvSpPr/>
          <p:nvPr/>
        </p:nvSpPr>
        <p:spPr>
          <a:xfrm rot="16200000">
            <a:off x="3386392" y="4053404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0">
            <a:extLst>
              <a:ext uri="{FF2B5EF4-FFF2-40B4-BE49-F238E27FC236}">
                <a16:creationId xmlns:a16="http://schemas.microsoft.com/office/drawing/2014/main" id="{E5055B56-E8EB-4166-94E2-3BC842AA4DE7}"/>
              </a:ext>
            </a:extLst>
          </p:cNvPr>
          <p:cNvSpPr/>
          <p:nvPr/>
        </p:nvSpPr>
        <p:spPr>
          <a:xfrm>
            <a:off x="890328" y="4411807"/>
            <a:ext cx="2213361" cy="76379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1F4C5857-8BE6-471C-9A82-596A3F50C6EE}"/>
              </a:ext>
            </a:extLst>
          </p:cNvPr>
          <p:cNvSpPr/>
          <p:nvPr/>
        </p:nvSpPr>
        <p:spPr>
          <a:xfrm>
            <a:off x="4934959" y="896017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C84C72B4-D3E0-4E7F-98E6-ABD899BC88C8}"/>
              </a:ext>
            </a:extLst>
          </p:cNvPr>
          <p:cNvSpPr/>
          <p:nvPr/>
        </p:nvSpPr>
        <p:spPr>
          <a:xfrm>
            <a:off x="5004179" y="2112447"/>
            <a:ext cx="2082041" cy="13465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(10 - x)B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2BCC7085-A434-43EB-832E-D3708CF1CB01}"/>
              </a:ext>
            </a:extLst>
          </p:cNvPr>
          <p:cNvSpPr/>
          <p:nvPr/>
        </p:nvSpPr>
        <p:spPr>
          <a:xfrm>
            <a:off x="5004179" y="2837984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6E1E6DF0-AAB7-4C3B-8B84-64368E2F18EF}"/>
              </a:ext>
            </a:extLst>
          </p:cNvPr>
          <p:cNvSpPr/>
          <p:nvPr/>
        </p:nvSpPr>
        <p:spPr>
          <a:xfrm>
            <a:off x="5054476" y="3900827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 + x)B</a:t>
            </a:r>
          </a:p>
        </p:txBody>
      </p:sp>
      <p:sp>
        <p:nvSpPr>
          <p:cNvPr id="36" name="Down Arrow 26">
            <a:extLst>
              <a:ext uri="{FF2B5EF4-FFF2-40B4-BE49-F238E27FC236}">
                <a16:creationId xmlns:a16="http://schemas.microsoft.com/office/drawing/2014/main" id="{7DA45BAB-8210-48ED-AFFA-FC2FEBB76F61}"/>
              </a:ext>
            </a:extLst>
          </p:cNvPr>
          <p:cNvSpPr/>
          <p:nvPr/>
        </p:nvSpPr>
        <p:spPr>
          <a:xfrm rot="16200000">
            <a:off x="3392481" y="3265276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7466EA81-DF59-4F7F-B4AA-28261BD30728}"/>
              </a:ext>
            </a:extLst>
          </p:cNvPr>
          <p:cNvSpPr/>
          <p:nvPr/>
        </p:nvSpPr>
        <p:spPr>
          <a:xfrm>
            <a:off x="859956" y="3600741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C8DBD9-F154-4864-82B1-10654DF042E7}"/>
              </a:ext>
            </a:extLst>
          </p:cNvPr>
          <p:cNvSpPr txBox="1"/>
          <p:nvPr/>
        </p:nvSpPr>
        <p:spPr>
          <a:xfrm>
            <a:off x="3789566" y="3455797"/>
            <a:ext cx="85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46B253-6063-41A5-A7DC-3673623D8858}"/>
              </a:ext>
            </a:extLst>
          </p:cNvPr>
          <p:cNvSpPr txBox="1"/>
          <p:nvPr/>
        </p:nvSpPr>
        <p:spPr>
          <a:xfrm>
            <a:off x="5372944" y="4930901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Glibc Cache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A80217-C7F9-48A2-8006-C425E32672D8}"/>
              </a:ext>
            </a:extLst>
          </p:cNvPr>
          <p:cNvSpPr txBox="1"/>
          <p:nvPr/>
        </p:nvSpPr>
        <p:spPr>
          <a:xfrm>
            <a:off x="0" y="0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01B7C-AB05-46B3-988A-43A26F0C03C8}"/>
              </a:ext>
            </a:extLst>
          </p:cNvPr>
          <p:cNvSpPr txBox="1"/>
          <p:nvPr/>
        </p:nvSpPr>
        <p:spPr>
          <a:xfrm>
            <a:off x="9103360" y="674859"/>
            <a:ext cx="2438400" cy="4708981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foo(){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. . .</a:t>
            </a:r>
          </a:p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 = malloc(20)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 = malloc(40)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free(A)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 = malloc(30)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 = malloc(10)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E = malloc(100)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Free(B)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Free(D)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Free(C)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805680" y="600164"/>
            <a:ext cx="2580640" cy="43375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27901-AD30-454B-8BC3-0486B18E4382}"/>
              </a:ext>
            </a:extLst>
          </p:cNvPr>
          <p:cNvSpPr/>
          <p:nvPr/>
        </p:nvSpPr>
        <p:spPr>
          <a:xfrm>
            <a:off x="650240" y="492443"/>
            <a:ext cx="2726108" cy="613941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50B3905-F223-4F85-B819-8E43E8A49AB1}"/>
              </a:ext>
            </a:extLst>
          </p:cNvPr>
          <p:cNvSpPr/>
          <p:nvPr/>
        </p:nvSpPr>
        <p:spPr>
          <a:xfrm>
            <a:off x="906615" y="6050742"/>
            <a:ext cx="2213361" cy="418744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6BF24CF-82FE-42EB-8120-FD018C441504}"/>
              </a:ext>
            </a:extLst>
          </p:cNvPr>
          <p:cNvSpPr/>
          <p:nvPr/>
        </p:nvSpPr>
        <p:spPr>
          <a:xfrm>
            <a:off x="914388" y="5613345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Initialized Data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14912A0-8B78-41D8-B6AA-77013B03C539}"/>
              </a:ext>
            </a:extLst>
          </p:cNvPr>
          <p:cNvSpPr/>
          <p:nvPr/>
        </p:nvSpPr>
        <p:spPr>
          <a:xfrm>
            <a:off x="906614" y="1239459"/>
            <a:ext cx="2213361" cy="40165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E1401C07-F903-4482-89E6-97A1C3FD9E63}"/>
              </a:ext>
            </a:extLst>
          </p:cNvPr>
          <p:cNvSpPr/>
          <p:nvPr/>
        </p:nvSpPr>
        <p:spPr>
          <a:xfrm>
            <a:off x="2013294" y="1677156"/>
            <a:ext cx="86718" cy="2649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38370A-6B70-4030-AE22-99299258F4F5}"/>
              </a:ext>
            </a:extLst>
          </p:cNvPr>
          <p:cNvCxnSpPr/>
          <p:nvPr/>
        </p:nvCxnSpPr>
        <p:spPr>
          <a:xfrm flipV="1">
            <a:off x="650240" y="2427979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74D428-4D51-4E49-A21C-7CABE28987F7}"/>
              </a:ext>
            </a:extLst>
          </p:cNvPr>
          <p:cNvSpPr txBox="1"/>
          <p:nvPr/>
        </p:nvSpPr>
        <p:spPr>
          <a:xfrm>
            <a:off x="1159673" y="2036123"/>
            <a:ext cx="17219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stack growth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0ACA0-809B-4483-9551-7DFF619F1C37}"/>
              </a:ext>
            </a:extLst>
          </p:cNvPr>
          <p:cNvCxnSpPr/>
          <p:nvPr/>
        </p:nvCxnSpPr>
        <p:spPr>
          <a:xfrm flipV="1">
            <a:off x="650240" y="896017"/>
            <a:ext cx="2646183" cy="1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2FB171-7BFC-4992-94B4-6B27E9AB3391}"/>
              </a:ext>
            </a:extLst>
          </p:cNvPr>
          <p:cNvSpPr txBox="1"/>
          <p:nvPr/>
        </p:nvSpPr>
        <p:spPr>
          <a:xfrm>
            <a:off x="913966" y="509564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  <a:cs typeface="Arial" panose="020B0604020202020204" pitchFamily="34" charset="0"/>
              </a:rPr>
              <a:t>Cmd</a:t>
            </a:r>
            <a:r>
              <a:rPr lang="en-US" dirty="0">
                <a:latin typeface="Baskerville Old Face" panose="02020602080505020303" pitchFamily="18" charset="0"/>
                <a:cs typeface="Arial" panose="020B0604020202020204" pitchFamily="34" charset="0"/>
              </a:rPr>
              <a:t> line arguments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0C11013-5C09-440B-94B8-AE038C7F1048}"/>
              </a:ext>
            </a:extLst>
          </p:cNvPr>
          <p:cNvSpPr/>
          <p:nvPr/>
        </p:nvSpPr>
        <p:spPr>
          <a:xfrm>
            <a:off x="902358" y="5204708"/>
            <a:ext cx="2213361" cy="42729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Uninitialized data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ADED-D8C1-4418-A434-548BD11F0A27}"/>
              </a:ext>
            </a:extLst>
          </p:cNvPr>
          <p:cNvSpPr txBox="1"/>
          <p:nvPr/>
        </p:nvSpPr>
        <p:spPr>
          <a:xfrm>
            <a:off x="3473064" y="36933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 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CF583-8A89-4F5D-88A4-4D322E359402}"/>
              </a:ext>
            </a:extLst>
          </p:cNvPr>
          <p:cNvSpPr txBox="1"/>
          <p:nvPr/>
        </p:nvSpPr>
        <p:spPr>
          <a:xfrm>
            <a:off x="3376348" y="6287935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3E726474-364E-444D-8CC5-895EE9FC62FA}"/>
              </a:ext>
            </a:extLst>
          </p:cNvPr>
          <p:cNvSpPr/>
          <p:nvPr/>
        </p:nvSpPr>
        <p:spPr>
          <a:xfrm>
            <a:off x="877674" y="4013329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VP Page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E8D39-3AD2-48CA-8996-A18E7F8C9FDD}"/>
              </a:ext>
            </a:extLst>
          </p:cNvPr>
          <p:cNvSpPr txBox="1"/>
          <p:nvPr/>
        </p:nvSpPr>
        <p:spPr>
          <a:xfrm>
            <a:off x="3802513" y="4219675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31" name="Down Arrow 29">
            <a:extLst>
              <a:ext uri="{FF2B5EF4-FFF2-40B4-BE49-F238E27FC236}">
                <a16:creationId xmlns:a16="http://schemas.microsoft.com/office/drawing/2014/main" id="{5DFC1889-69F4-4C44-9BA7-DC2BB59B7193}"/>
              </a:ext>
            </a:extLst>
          </p:cNvPr>
          <p:cNvSpPr/>
          <p:nvPr/>
        </p:nvSpPr>
        <p:spPr>
          <a:xfrm rot="16200000">
            <a:off x="3386392" y="4053404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0">
            <a:extLst>
              <a:ext uri="{FF2B5EF4-FFF2-40B4-BE49-F238E27FC236}">
                <a16:creationId xmlns:a16="http://schemas.microsoft.com/office/drawing/2014/main" id="{E5055B56-E8EB-4166-94E2-3BC842AA4DE7}"/>
              </a:ext>
            </a:extLst>
          </p:cNvPr>
          <p:cNvSpPr/>
          <p:nvPr/>
        </p:nvSpPr>
        <p:spPr>
          <a:xfrm>
            <a:off x="890328" y="4411807"/>
            <a:ext cx="2213361" cy="763799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2BCC7085-A434-43EB-832E-D3708CF1CB01}"/>
              </a:ext>
            </a:extLst>
          </p:cNvPr>
          <p:cNvSpPr/>
          <p:nvPr/>
        </p:nvSpPr>
        <p:spPr>
          <a:xfrm>
            <a:off x="5004179" y="2837984"/>
            <a:ext cx="2213361" cy="139402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6E1E6DF0-AAB7-4C3B-8B84-64368E2F18EF}"/>
              </a:ext>
            </a:extLst>
          </p:cNvPr>
          <p:cNvSpPr/>
          <p:nvPr/>
        </p:nvSpPr>
        <p:spPr>
          <a:xfrm>
            <a:off x="5054476" y="3900827"/>
            <a:ext cx="2082041" cy="269193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 + x)B</a:t>
            </a:r>
          </a:p>
        </p:txBody>
      </p:sp>
      <p:sp>
        <p:nvSpPr>
          <p:cNvPr id="36" name="Down Arrow 26">
            <a:extLst>
              <a:ext uri="{FF2B5EF4-FFF2-40B4-BE49-F238E27FC236}">
                <a16:creationId xmlns:a16="http://schemas.microsoft.com/office/drawing/2014/main" id="{7DA45BAB-8210-48ED-AFFA-FC2FEBB76F61}"/>
              </a:ext>
            </a:extLst>
          </p:cNvPr>
          <p:cNvSpPr/>
          <p:nvPr/>
        </p:nvSpPr>
        <p:spPr>
          <a:xfrm rot="16200000">
            <a:off x="3392481" y="3265276"/>
            <a:ext cx="138748" cy="75578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7466EA81-DF59-4F7F-B4AA-28261BD30728}"/>
              </a:ext>
            </a:extLst>
          </p:cNvPr>
          <p:cNvSpPr/>
          <p:nvPr/>
        </p:nvSpPr>
        <p:spPr>
          <a:xfrm>
            <a:off x="859956" y="3600741"/>
            <a:ext cx="2213361" cy="3795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(one new VP)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C8DBD9-F154-4864-82B1-10654DF042E7}"/>
              </a:ext>
            </a:extLst>
          </p:cNvPr>
          <p:cNvSpPr txBox="1"/>
          <p:nvPr/>
        </p:nvSpPr>
        <p:spPr>
          <a:xfrm>
            <a:off x="3789566" y="3455797"/>
            <a:ext cx="85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break’’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6091E2-FC44-4BEA-93DC-AA15E55B399C}"/>
              </a:ext>
            </a:extLst>
          </p:cNvPr>
          <p:cNvSpPr txBox="1"/>
          <p:nvPr/>
        </p:nvSpPr>
        <p:spPr>
          <a:xfrm>
            <a:off x="4217438" y="5378915"/>
            <a:ext cx="75433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askerville Old Face" panose="02020602080505020303" pitchFamily="18" charset="0"/>
              </a:rPr>
              <a:t>For future malloc, Virtual Pages in </a:t>
            </a:r>
            <a:r>
              <a:rPr lang="en-US" sz="1600" dirty="0" err="1">
                <a:latin typeface="Baskerville Old Face" panose="02020602080505020303" pitchFamily="18" charset="0"/>
              </a:rPr>
              <a:t>glibc</a:t>
            </a:r>
            <a:r>
              <a:rPr lang="en-US" sz="1600" dirty="0">
                <a:latin typeface="Baskerville Old Face" panose="02020602080505020303" pitchFamily="18" charset="0"/>
              </a:rPr>
              <a:t> which can satisfy request is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askerville Old Face" panose="02020602080505020303" pitchFamily="18" charset="0"/>
              </a:rPr>
              <a:t>If no VP cached by </a:t>
            </a:r>
            <a:r>
              <a:rPr lang="en-US" sz="1600" dirty="0" err="1">
                <a:latin typeface="Baskerville Old Face" panose="02020602080505020303" pitchFamily="18" charset="0"/>
              </a:rPr>
              <a:t>glibc</a:t>
            </a:r>
            <a:r>
              <a:rPr lang="en-US" sz="1600" dirty="0">
                <a:latin typeface="Baskerville Old Face" panose="02020602080505020303" pitchFamily="18" charset="0"/>
              </a:rPr>
              <a:t> can satisfy request, next available page is fetched from process’s heap memory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askerville Old Face" panose="02020602080505020303" pitchFamily="18" charset="0"/>
              </a:rPr>
              <a:t>Heap Segment is expanded only when no page (either cached in </a:t>
            </a:r>
            <a:r>
              <a:rPr lang="en-US" sz="1600" dirty="0" err="1">
                <a:latin typeface="Baskerville Old Face" panose="02020602080505020303" pitchFamily="18" charset="0"/>
              </a:rPr>
              <a:t>glibc</a:t>
            </a:r>
            <a:r>
              <a:rPr lang="en-US" sz="1600" dirty="0">
                <a:latin typeface="Baskerville Old Face" panose="02020602080505020303" pitchFamily="18" charset="0"/>
              </a:rPr>
              <a:t> or available in 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Heap segment) can satisfy malloc request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DED706-EBCB-4BCB-8448-AA847CA221D1}"/>
              </a:ext>
            </a:extLst>
          </p:cNvPr>
          <p:cNvSpPr txBox="1"/>
          <p:nvPr/>
        </p:nvSpPr>
        <p:spPr>
          <a:xfrm>
            <a:off x="5372944" y="4930901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Glibc Cache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9A27F7-3E81-4242-8046-2FDD7AFDCBFE}"/>
              </a:ext>
            </a:extLst>
          </p:cNvPr>
          <p:cNvSpPr txBox="1"/>
          <p:nvPr/>
        </p:nvSpPr>
        <p:spPr>
          <a:xfrm>
            <a:off x="0" y="0"/>
            <a:ext cx="490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25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09A27F7-3E81-4242-8046-2FDD7AFDCBFE}"/>
              </a:ext>
            </a:extLst>
          </p:cNvPr>
          <p:cNvSpPr txBox="1"/>
          <p:nvPr/>
        </p:nvSpPr>
        <p:spPr>
          <a:xfrm>
            <a:off x="0" y="0"/>
            <a:ext cx="808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Freeing VM pages allocated by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/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syscalls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52" name="Rounded Rectangle 30">
            <a:extLst>
              <a:ext uri="{FF2B5EF4-FFF2-40B4-BE49-F238E27FC236}">
                <a16:creationId xmlns:a16="http://schemas.microsoft.com/office/drawing/2014/main" id="{DAF337BD-DB0D-49DD-B9FD-813BE72E6792}"/>
              </a:ext>
            </a:extLst>
          </p:cNvPr>
          <p:cNvSpPr/>
          <p:nvPr/>
        </p:nvSpPr>
        <p:spPr>
          <a:xfrm>
            <a:off x="712680" y="1911680"/>
            <a:ext cx="2213361" cy="4696938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9B4F70B3-00E4-4CE5-A147-E670915A3875}"/>
              </a:ext>
            </a:extLst>
          </p:cNvPr>
          <p:cNvSpPr/>
          <p:nvPr/>
        </p:nvSpPr>
        <p:spPr>
          <a:xfrm>
            <a:off x="712680" y="5895719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753F-857C-49E0-96CD-11826BEDBE4C}"/>
              </a:ext>
            </a:extLst>
          </p:cNvPr>
          <p:cNvSpPr txBox="1"/>
          <p:nvPr/>
        </p:nvSpPr>
        <p:spPr>
          <a:xfrm>
            <a:off x="3825827" y="2169828"/>
            <a:ext cx="22701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1200" dirty="0">
              <a:latin typeface="Baskerville Old Face" panose="02020602080505020303" pitchFamily="18" charset="0"/>
            </a:endParaRPr>
          </a:p>
          <a:p>
            <a:endParaRPr lang="en-US" sz="12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</p:txBody>
      </p:sp>
      <p:sp>
        <p:nvSpPr>
          <p:cNvPr id="56" name="Rounded Rectangle 7">
            <a:extLst>
              <a:ext uri="{FF2B5EF4-FFF2-40B4-BE49-F238E27FC236}">
                <a16:creationId xmlns:a16="http://schemas.microsoft.com/office/drawing/2014/main" id="{6325DEB6-A1DE-4948-8A46-28D7DF90ACD0}"/>
              </a:ext>
            </a:extLst>
          </p:cNvPr>
          <p:cNvSpPr/>
          <p:nvPr/>
        </p:nvSpPr>
        <p:spPr>
          <a:xfrm>
            <a:off x="712680" y="5487158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3FE568E4-677E-4A97-B503-586A5A87044A}"/>
              </a:ext>
            </a:extLst>
          </p:cNvPr>
          <p:cNvSpPr/>
          <p:nvPr/>
        </p:nvSpPr>
        <p:spPr>
          <a:xfrm>
            <a:off x="712680" y="4670036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8" name="Rounded Rectangle 7">
            <a:extLst>
              <a:ext uri="{FF2B5EF4-FFF2-40B4-BE49-F238E27FC236}">
                <a16:creationId xmlns:a16="http://schemas.microsoft.com/office/drawing/2014/main" id="{EB4DC0D5-C901-4605-A3F3-77C8B4E6DF46}"/>
              </a:ext>
            </a:extLst>
          </p:cNvPr>
          <p:cNvSpPr/>
          <p:nvPr/>
        </p:nvSpPr>
        <p:spPr>
          <a:xfrm>
            <a:off x="712680" y="5078597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396AE-3960-4210-9AB3-79406269DFB8}"/>
              </a:ext>
            </a:extLst>
          </p:cNvPr>
          <p:cNvSpPr txBox="1"/>
          <p:nvPr/>
        </p:nvSpPr>
        <p:spPr>
          <a:xfrm>
            <a:off x="3870960" y="5415280"/>
            <a:ext cx="6856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can assume that VM pages are contiguous in heap segment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(Therefore we can attempt to treat them as an array)</a:t>
            </a:r>
          </a:p>
        </p:txBody>
      </p:sp>
    </p:spTree>
    <p:extLst>
      <p:ext uri="{BB962C8B-B14F-4D97-AF65-F5344CB8AC3E}">
        <p14:creationId xmlns:p14="http://schemas.microsoft.com/office/powerpoint/2010/main" val="249024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09A27F7-3E81-4242-8046-2FDD7AFDCBFE}"/>
              </a:ext>
            </a:extLst>
          </p:cNvPr>
          <p:cNvSpPr txBox="1"/>
          <p:nvPr/>
        </p:nvSpPr>
        <p:spPr>
          <a:xfrm>
            <a:off x="0" y="0"/>
            <a:ext cx="808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Freeing VM pages allocated by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/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brk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syscalls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A660F-13D1-4A93-A1C1-1B641F57FF9B}"/>
              </a:ext>
            </a:extLst>
          </p:cNvPr>
          <p:cNvSpPr txBox="1"/>
          <p:nvPr/>
        </p:nvSpPr>
        <p:spPr>
          <a:xfrm>
            <a:off x="165561" y="770076"/>
            <a:ext cx="1186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Using 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brk</a:t>
            </a:r>
            <a:r>
              <a:rPr lang="en-US" dirty="0">
                <a:latin typeface="Baskerville Old Face" panose="02020602080505020303" pitchFamily="18" charset="0"/>
              </a:rPr>
              <a:t> system calls, VM pages are freed by lowering the break pointer only when top-most VM page is freed</a:t>
            </a:r>
          </a:p>
        </p:txBody>
      </p:sp>
      <p:sp>
        <p:nvSpPr>
          <p:cNvPr id="52" name="Rounded Rectangle 30">
            <a:extLst>
              <a:ext uri="{FF2B5EF4-FFF2-40B4-BE49-F238E27FC236}">
                <a16:creationId xmlns:a16="http://schemas.microsoft.com/office/drawing/2014/main" id="{DAF337BD-DB0D-49DD-B9FD-813BE72E6792}"/>
              </a:ext>
            </a:extLst>
          </p:cNvPr>
          <p:cNvSpPr/>
          <p:nvPr/>
        </p:nvSpPr>
        <p:spPr>
          <a:xfrm>
            <a:off x="712680" y="1911680"/>
            <a:ext cx="2213361" cy="4696938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9B4F70B3-00E4-4CE5-A147-E670915A3875}"/>
              </a:ext>
            </a:extLst>
          </p:cNvPr>
          <p:cNvSpPr/>
          <p:nvPr/>
        </p:nvSpPr>
        <p:spPr>
          <a:xfrm>
            <a:off x="712680" y="5895719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753F-857C-49E0-96CD-11826BEDBE4C}"/>
              </a:ext>
            </a:extLst>
          </p:cNvPr>
          <p:cNvSpPr txBox="1"/>
          <p:nvPr/>
        </p:nvSpPr>
        <p:spPr>
          <a:xfrm>
            <a:off x="3825827" y="2169828"/>
            <a:ext cx="22701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  <a:p>
            <a:endParaRPr lang="en-US" sz="1200" dirty="0">
              <a:latin typeface="Baskerville Old Face" panose="02020602080505020303" pitchFamily="18" charset="0"/>
            </a:endParaRPr>
          </a:p>
          <a:p>
            <a:endParaRPr lang="en-US" sz="12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sbrk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  <a:r>
              <a:rPr lang="en-US" sz="1200" dirty="0">
                <a:latin typeface="Baskerville Old Face" panose="02020602080505020303" pitchFamily="18" charset="0"/>
              </a:rPr>
              <a:t>(SYSTEM_PAGE_SIZE)</a:t>
            </a:r>
          </a:p>
        </p:txBody>
      </p:sp>
      <p:sp>
        <p:nvSpPr>
          <p:cNvPr id="56" name="Rounded Rectangle 7">
            <a:extLst>
              <a:ext uri="{FF2B5EF4-FFF2-40B4-BE49-F238E27FC236}">
                <a16:creationId xmlns:a16="http://schemas.microsoft.com/office/drawing/2014/main" id="{6325DEB6-A1DE-4948-8A46-28D7DF90ACD0}"/>
              </a:ext>
            </a:extLst>
          </p:cNvPr>
          <p:cNvSpPr/>
          <p:nvPr/>
        </p:nvSpPr>
        <p:spPr>
          <a:xfrm>
            <a:off x="712680" y="5487158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3FE568E4-677E-4A97-B503-586A5A87044A}"/>
              </a:ext>
            </a:extLst>
          </p:cNvPr>
          <p:cNvSpPr/>
          <p:nvPr/>
        </p:nvSpPr>
        <p:spPr>
          <a:xfrm>
            <a:off x="712680" y="4670036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8" name="Rounded Rectangle 7">
            <a:extLst>
              <a:ext uri="{FF2B5EF4-FFF2-40B4-BE49-F238E27FC236}">
                <a16:creationId xmlns:a16="http://schemas.microsoft.com/office/drawing/2014/main" id="{EB4DC0D5-C901-4605-A3F3-77C8B4E6DF46}"/>
              </a:ext>
            </a:extLst>
          </p:cNvPr>
          <p:cNvSpPr/>
          <p:nvPr/>
        </p:nvSpPr>
        <p:spPr>
          <a:xfrm>
            <a:off x="712680" y="5078597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5657A-E632-4A6A-A6D2-E76D74ECF0E2}"/>
              </a:ext>
            </a:extLst>
          </p:cNvPr>
          <p:cNvSpPr txBox="1"/>
          <p:nvPr/>
        </p:nvSpPr>
        <p:spPr>
          <a:xfrm>
            <a:off x="3593695" y="4483887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break</a:t>
            </a:r>
          </a:p>
        </p:txBody>
      </p:sp>
      <p:sp>
        <p:nvSpPr>
          <p:cNvPr id="13" name="Down Arrow 29">
            <a:extLst>
              <a:ext uri="{FF2B5EF4-FFF2-40B4-BE49-F238E27FC236}">
                <a16:creationId xmlns:a16="http://schemas.microsoft.com/office/drawing/2014/main" id="{E6BABCC4-80B8-498C-93E2-F261A324C3E6}"/>
              </a:ext>
            </a:extLst>
          </p:cNvPr>
          <p:cNvSpPr/>
          <p:nvPr/>
        </p:nvSpPr>
        <p:spPr>
          <a:xfrm rot="16200000">
            <a:off x="3177574" y="4317616"/>
            <a:ext cx="138749" cy="73424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CAC69-0CFE-4E8E-B1D0-D3F179797D36}"/>
              </a:ext>
            </a:extLst>
          </p:cNvPr>
          <p:cNvSpPr txBox="1"/>
          <p:nvPr/>
        </p:nvSpPr>
        <p:spPr>
          <a:xfrm>
            <a:off x="6532880" y="1911680"/>
            <a:ext cx="54660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Suppose the page 3 is in no use by 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Yet we cannot lower the break pointer because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page 4 is in use. From MMU perspective, page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3 is still in use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Now, </a:t>
            </a:r>
            <a:r>
              <a:rPr lang="en-US" sz="2000" dirty="0" err="1">
                <a:latin typeface="Baskerville Old Face" panose="02020602080505020303" pitchFamily="18" charset="0"/>
              </a:rPr>
              <a:t>appln</a:t>
            </a:r>
            <a:r>
              <a:rPr lang="en-US" sz="2000" dirty="0">
                <a:latin typeface="Baskerville Old Face" panose="02020602080505020303" pitchFamily="18" charset="0"/>
              </a:rPr>
              <a:t> do not use page 4 as 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Break pointer needs to be adjusted to free all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contiguous (from top) unused VM pages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BCA73-DAFB-475D-8551-77021B1F9952}"/>
              </a:ext>
            </a:extLst>
          </p:cNvPr>
          <p:cNvSpPr txBox="1"/>
          <p:nvPr/>
        </p:nvSpPr>
        <p:spPr>
          <a:xfrm>
            <a:off x="4379566" y="5487158"/>
            <a:ext cx="7619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brk</a:t>
            </a:r>
            <a:r>
              <a:rPr lang="en-US" dirty="0">
                <a:latin typeface="Baskerville Old Face" panose="02020602080505020303" pitchFamily="18" charset="0"/>
              </a:rPr>
              <a:t> are used by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functions (</a:t>
            </a:r>
            <a:r>
              <a:rPr lang="en-US" dirty="0" err="1">
                <a:latin typeface="Baskerville Old Face" panose="02020602080505020303" pitchFamily="18" charset="0"/>
              </a:rPr>
              <a:t>malloc,calloc</a:t>
            </a:r>
            <a:r>
              <a:rPr lang="en-US" dirty="0">
                <a:latin typeface="Baskerville Old Face" panose="02020602080505020303" pitchFamily="18" charset="0"/>
              </a:rPr>
              <a:t>, free </a:t>
            </a:r>
            <a:r>
              <a:rPr lang="en-US" dirty="0" err="1">
                <a:latin typeface="Baskerville Old Face" panose="02020602080505020303" pitchFamily="18" charset="0"/>
              </a:rPr>
              <a:t>etc</a:t>
            </a:r>
            <a:r>
              <a:rPr lang="en-US" dirty="0">
                <a:latin typeface="Baskerville Old Face" panose="02020602080505020303" pitchFamily="18" charset="0"/>
              </a:rPr>
              <a:t>) only for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smaller memory allocations, for bigger memory allocations,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function invokes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mmap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munmap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4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-1.85185E-6 L -0.00079 0.1169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33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4.44444E-6 L -0.00299 0.11944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 animBg="1"/>
      <p:bldP spid="5" grpId="0"/>
      <p:bldP spid="56" grpId="0" animBg="1"/>
      <p:bldP spid="57" grpId="0" animBg="1"/>
      <p:bldP spid="57" grpId="1" animBg="1"/>
      <p:bldP spid="58" grpId="0" animBg="1"/>
      <p:bldP spid="58" grpId="1" animBg="1"/>
      <p:bldP spid="12" grpId="0"/>
      <p:bldP spid="12" grpId="1"/>
      <p:bldP spid="13" grpId="0" animBg="1"/>
      <p:bldP spid="13" grpId="1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09A27F7-3E81-4242-8046-2FDD7AFDCBFE}"/>
              </a:ext>
            </a:extLst>
          </p:cNvPr>
          <p:cNvSpPr txBox="1"/>
          <p:nvPr/>
        </p:nvSpPr>
        <p:spPr>
          <a:xfrm>
            <a:off x="0" y="0"/>
            <a:ext cx="5221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mmap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/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munmap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A660F-13D1-4A93-A1C1-1B641F57FF9B}"/>
              </a:ext>
            </a:extLst>
          </p:cNvPr>
          <p:cNvSpPr txBox="1"/>
          <p:nvPr/>
        </p:nvSpPr>
        <p:spPr>
          <a:xfrm>
            <a:off x="199042" y="553720"/>
            <a:ext cx="11553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Using </a:t>
            </a:r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/</a:t>
            </a:r>
            <a:r>
              <a:rPr lang="en-US" sz="2000" dirty="0" err="1">
                <a:latin typeface="Baskerville Old Face" panose="02020602080505020303" pitchFamily="18" charset="0"/>
              </a:rPr>
              <a:t>munmap</a:t>
            </a:r>
            <a:r>
              <a:rPr lang="en-US" sz="2000" dirty="0">
                <a:latin typeface="Baskerville Old Face" panose="02020602080505020303" pitchFamily="18" charset="0"/>
              </a:rPr>
              <a:t> can also be used to allocate Virtual Memory pages from Heap segment of 	the process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Pages allocated and deallocated need not be contiguous in heap segment</a:t>
            </a:r>
          </a:p>
        </p:txBody>
      </p:sp>
      <p:sp>
        <p:nvSpPr>
          <p:cNvPr id="52" name="Rounded Rectangle 30">
            <a:extLst>
              <a:ext uri="{FF2B5EF4-FFF2-40B4-BE49-F238E27FC236}">
                <a16:creationId xmlns:a16="http://schemas.microsoft.com/office/drawing/2014/main" id="{DAF337BD-DB0D-49DD-B9FD-813BE72E6792}"/>
              </a:ext>
            </a:extLst>
          </p:cNvPr>
          <p:cNvSpPr/>
          <p:nvPr/>
        </p:nvSpPr>
        <p:spPr>
          <a:xfrm>
            <a:off x="712680" y="1911680"/>
            <a:ext cx="2213361" cy="4696938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9B4F70B3-00E4-4CE5-A147-E670915A3875}"/>
              </a:ext>
            </a:extLst>
          </p:cNvPr>
          <p:cNvSpPr/>
          <p:nvPr/>
        </p:nvSpPr>
        <p:spPr>
          <a:xfrm>
            <a:off x="712680" y="5895719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753F-857C-49E0-96CD-11826BEDBE4C}"/>
              </a:ext>
            </a:extLst>
          </p:cNvPr>
          <p:cNvSpPr txBox="1"/>
          <p:nvPr/>
        </p:nvSpPr>
        <p:spPr>
          <a:xfrm>
            <a:off x="5559136" y="2057400"/>
            <a:ext cx="138050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(1)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(2)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(3)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latin typeface="Baskerville Old Face" panose="02020602080505020303" pitchFamily="18" charset="0"/>
              </a:rPr>
              <a:t>(4)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munmap</a:t>
            </a:r>
            <a:r>
              <a:rPr lang="en-US" sz="2000" dirty="0">
                <a:latin typeface="Baskerville Old Face" panose="02020602080505020303" pitchFamily="18" charset="0"/>
              </a:rPr>
              <a:t>(3)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56" name="Rounded Rectangle 7">
            <a:extLst>
              <a:ext uri="{FF2B5EF4-FFF2-40B4-BE49-F238E27FC236}">
                <a16:creationId xmlns:a16="http://schemas.microsoft.com/office/drawing/2014/main" id="{6325DEB6-A1DE-4948-8A46-28D7DF90ACD0}"/>
              </a:ext>
            </a:extLst>
          </p:cNvPr>
          <p:cNvSpPr/>
          <p:nvPr/>
        </p:nvSpPr>
        <p:spPr>
          <a:xfrm>
            <a:off x="712680" y="5098336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3FE568E4-677E-4A97-B503-586A5A87044A}"/>
              </a:ext>
            </a:extLst>
          </p:cNvPr>
          <p:cNvSpPr/>
          <p:nvPr/>
        </p:nvSpPr>
        <p:spPr>
          <a:xfrm>
            <a:off x="712680" y="3429000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8" name="Rounded Rectangle 7">
            <a:extLst>
              <a:ext uri="{FF2B5EF4-FFF2-40B4-BE49-F238E27FC236}">
                <a16:creationId xmlns:a16="http://schemas.microsoft.com/office/drawing/2014/main" id="{EB4DC0D5-C901-4605-A3F3-77C8B4E6DF46}"/>
              </a:ext>
            </a:extLst>
          </p:cNvPr>
          <p:cNvSpPr/>
          <p:nvPr/>
        </p:nvSpPr>
        <p:spPr>
          <a:xfrm>
            <a:off x="712680" y="4672152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396AE-3960-4210-9AB3-79406269DFB8}"/>
              </a:ext>
            </a:extLst>
          </p:cNvPr>
          <p:cNvSpPr txBox="1"/>
          <p:nvPr/>
        </p:nvSpPr>
        <p:spPr>
          <a:xfrm>
            <a:off x="3870960" y="5415280"/>
            <a:ext cx="69830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can’t assume that VM pages are contiguous in heap segment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(Therefore do not attempt to treat them as an array)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Same goes if we use </a:t>
            </a:r>
            <a:r>
              <a:rPr lang="en-US" sz="2000" dirty="0" err="1">
                <a:latin typeface="Baskerville Old Face" panose="02020602080505020303" pitchFamily="18" charset="0"/>
              </a:rPr>
              <a:t>calloc</a:t>
            </a:r>
            <a:r>
              <a:rPr lang="en-US" sz="2000" dirty="0">
                <a:latin typeface="Baskerville Old Face" panose="02020602080505020303" pitchFamily="18" charset="0"/>
              </a:rPr>
              <a:t>/free to allocate-deallocate VM pages</a:t>
            </a:r>
          </a:p>
        </p:txBody>
      </p:sp>
      <p:sp>
        <p:nvSpPr>
          <p:cNvPr id="59" name="Thought Bubble: Cloud 58">
            <a:extLst>
              <a:ext uri="{FF2B5EF4-FFF2-40B4-BE49-F238E27FC236}">
                <a16:creationId xmlns:a16="http://schemas.microsoft.com/office/drawing/2014/main" id="{9B9E59AB-3A89-4A74-B0D1-27E4D35F6E0B}"/>
              </a:ext>
            </a:extLst>
          </p:cNvPr>
          <p:cNvSpPr/>
          <p:nvPr/>
        </p:nvSpPr>
        <p:spPr>
          <a:xfrm rot="400952">
            <a:off x="8006080" y="1960880"/>
            <a:ext cx="3942080" cy="249936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mmap</a:t>
            </a:r>
            <a:r>
              <a:rPr lang="en-US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() do lot more than this, but it is outside the scope of this course !</a:t>
            </a:r>
          </a:p>
        </p:txBody>
      </p:sp>
    </p:spTree>
    <p:extLst>
      <p:ext uri="{BB962C8B-B14F-4D97-AF65-F5344CB8AC3E}">
        <p14:creationId xmlns:p14="http://schemas.microsoft.com/office/powerpoint/2010/main" val="187818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8" grpId="1" animBg="1"/>
      <p:bldP spid="7" grpId="0"/>
      <p:bldP spid="5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0"/>
            <a:ext cx="615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Block Allocation Methods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045D-A575-4D33-9944-403A80B3E160}"/>
              </a:ext>
            </a:extLst>
          </p:cNvPr>
          <p:cNvSpPr/>
          <p:nvPr/>
        </p:nvSpPr>
        <p:spPr>
          <a:xfrm>
            <a:off x="428233" y="502888"/>
            <a:ext cx="2580640" cy="5833754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2BCC7085-A434-43EB-832E-D3708CF1CB01}"/>
              </a:ext>
            </a:extLst>
          </p:cNvPr>
          <p:cNvSpPr/>
          <p:nvPr/>
        </p:nvSpPr>
        <p:spPr>
          <a:xfrm>
            <a:off x="617004" y="3307404"/>
            <a:ext cx="2213361" cy="827326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DED706-EBCB-4BCB-8448-AA847CA221D1}"/>
              </a:ext>
            </a:extLst>
          </p:cNvPr>
          <p:cNvSpPr txBox="1"/>
          <p:nvPr/>
        </p:nvSpPr>
        <p:spPr>
          <a:xfrm>
            <a:off x="239589" y="633664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 VP used for block allocation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5B61185B-F0B5-4647-935D-5651AF44DD57}"/>
              </a:ext>
            </a:extLst>
          </p:cNvPr>
          <p:cNvSpPr/>
          <p:nvPr/>
        </p:nvSpPr>
        <p:spPr>
          <a:xfrm>
            <a:off x="611872" y="2898842"/>
            <a:ext cx="2213361" cy="408561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26E5133A-0A31-4BD4-9031-B53A69A71D3F}"/>
              </a:ext>
            </a:extLst>
          </p:cNvPr>
          <p:cNvSpPr/>
          <p:nvPr/>
        </p:nvSpPr>
        <p:spPr>
          <a:xfrm>
            <a:off x="616468" y="2463728"/>
            <a:ext cx="2213361" cy="40856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53C2DB20-1374-4496-B900-C2427184695F}"/>
              </a:ext>
            </a:extLst>
          </p:cNvPr>
          <p:cNvSpPr/>
          <p:nvPr/>
        </p:nvSpPr>
        <p:spPr>
          <a:xfrm>
            <a:off x="622951" y="4136620"/>
            <a:ext cx="2213361" cy="408561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6F42B0C9-7240-49D9-8E5D-D9D9CED5EF40}"/>
              </a:ext>
            </a:extLst>
          </p:cNvPr>
          <p:cNvSpPr/>
          <p:nvPr/>
        </p:nvSpPr>
        <p:spPr>
          <a:xfrm>
            <a:off x="586472" y="1314011"/>
            <a:ext cx="2259568" cy="112316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38539EEF-440B-4BA5-BD2B-A676E50B3A72}"/>
              </a:ext>
            </a:extLst>
          </p:cNvPr>
          <p:cNvSpPr/>
          <p:nvPr/>
        </p:nvSpPr>
        <p:spPr>
          <a:xfrm>
            <a:off x="626195" y="4564637"/>
            <a:ext cx="2213361" cy="827326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7C4B0454-9D6D-47F3-9589-DE49A11A700B}"/>
              </a:ext>
            </a:extLst>
          </p:cNvPr>
          <p:cNvSpPr/>
          <p:nvPr/>
        </p:nvSpPr>
        <p:spPr>
          <a:xfrm>
            <a:off x="632679" y="5388752"/>
            <a:ext cx="2213361" cy="574303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71E723-A42B-4774-878C-C8FD87871B08}"/>
              </a:ext>
            </a:extLst>
          </p:cNvPr>
          <p:cNvSpPr txBox="1"/>
          <p:nvPr/>
        </p:nvSpPr>
        <p:spPr>
          <a:xfrm>
            <a:off x="3008873" y="6059643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Lower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5F68FB-7E67-4830-AA42-29F3A4DFA788}"/>
              </a:ext>
            </a:extLst>
          </p:cNvPr>
          <p:cNvSpPr txBox="1"/>
          <p:nvPr/>
        </p:nvSpPr>
        <p:spPr>
          <a:xfrm>
            <a:off x="3008873" y="336692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skerville Old Face" panose="02020602080505020303" pitchFamily="18" charset="0"/>
              </a:rPr>
              <a:t>Higher</a:t>
            </a:r>
          </a:p>
          <a:p>
            <a:r>
              <a:rPr lang="en-US" sz="1200" dirty="0">
                <a:latin typeface="Baskerville Old Face" panose="02020602080505020303" pitchFamily="18" charset="0"/>
              </a:rPr>
              <a:t>Address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4F7EB-F4BD-4E04-9558-F3AF22021760}"/>
              </a:ext>
            </a:extLst>
          </p:cNvPr>
          <p:cNvSpPr txBox="1"/>
          <p:nvPr/>
        </p:nvSpPr>
        <p:spPr>
          <a:xfrm>
            <a:off x="3981421" y="532760"/>
            <a:ext cx="7775427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If Process issues a new malloc request, </a:t>
            </a:r>
            <a:r>
              <a:rPr lang="en-US" sz="14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malloc(n)</a:t>
            </a:r>
            <a:r>
              <a:rPr lang="en-US" sz="1400" dirty="0">
                <a:latin typeface="Baskerville Old Face" panose="02020602080505020303" pitchFamily="18" charset="0"/>
              </a:rPr>
              <a:t> – which free block from a given VP shall be used for memory allocation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There are </a:t>
            </a:r>
            <a:r>
              <a:rPr lang="en-US" sz="1400" dirty="0">
                <a:latin typeface="Baskerville Old Face" panose="02020602080505020303" pitchFamily="18" charset="0"/>
                <a:hlinkClick r:id="rId3"/>
              </a:rPr>
              <a:t>three methods </a:t>
            </a:r>
            <a:r>
              <a:rPr lang="en-US" sz="1400" dirty="0">
                <a:latin typeface="Baskerville Old Face" panose="02020602080505020303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Best fit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Memory Block of minimal size which can satisfy request of (n + x)B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Require to scan all the blocks in the entire VP to find such a block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+  Least wastage of memory due to fragmentation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-   Costly to scan all the blocks of a VP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Best case = Average case = Worst case =  (O( n ))</a:t>
            </a:r>
          </a:p>
          <a:p>
            <a:pPr lvl="2"/>
            <a:endParaRPr lang="en-US" sz="1400" dirty="0">
              <a:latin typeface="Baskerville Old Face" panose="02020602080505020303" pitchFamily="18" charset="0"/>
            </a:endParaRPr>
          </a:p>
          <a:p>
            <a:pPr lvl="2"/>
            <a:endParaRPr lang="en-US" sz="14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First fit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Scan all the blocks of a VP starting from first block, first block which can satisfy request of (n + x)B is used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- Memory wastage because of fragmentation can happen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+ Least cost operation to find a block of interest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Best Case = O(1), Average Case = O(n), Worst Case = O(n)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1400" dirty="0">
              <a:latin typeface="Baskerville Old Face" panose="02020602080505020303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14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Worst Fit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The biggest free block available in a VP &amp;&amp; which can satisfy request of (n + x)B is used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- Memory wastage because of fragmentation can happen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+ Highest probability that memory allocation would succeed in first inspection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Baskerville Old Face" panose="02020602080505020303" pitchFamily="18" charset="0"/>
              </a:rPr>
              <a:t>Best Case = (O(1)), Average Case = Worst Case = O(log (n) 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We will Implement this Technique in our course, Implementation of First Fit and Best Fit shall be left as an exercise to the students.</a:t>
            </a:r>
          </a:p>
        </p:txBody>
      </p:sp>
    </p:spTree>
    <p:extLst>
      <p:ext uri="{BB962C8B-B14F-4D97-AF65-F5344CB8AC3E}">
        <p14:creationId xmlns:p14="http://schemas.microsoft.com/office/powerpoint/2010/main" val="20492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2E4E4-B2E4-4758-B7A0-5BC0A23E8CF5}"/>
              </a:ext>
            </a:extLst>
          </p:cNvPr>
          <p:cNvSpPr txBox="1"/>
          <p:nvPr/>
        </p:nvSpPr>
        <p:spPr>
          <a:xfrm>
            <a:off x="216024" y="632298"/>
            <a:ext cx="11953913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Remember, the Heap Memory allocation and Deallocation suffers from the problem of fragmentation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Go back and Revise Internal And External Fragmentation,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In this Course, We shall develop enhanced LMM which avoids memory wastage through External and Internal Fragmentation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Problems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Not only that, our LMM can catch Memory Leaks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Our LMM can show memory usage and statistics per structure, hope you have checked the Demo lecture already 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Talk to your prof, and propose this course topic as an Operating System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Almost all Companies working in System Programming Domain in C, implement their own LMM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55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BF22BF3-2BDA-42E9-BE8F-F45013D1006C}"/>
              </a:ext>
            </a:extLst>
          </p:cNvPr>
          <p:cNvSpPr txBox="1"/>
          <p:nvPr/>
        </p:nvSpPr>
        <p:spPr>
          <a:xfrm>
            <a:off x="0" y="0"/>
            <a:ext cx="589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Component Interaction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6AA06D-F1D0-4633-81BF-B718E5F5E877}"/>
              </a:ext>
            </a:extLst>
          </p:cNvPr>
          <p:cNvSpPr/>
          <p:nvPr/>
        </p:nvSpPr>
        <p:spPr>
          <a:xfrm>
            <a:off x="6096000" y="4873556"/>
            <a:ext cx="1483543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MMU</a:t>
            </a:r>
          </a:p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(Virtual Address Space of a User space Process)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F6DF-AA7A-4EE3-8287-1829A2CDF04A}"/>
              </a:ext>
            </a:extLst>
          </p:cNvPr>
          <p:cNvSpPr/>
          <p:nvPr/>
        </p:nvSpPr>
        <p:spPr>
          <a:xfrm>
            <a:off x="6096000" y="604159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glibC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malloc/free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47549-4FE5-4923-9FE9-DCDD725E5A83}"/>
              </a:ext>
            </a:extLst>
          </p:cNvPr>
          <p:cNvSpPr/>
          <p:nvPr/>
        </p:nvSpPr>
        <p:spPr>
          <a:xfrm>
            <a:off x="10450749" y="604159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4EC341D-23BF-4A7E-B1F0-60F5B745D8FC}"/>
              </a:ext>
            </a:extLst>
          </p:cNvPr>
          <p:cNvSpPr/>
          <p:nvPr/>
        </p:nvSpPr>
        <p:spPr>
          <a:xfrm rot="10800000">
            <a:off x="7800037" y="98249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E59D7-89D0-4ACF-BE6D-DE98FC2D6E08}"/>
              </a:ext>
            </a:extLst>
          </p:cNvPr>
          <p:cNvSpPr txBox="1"/>
          <p:nvPr/>
        </p:nvSpPr>
        <p:spPr>
          <a:xfrm>
            <a:off x="8189439" y="72989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malloc(X Bytes)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3DE99C-E254-4817-BD49-254E362C581C}"/>
              </a:ext>
            </a:extLst>
          </p:cNvPr>
          <p:cNvSpPr/>
          <p:nvPr/>
        </p:nvSpPr>
        <p:spPr>
          <a:xfrm>
            <a:off x="8566826" y="1503445"/>
            <a:ext cx="1483543" cy="330741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000000000000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0C7BBC-943A-434D-B21B-4A4FBFD0634F}"/>
              </a:ext>
            </a:extLst>
          </p:cNvPr>
          <p:cNvSpPr/>
          <p:nvPr/>
        </p:nvSpPr>
        <p:spPr>
          <a:xfrm>
            <a:off x="7819493" y="1536645"/>
            <a:ext cx="616085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6D1529-A223-49DE-82E0-579CB940DC52}"/>
              </a:ext>
            </a:extLst>
          </p:cNvPr>
          <p:cNvSpPr/>
          <p:nvPr/>
        </p:nvSpPr>
        <p:spPr>
          <a:xfrm rot="5400000">
            <a:off x="5304044" y="347277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3E13-2D2C-4389-8910-EE3DDDB5B72F}"/>
              </a:ext>
            </a:extLst>
          </p:cNvPr>
          <p:cNvSpPr txBox="1"/>
          <p:nvPr/>
        </p:nvSpPr>
        <p:spPr>
          <a:xfrm>
            <a:off x="5585373" y="292802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</a:p>
          <a:p>
            <a:pPr algn="r"/>
            <a:r>
              <a:rPr lang="en-US" dirty="0" err="1">
                <a:latin typeface="Baskerville Old Face" panose="02020602080505020303" pitchFamily="18" charset="0"/>
              </a:rPr>
              <a:t>mmap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104A44-1450-4D2E-87EA-0CC4A85FE2A3}"/>
              </a:ext>
            </a:extLst>
          </p:cNvPr>
          <p:cNvSpPr/>
          <p:nvPr/>
        </p:nvSpPr>
        <p:spPr>
          <a:xfrm>
            <a:off x="6614037" y="2921746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F285031-E097-4EDA-9942-DFB3E4E1B057}"/>
              </a:ext>
            </a:extLst>
          </p:cNvPr>
          <p:cNvSpPr/>
          <p:nvPr/>
        </p:nvSpPr>
        <p:spPr>
          <a:xfrm rot="16200000">
            <a:off x="6431570" y="3859448"/>
            <a:ext cx="1308370" cy="33074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42BE8-A4B5-4AEF-B390-5ED885E36F4F}"/>
              </a:ext>
            </a:extLst>
          </p:cNvPr>
          <p:cNvSpPr txBox="1"/>
          <p:nvPr/>
        </p:nvSpPr>
        <p:spPr>
          <a:xfrm>
            <a:off x="252919" y="729896"/>
            <a:ext cx="56332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Memory allocation/Deallocation between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Process and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can happen of any size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Memory allocation and deallocation between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and Kernel MMU happens only in units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of Page Sizes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System Calls (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mmap</a:t>
            </a:r>
            <a:r>
              <a:rPr lang="en-US" dirty="0">
                <a:latin typeface="Baskerville Old Face" panose="02020602080505020303" pitchFamily="18" charset="0"/>
              </a:rPr>
              <a:t>) are expensive calls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caches the VM page allocated by kernel MMU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and allocates small chunks from it to a process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When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detects that process has freed all memory in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a given VM page,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return the page to the kernel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MMU (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munmap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9C504-54B6-4A6A-AD50-4DF2D853D065}"/>
              </a:ext>
            </a:extLst>
          </p:cNvPr>
          <p:cNvSpPr txBox="1"/>
          <p:nvPr/>
        </p:nvSpPr>
        <p:spPr>
          <a:xfrm>
            <a:off x="8874022" y="183418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X bytes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1F153D-69BA-476C-8591-64A88F9EAD9C}"/>
              </a:ext>
            </a:extLst>
          </p:cNvPr>
          <p:cNvSpPr/>
          <p:nvPr/>
        </p:nvSpPr>
        <p:spPr>
          <a:xfrm>
            <a:off x="6356738" y="1882499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</p:spTree>
    <p:extLst>
      <p:ext uri="{BB962C8B-B14F-4D97-AF65-F5344CB8AC3E}">
        <p14:creationId xmlns:p14="http://schemas.microsoft.com/office/powerpoint/2010/main" val="61258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3" grpId="0" animBg="1"/>
      <p:bldP spid="4" grpId="0"/>
      <p:bldP spid="22" grpId="0" animBg="1"/>
      <p:bldP spid="26" grpId="0" animBg="1"/>
      <p:bldP spid="28" grpId="0" animBg="1"/>
      <p:bldP spid="6" grpId="0"/>
      <p:bldP spid="32" grpId="0" animBg="1"/>
      <p:bldP spid="33" grpId="0" animBg="1"/>
      <p:bldP spid="11" grpId="0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6AA06D-F1D0-4633-81BF-B718E5F5E877}"/>
              </a:ext>
            </a:extLst>
          </p:cNvPr>
          <p:cNvSpPr/>
          <p:nvPr/>
        </p:nvSpPr>
        <p:spPr>
          <a:xfrm>
            <a:off x="6096000" y="4873556"/>
            <a:ext cx="1483543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MMU</a:t>
            </a:r>
          </a:p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(Virtual Address Space of a User space Process)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F6DF-AA7A-4EE3-8287-1829A2CDF04A}"/>
              </a:ext>
            </a:extLst>
          </p:cNvPr>
          <p:cNvSpPr/>
          <p:nvPr/>
        </p:nvSpPr>
        <p:spPr>
          <a:xfrm>
            <a:off x="6096000" y="604159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glibC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malloc/free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47549-4FE5-4923-9FE9-DCDD725E5A83}"/>
              </a:ext>
            </a:extLst>
          </p:cNvPr>
          <p:cNvSpPr/>
          <p:nvPr/>
        </p:nvSpPr>
        <p:spPr>
          <a:xfrm>
            <a:off x="10450749" y="604159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4EC341D-23BF-4A7E-B1F0-60F5B745D8FC}"/>
              </a:ext>
            </a:extLst>
          </p:cNvPr>
          <p:cNvSpPr/>
          <p:nvPr/>
        </p:nvSpPr>
        <p:spPr>
          <a:xfrm rot="10800000">
            <a:off x="7800037" y="98249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E59D7-89D0-4ACF-BE6D-DE98FC2D6E08}"/>
              </a:ext>
            </a:extLst>
          </p:cNvPr>
          <p:cNvSpPr txBox="1"/>
          <p:nvPr/>
        </p:nvSpPr>
        <p:spPr>
          <a:xfrm>
            <a:off x="8189439" y="72989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malloc(X Bytes)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3DE99C-E254-4817-BD49-254E362C581C}"/>
              </a:ext>
            </a:extLst>
          </p:cNvPr>
          <p:cNvSpPr/>
          <p:nvPr/>
        </p:nvSpPr>
        <p:spPr>
          <a:xfrm>
            <a:off x="8566826" y="1503445"/>
            <a:ext cx="1483543" cy="330741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000000000000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0C7BBC-943A-434D-B21B-4A4FBFD0634F}"/>
              </a:ext>
            </a:extLst>
          </p:cNvPr>
          <p:cNvSpPr/>
          <p:nvPr/>
        </p:nvSpPr>
        <p:spPr>
          <a:xfrm>
            <a:off x="7819493" y="1536645"/>
            <a:ext cx="616085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6D1529-A223-49DE-82E0-579CB940DC52}"/>
              </a:ext>
            </a:extLst>
          </p:cNvPr>
          <p:cNvSpPr/>
          <p:nvPr/>
        </p:nvSpPr>
        <p:spPr>
          <a:xfrm rot="5400000">
            <a:off x="5304044" y="347277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3E13-2D2C-4389-8910-EE3DDDB5B72F}"/>
              </a:ext>
            </a:extLst>
          </p:cNvPr>
          <p:cNvSpPr txBox="1"/>
          <p:nvPr/>
        </p:nvSpPr>
        <p:spPr>
          <a:xfrm>
            <a:off x="5585373" y="292802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</a:p>
          <a:p>
            <a:pPr algn="r"/>
            <a:r>
              <a:rPr lang="en-US" dirty="0" err="1">
                <a:latin typeface="Baskerville Old Face" panose="02020602080505020303" pitchFamily="18" charset="0"/>
              </a:rPr>
              <a:t>mmap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104A44-1450-4D2E-87EA-0CC4A85FE2A3}"/>
              </a:ext>
            </a:extLst>
          </p:cNvPr>
          <p:cNvSpPr/>
          <p:nvPr/>
        </p:nvSpPr>
        <p:spPr>
          <a:xfrm>
            <a:off x="6614037" y="2921746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F285031-E097-4EDA-9942-DFB3E4E1B057}"/>
              </a:ext>
            </a:extLst>
          </p:cNvPr>
          <p:cNvSpPr/>
          <p:nvPr/>
        </p:nvSpPr>
        <p:spPr>
          <a:xfrm rot="16200000">
            <a:off x="6431570" y="3859448"/>
            <a:ext cx="1308370" cy="33074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42BE8-A4B5-4AEF-B390-5ED885E36F4F}"/>
              </a:ext>
            </a:extLst>
          </p:cNvPr>
          <p:cNvSpPr txBox="1"/>
          <p:nvPr/>
        </p:nvSpPr>
        <p:spPr>
          <a:xfrm>
            <a:off x="252919" y="729896"/>
            <a:ext cx="563327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Memory allocation/Deallocation between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Process and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can happen of any size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Memory allocation and deallocation between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and Kernel MMU happens only in units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of Page Sizes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System Calls (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mmap</a:t>
            </a:r>
            <a:r>
              <a:rPr lang="en-US" dirty="0">
                <a:latin typeface="Baskerville Old Face" panose="02020602080505020303" pitchFamily="18" charset="0"/>
              </a:rPr>
              <a:t>) are expensive calls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caches the VM page allocated by kernel MMU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and allocates small chunks from it to a process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When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detects that process has freed all memory in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a given VM page,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return the page to the kernel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MMU (</a:t>
            </a:r>
            <a:r>
              <a:rPr lang="en-US" dirty="0" err="1">
                <a:latin typeface="Baskerville Old Face" panose="02020602080505020303" pitchFamily="18" charset="0"/>
              </a:rPr>
              <a:t>sbrk</a:t>
            </a:r>
            <a:r>
              <a:rPr lang="en-US" dirty="0">
                <a:latin typeface="Baskerville Old Face" panose="02020602080505020303" pitchFamily="18" charset="0"/>
              </a:rPr>
              <a:t>/</a:t>
            </a:r>
            <a:r>
              <a:rPr lang="en-US" dirty="0" err="1">
                <a:latin typeface="Baskerville Old Face" panose="02020602080505020303" pitchFamily="18" charset="0"/>
              </a:rPr>
              <a:t>munmap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In this Course, We shall replace </a:t>
            </a:r>
            <a:r>
              <a:rPr lang="en-US" dirty="0" err="1">
                <a:latin typeface="Baskerville Old Face" panose="02020602080505020303" pitchFamily="18" charset="0"/>
              </a:rPr>
              <a:t>glibC</a:t>
            </a:r>
            <a:r>
              <a:rPr lang="en-US" dirty="0">
                <a:latin typeface="Baskerville Old Face" panose="02020602080505020303" pitchFamily="18" charset="0"/>
              </a:rPr>
              <a:t> MMU with our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own Linux Memory Manager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6D8297-8024-45E2-BFDF-775FD3066CA2}"/>
              </a:ext>
            </a:extLst>
          </p:cNvPr>
          <p:cNvSpPr/>
          <p:nvPr/>
        </p:nvSpPr>
        <p:spPr>
          <a:xfrm>
            <a:off x="6086007" y="617652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4E4C50-27AB-4CEC-8B67-323ABBDB6E7C}"/>
              </a:ext>
            </a:extLst>
          </p:cNvPr>
          <p:cNvSpPr txBox="1"/>
          <p:nvPr/>
        </p:nvSpPr>
        <p:spPr>
          <a:xfrm>
            <a:off x="8096840" y="731906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(X Bytes)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4CAFA-76C9-44D2-862E-E1FB8E14A3D7}"/>
              </a:ext>
            </a:extLst>
          </p:cNvPr>
          <p:cNvSpPr txBox="1"/>
          <p:nvPr/>
        </p:nvSpPr>
        <p:spPr>
          <a:xfrm>
            <a:off x="8874022" y="183418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X bytes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7AD04-B875-48B8-A9C2-26F5957CEF37}"/>
              </a:ext>
            </a:extLst>
          </p:cNvPr>
          <p:cNvSpPr txBox="1"/>
          <p:nvPr/>
        </p:nvSpPr>
        <p:spPr>
          <a:xfrm>
            <a:off x="0" y="0"/>
            <a:ext cx="589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Component Interaction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B8D4BB-20D3-4B74-874A-D9C20A018EC2}"/>
              </a:ext>
            </a:extLst>
          </p:cNvPr>
          <p:cNvSpPr/>
          <p:nvPr/>
        </p:nvSpPr>
        <p:spPr>
          <a:xfrm>
            <a:off x="6356738" y="1933299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</p:spTree>
    <p:extLst>
      <p:ext uri="{BB962C8B-B14F-4D97-AF65-F5344CB8AC3E}">
        <p14:creationId xmlns:p14="http://schemas.microsoft.com/office/powerpoint/2010/main" val="188245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  <p:bldP spid="19" grpId="0" animBg="1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Solution to Fragmentation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1B78A-A138-4A8A-92E9-6864F512E9CB}"/>
              </a:ext>
            </a:extLst>
          </p:cNvPr>
          <p:cNvSpPr txBox="1"/>
          <p:nvPr/>
        </p:nvSpPr>
        <p:spPr>
          <a:xfrm>
            <a:off x="223031" y="557144"/>
            <a:ext cx="1174593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Problem of External &amp; Internal Fragmentation arises by virtual of allocation and deallocations of memory chunks of variable sizes and in random order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It should be Application’s fundamental right to ask memory of any size and </a:t>
            </a:r>
            <a:r>
              <a:rPr lang="en-US" dirty="0" err="1">
                <a:latin typeface="Baskerville Old Face" panose="02020602080505020303" pitchFamily="18" charset="0"/>
              </a:rPr>
              <a:t>alloc</a:t>
            </a:r>
            <a:r>
              <a:rPr lang="en-US" dirty="0">
                <a:latin typeface="Baskerville Old Face" panose="02020602080505020303" pitchFamily="18" charset="0"/>
              </a:rPr>
              <a:t>-and-free it in any order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Our new LMM must prevent any kind of fragmentation while not restricting the </a:t>
            </a:r>
            <a:r>
              <a:rPr lang="en-US" dirty="0" err="1">
                <a:latin typeface="Baskerville Old Face" panose="02020602080505020303" pitchFamily="18" charset="0"/>
              </a:rPr>
              <a:t>appln</a:t>
            </a:r>
            <a:r>
              <a:rPr lang="en-US" dirty="0">
                <a:latin typeface="Baskerville Old Face" panose="02020602080505020303" pitchFamily="18" charset="0"/>
              </a:rPr>
              <a:t> from </a:t>
            </a:r>
            <a:r>
              <a:rPr lang="en-US" dirty="0" err="1">
                <a:latin typeface="Baskerville Old Face" panose="02020602080505020303" pitchFamily="18" charset="0"/>
              </a:rPr>
              <a:t>alloc-dealloc</a:t>
            </a:r>
            <a:r>
              <a:rPr lang="en-US" dirty="0">
                <a:latin typeface="Baskerville Old Face" panose="02020602080505020303" pitchFamily="18" charset="0"/>
              </a:rPr>
              <a:t> the memory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Baskerville Old Face" panose="02020602080505020303" pitchFamily="18" charset="0"/>
              </a:rPr>
              <a:t>Soln</a:t>
            </a:r>
            <a:r>
              <a:rPr lang="en-US" dirty="0">
                <a:latin typeface="Baskerville Old Face" panose="02020602080505020303" pitchFamily="18" charset="0"/>
              </a:rPr>
              <a:t> 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Group VM pages into Groups – G1 , G2 , G3 </a:t>
            </a:r>
            <a:r>
              <a:rPr lang="en-US" sz="1600" dirty="0" err="1">
                <a:latin typeface="Baskerville Old Face" panose="02020602080505020303" pitchFamily="18" charset="0"/>
              </a:rPr>
              <a:t>etc</a:t>
            </a:r>
            <a:r>
              <a:rPr lang="en-US" sz="1600" dirty="0">
                <a:latin typeface="Baskerville Old Face" panose="02020602080505020303" pitchFamily="18" charset="0"/>
              </a:rPr>
              <a:t> …. 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Baskerville Old Face" panose="02020602080505020303" pitchFamily="18" charset="0"/>
              </a:rPr>
              <a:t>Alloc-Dealloc</a:t>
            </a:r>
            <a:r>
              <a:rPr lang="en-US" sz="1600" dirty="0">
                <a:latin typeface="Baskerville Old Face" panose="02020602080505020303" pitchFamily="18" charset="0"/>
              </a:rPr>
              <a:t> memory for structure type S1 from G1 VM pages only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Baskerville Old Face" panose="02020602080505020303" pitchFamily="18" charset="0"/>
              </a:rPr>
              <a:t>Alloc-Dealloc</a:t>
            </a:r>
            <a:r>
              <a:rPr lang="en-US" sz="1600" dirty="0">
                <a:latin typeface="Baskerville Old Face" panose="02020602080505020303" pitchFamily="18" charset="0"/>
              </a:rPr>
              <a:t> memory for structure type S2 from G2 VM pages only . . 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There shall be no Fragmentation whatsoever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Extra Pages can be added dynamically to Group G, and can be removed from G if not</a:t>
            </a:r>
          </a:p>
          <a:p>
            <a:pPr lvl="1"/>
            <a:r>
              <a:rPr lang="en-US" sz="1600" dirty="0">
                <a:latin typeface="Baskerville Old Face" panose="02020602080505020303" pitchFamily="18" charset="0"/>
              </a:rPr>
              <a:t>	 used</a:t>
            </a:r>
          </a:p>
          <a:p>
            <a:pPr lvl="1"/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Technically , G’s are called </a:t>
            </a:r>
            <a:r>
              <a:rPr lang="en-US" sz="16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Page Family </a:t>
            </a:r>
            <a:r>
              <a:rPr lang="en-US" sz="1600" dirty="0">
                <a:latin typeface="Baskerville Old Face" panose="02020602080505020303" pitchFamily="18" charset="0"/>
              </a:rPr>
              <a:t>– A group of VM pages used to </a:t>
            </a:r>
            <a:r>
              <a:rPr lang="en-US" sz="1600" dirty="0" err="1">
                <a:latin typeface="Baskerville Old Face" panose="02020602080505020303" pitchFamily="18" charset="0"/>
              </a:rPr>
              <a:t>alloc-dealloc</a:t>
            </a:r>
            <a:endParaRPr lang="en-US" sz="1600" dirty="0">
              <a:latin typeface="Baskerville Old Face" panose="02020602080505020303" pitchFamily="18" charset="0"/>
            </a:endParaRPr>
          </a:p>
          <a:p>
            <a:pPr lvl="1"/>
            <a:r>
              <a:rPr lang="en-US" sz="1600" dirty="0">
                <a:latin typeface="Baskerville Old Face" panose="02020602080505020303" pitchFamily="18" charset="0"/>
              </a:rPr>
              <a:t>	objects of a particular type only</a:t>
            </a:r>
          </a:p>
          <a:p>
            <a:pPr lvl="1"/>
            <a:endParaRPr lang="en-US" sz="16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The pink regions of memory allocated-deallocated on application’s request by LMM are called </a:t>
            </a:r>
            <a:r>
              <a:rPr lang="en-US" sz="16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Data Blocks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6DDB8-8892-4982-AD27-E8AB28CCBEF4}"/>
              </a:ext>
            </a:extLst>
          </p:cNvPr>
          <p:cNvSpPr/>
          <p:nvPr/>
        </p:nvSpPr>
        <p:spPr>
          <a:xfrm>
            <a:off x="9274060" y="2762833"/>
            <a:ext cx="2580640" cy="304915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D3CBF4A0-ED34-4618-B7F3-3A764135F5F2}"/>
              </a:ext>
            </a:extLst>
          </p:cNvPr>
          <p:cNvSpPr/>
          <p:nvPr/>
        </p:nvSpPr>
        <p:spPr>
          <a:xfrm>
            <a:off x="9274060" y="2781892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74C0A730-FD4C-4E79-9269-923F5981F0A5}"/>
              </a:ext>
            </a:extLst>
          </p:cNvPr>
          <p:cNvSpPr/>
          <p:nvPr/>
        </p:nvSpPr>
        <p:spPr>
          <a:xfrm>
            <a:off x="9274060" y="3179459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5BBE357D-C3E3-4DF0-94E2-1EF78239C3A7}"/>
              </a:ext>
            </a:extLst>
          </p:cNvPr>
          <p:cNvSpPr/>
          <p:nvPr/>
        </p:nvSpPr>
        <p:spPr>
          <a:xfrm>
            <a:off x="9274060" y="3939333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ECFEF089-507E-4D8B-9A31-B4F7C625AB76}"/>
              </a:ext>
            </a:extLst>
          </p:cNvPr>
          <p:cNvSpPr/>
          <p:nvPr/>
        </p:nvSpPr>
        <p:spPr>
          <a:xfrm>
            <a:off x="9274060" y="4314980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4C636-46EF-49B4-BA2A-22AF77E09CD7}"/>
              </a:ext>
            </a:extLst>
          </p:cNvPr>
          <p:cNvSpPr txBox="1"/>
          <p:nvPr/>
        </p:nvSpPr>
        <p:spPr>
          <a:xfrm>
            <a:off x="9769485" y="5818305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of G1 for S1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5E04C34A-3883-41B8-9E25-5140D85BC39F}"/>
              </a:ext>
            </a:extLst>
          </p:cNvPr>
          <p:cNvSpPr/>
          <p:nvPr/>
        </p:nvSpPr>
        <p:spPr>
          <a:xfrm>
            <a:off x="9274060" y="5057836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0A9EAB05-EF1D-40B1-B4B9-9F6ACDFD02CE}"/>
              </a:ext>
            </a:extLst>
          </p:cNvPr>
          <p:cNvSpPr/>
          <p:nvPr/>
        </p:nvSpPr>
        <p:spPr>
          <a:xfrm>
            <a:off x="9274060" y="5433483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4C81A429-4A62-43E4-9364-300AF43FAB87}"/>
              </a:ext>
            </a:extLst>
          </p:cNvPr>
          <p:cNvSpPr/>
          <p:nvPr/>
        </p:nvSpPr>
        <p:spPr>
          <a:xfrm>
            <a:off x="9274059" y="3577026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2E33FBD8-6BAC-4AC3-A356-46402A32B3DD}"/>
              </a:ext>
            </a:extLst>
          </p:cNvPr>
          <p:cNvSpPr/>
          <p:nvPr/>
        </p:nvSpPr>
        <p:spPr>
          <a:xfrm>
            <a:off x="9274059" y="4686408"/>
            <a:ext cx="2580640" cy="378507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highlight>
                <a:srgbClr val="FF99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4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3" grpId="0" animBg="1"/>
      <p:bldP spid="1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67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High Level Design of our LMM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194553" y="637085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High Level Design of LMM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0C4B1F-929F-479E-96C1-DC12B415C384}"/>
              </a:ext>
            </a:extLst>
          </p:cNvPr>
          <p:cNvSpPr/>
          <p:nvPr/>
        </p:nvSpPr>
        <p:spPr>
          <a:xfrm>
            <a:off x="1824874" y="3409544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15289-7D3B-444F-9FFB-73ECF553A2D1}"/>
              </a:ext>
            </a:extLst>
          </p:cNvPr>
          <p:cNvSpPr/>
          <p:nvPr/>
        </p:nvSpPr>
        <p:spPr>
          <a:xfrm>
            <a:off x="1797399" y="1585606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1E8BD-841A-48D3-8099-643CB4BEB4BC}"/>
              </a:ext>
            </a:extLst>
          </p:cNvPr>
          <p:cNvSpPr/>
          <p:nvPr/>
        </p:nvSpPr>
        <p:spPr>
          <a:xfrm>
            <a:off x="4808707" y="554474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9E3641-00AA-4142-A84E-00E0D81F3F10}"/>
              </a:ext>
            </a:extLst>
          </p:cNvPr>
          <p:cNvSpPr/>
          <p:nvPr/>
        </p:nvSpPr>
        <p:spPr>
          <a:xfrm>
            <a:off x="5938139" y="5544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63D923-141A-4082-BB39-FA0894C23889}"/>
              </a:ext>
            </a:extLst>
          </p:cNvPr>
          <p:cNvSpPr/>
          <p:nvPr/>
        </p:nvSpPr>
        <p:spPr>
          <a:xfrm>
            <a:off x="7201711" y="554474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4CD890-BEAD-4A1B-9D5A-8D1533D43448}"/>
              </a:ext>
            </a:extLst>
          </p:cNvPr>
          <p:cNvSpPr/>
          <p:nvPr/>
        </p:nvSpPr>
        <p:spPr>
          <a:xfrm>
            <a:off x="8331143" y="5544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BED4F6-46DA-4E4A-A456-2F3272620226}"/>
              </a:ext>
            </a:extLst>
          </p:cNvPr>
          <p:cNvSpPr/>
          <p:nvPr/>
        </p:nvSpPr>
        <p:spPr>
          <a:xfrm>
            <a:off x="4808707" y="2397868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E9BCC-6C08-4535-AA56-ABF0AB61F581}"/>
              </a:ext>
            </a:extLst>
          </p:cNvPr>
          <p:cNvSpPr/>
          <p:nvPr/>
        </p:nvSpPr>
        <p:spPr>
          <a:xfrm>
            <a:off x="5938139" y="2397867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891A5-C25A-41E9-8EA7-B939B55D9464}"/>
              </a:ext>
            </a:extLst>
          </p:cNvPr>
          <p:cNvSpPr/>
          <p:nvPr/>
        </p:nvSpPr>
        <p:spPr>
          <a:xfrm>
            <a:off x="7201711" y="2397868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40171-1CBC-4091-B139-5B8CFAF8ADAF}"/>
              </a:ext>
            </a:extLst>
          </p:cNvPr>
          <p:cNvSpPr/>
          <p:nvPr/>
        </p:nvSpPr>
        <p:spPr>
          <a:xfrm>
            <a:off x="8331143" y="2397867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2B2E72-DFF7-48E8-A388-D8776E8FCCB0}"/>
              </a:ext>
            </a:extLst>
          </p:cNvPr>
          <p:cNvSpPr/>
          <p:nvPr/>
        </p:nvSpPr>
        <p:spPr>
          <a:xfrm>
            <a:off x="4808707" y="424126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198714-93B1-4667-A83C-28829E7E3F26}"/>
              </a:ext>
            </a:extLst>
          </p:cNvPr>
          <p:cNvSpPr/>
          <p:nvPr/>
        </p:nvSpPr>
        <p:spPr>
          <a:xfrm>
            <a:off x="5938139" y="424126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451B59-2D6C-412F-BC42-C9DA198C98D7}"/>
              </a:ext>
            </a:extLst>
          </p:cNvPr>
          <p:cNvSpPr/>
          <p:nvPr/>
        </p:nvSpPr>
        <p:spPr>
          <a:xfrm>
            <a:off x="7201711" y="424126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D1D4FC-E785-41CE-BE6E-CB5B3BBD6953}"/>
              </a:ext>
            </a:extLst>
          </p:cNvPr>
          <p:cNvSpPr/>
          <p:nvPr/>
        </p:nvSpPr>
        <p:spPr>
          <a:xfrm>
            <a:off x="8331143" y="424126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6F27C-F2A1-412A-9F00-97386C699554}"/>
              </a:ext>
            </a:extLst>
          </p:cNvPr>
          <p:cNvSpPr txBox="1"/>
          <p:nvPr/>
        </p:nvSpPr>
        <p:spPr>
          <a:xfrm>
            <a:off x="1474070" y="5148387"/>
            <a:ext cx="1842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Family VM Pages</a:t>
            </a:r>
          </a:p>
          <a:p>
            <a:r>
              <a:rPr lang="en-US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vm_page_family_t</a:t>
            </a:r>
            <a:endParaRPr lang="en-US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9CE3FC-1655-4946-AAE3-326884A91690}"/>
              </a:ext>
            </a:extLst>
          </p:cNvPr>
          <p:cNvSpPr txBox="1"/>
          <p:nvPr/>
        </p:nvSpPr>
        <p:spPr>
          <a:xfrm>
            <a:off x="1851567" y="4577733"/>
            <a:ext cx="865943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AFA4E-ECF6-4A66-8F59-56049506C5C9}"/>
              </a:ext>
            </a:extLst>
          </p:cNvPr>
          <p:cNvSpPr txBox="1"/>
          <p:nvPr/>
        </p:nvSpPr>
        <p:spPr>
          <a:xfrm>
            <a:off x="1839348" y="4075723"/>
            <a:ext cx="893193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employee_t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A7A41B-158B-45D9-A30E-7AC617D4DAEE}"/>
              </a:ext>
            </a:extLst>
          </p:cNvPr>
          <p:cNvSpPr txBox="1"/>
          <p:nvPr/>
        </p:nvSpPr>
        <p:spPr>
          <a:xfrm>
            <a:off x="1828367" y="3524799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college_t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339DB-BC79-4FDF-A374-984A4F4CDC5E}"/>
              </a:ext>
            </a:extLst>
          </p:cNvPr>
          <p:cNvSpPr txBox="1"/>
          <p:nvPr/>
        </p:nvSpPr>
        <p:spPr>
          <a:xfrm>
            <a:off x="1815146" y="2697103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7781AD2-78AD-4823-86C6-24E57BFD894B}"/>
              </a:ext>
            </a:extLst>
          </p:cNvPr>
          <p:cNvSpPr/>
          <p:nvPr/>
        </p:nvSpPr>
        <p:spPr>
          <a:xfrm rot="11465787">
            <a:off x="1735999" y="1339069"/>
            <a:ext cx="1083632" cy="3771669"/>
          </a:xfrm>
          <a:prstGeom prst="arc">
            <a:avLst/>
          </a:prstGeom>
          <a:ln w="222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E5DCA45D-CD87-4EE9-B684-7BF1F00886F8}"/>
              </a:ext>
            </a:extLst>
          </p:cNvPr>
          <p:cNvSpPr/>
          <p:nvPr/>
        </p:nvSpPr>
        <p:spPr>
          <a:xfrm rot="9537294" flipH="1">
            <a:off x="1638437" y="1778961"/>
            <a:ext cx="1140080" cy="3345567"/>
          </a:xfrm>
          <a:prstGeom prst="arc">
            <a:avLst/>
          </a:prstGeom>
          <a:ln w="22225">
            <a:solidFill>
              <a:srgbClr val="FF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5E75C7B-DF8A-4FBF-B243-5474BCF9B149}"/>
              </a:ext>
            </a:extLst>
          </p:cNvPr>
          <p:cNvSpPr/>
          <p:nvPr/>
        </p:nvSpPr>
        <p:spPr>
          <a:xfrm>
            <a:off x="2665379" y="4765973"/>
            <a:ext cx="2042808" cy="535601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2296FAD-52A5-4138-A739-A556B3BFB4F5}"/>
              </a:ext>
            </a:extLst>
          </p:cNvPr>
          <p:cNvSpPr/>
          <p:nvPr/>
        </p:nvSpPr>
        <p:spPr>
          <a:xfrm flipV="1">
            <a:off x="2694562" y="3484181"/>
            <a:ext cx="2042808" cy="851078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D618669-172B-4D7F-97EB-C9E611B56DA4}"/>
              </a:ext>
            </a:extLst>
          </p:cNvPr>
          <p:cNvSpPr/>
          <p:nvPr/>
        </p:nvSpPr>
        <p:spPr>
          <a:xfrm flipV="1">
            <a:off x="2748528" y="1566150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45F2F1-1B0D-4134-82F9-4D701A2CF83E}"/>
              </a:ext>
            </a:extLst>
          </p:cNvPr>
          <p:cNvCxnSpPr/>
          <p:nvPr/>
        </p:nvCxnSpPr>
        <p:spPr>
          <a:xfrm>
            <a:off x="5317787" y="434479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47066E-9731-480D-A6D4-3BF2573F3B86}"/>
              </a:ext>
            </a:extLst>
          </p:cNvPr>
          <p:cNvCxnSpPr/>
          <p:nvPr/>
        </p:nvCxnSpPr>
        <p:spPr>
          <a:xfrm>
            <a:off x="6624389" y="434479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31DE96-7730-457A-985F-B0828763DD99}"/>
              </a:ext>
            </a:extLst>
          </p:cNvPr>
          <p:cNvCxnSpPr/>
          <p:nvPr/>
        </p:nvCxnSpPr>
        <p:spPr>
          <a:xfrm>
            <a:off x="7917423" y="4353968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AF3F5A-0FCB-46DE-A29E-9D51A913087B}"/>
              </a:ext>
            </a:extLst>
          </p:cNvPr>
          <p:cNvCxnSpPr/>
          <p:nvPr/>
        </p:nvCxnSpPr>
        <p:spPr>
          <a:xfrm>
            <a:off x="5317787" y="258526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3A87E3-937F-4119-A8A0-876F893CC00A}"/>
              </a:ext>
            </a:extLst>
          </p:cNvPr>
          <p:cNvCxnSpPr/>
          <p:nvPr/>
        </p:nvCxnSpPr>
        <p:spPr>
          <a:xfrm>
            <a:off x="6624389" y="258526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680D9D-75B1-4D6B-BF71-54AF19887890}"/>
              </a:ext>
            </a:extLst>
          </p:cNvPr>
          <p:cNvCxnSpPr/>
          <p:nvPr/>
        </p:nvCxnSpPr>
        <p:spPr>
          <a:xfrm>
            <a:off x="7917423" y="259444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CA1B00-C03A-40F8-BF33-C4129F7BB42A}"/>
              </a:ext>
            </a:extLst>
          </p:cNvPr>
          <p:cNvCxnSpPr/>
          <p:nvPr/>
        </p:nvCxnSpPr>
        <p:spPr>
          <a:xfrm>
            <a:off x="5317787" y="76339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C0AA900-629A-4EF7-AE1A-3B0F323981AD}"/>
              </a:ext>
            </a:extLst>
          </p:cNvPr>
          <p:cNvCxnSpPr/>
          <p:nvPr/>
        </p:nvCxnSpPr>
        <p:spPr>
          <a:xfrm>
            <a:off x="6624389" y="76339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551E35-F3E1-419F-850A-D5EA6F26E54F}"/>
              </a:ext>
            </a:extLst>
          </p:cNvPr>
          <p:cNvCxnSpPr/>
          <p:nvPr/>
        </p:nvCxnSpPr>
        <p:spPr>
          <a:xfrm>
            <a:off x="7917423" y="772568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39806B1-3EA0-4E48-BF5E-7463A9ECEDA6}"/>
              </a:ext>
            </a:extLst>
          </p:cNvPr>
          <p:cNvSpPr txBox="1"/>
          <p:nvPr/>
        </p:nvSpPr>
        <p:spPr>
          <a:xfrm>
            <a:off x="5784714" y="5997149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VM Pages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901074" y="2529372"/>
            <a:ext cx="2032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(</a:t>
            </a:r>
            <a:r>
              <a:rPr lang="en-US" sz="2400" dirty="0" err="1">
                <a:latin typeface="Baskerville Old Face" panose="02020602080505020303" pitchFamily="18" charset="0"/>
              </a:rPr>
              <a:t>foo_t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13ED8E-F7E5-4ACD-94BA-25EE328B53E9}"/>
              </a:ext>
            </a:extLst>
          </p:cNvPr>
          <p:cNvSpPr txBox="1"/>
          <p:nvPr/>
        </p:nvSpPr>
        <p:spPr>
          <a:xfrm>
            <a:off x="291830" y="6366481"/>
            <a:ext cx="10988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For a Given Family, which data VM page should be used to meet the </a:t>
            </a:r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request ?</a:t>
            </a:r>
          </a:p>
        </p:txBody>
      </p:sp>
    </p:spTree>
    <p:extLst>
      <p:ext uri="{BB962C8B-B14F-4D97-AF65-F5344CB8AC3E}">
        <p14:creationId xmlns:p14="http://schemas.microsoft.com/office/powerpoint/2010/main" val="80175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3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9" grpId="0"/>
      <p:bldP spid="4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364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Project Development Phases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80E9E-7A66-4318-9D12-7AE264EB3DB6}"/>
              </a:ext>
            </a:extLst>
          </p:cNvPr>
          <p:cNvSpPr txBox="1"/>
          <p:nvPr/>
        </p:nvSpPr>
        <p:spPr>
          <a:xfrm>
            <a:off x="1244836" y="475204"/>
            <a:ext cx="706475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latin typeface="Baskerville Old Face" panose="02020602080505020303" pitchFamily="18" charset="0"/>
            </a:endParaRP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Phase 1 – Virtual Memory Page Allocation and Deallocation </a:t>
            </a:r>
            <a:r>
              <a:rPr lang="en-US" sz="2000" dirty="0">
                <a:solidFill>
                  <a:srgbClr val="92D050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</a:t>
            </a:r>
            <a:endParaRPr lang="en-US" sz="2000" dirty="0">
              <a:solidFill>
                <a:srgbClr val="92D050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Phase 2 – Page Family Registration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 	(Application need to tell out LMM about its structure information)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Phase 3 - Data Structures to define Meta Block and Data Block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</a:t>
            </a:r>
            <a:r>
              <a:rPr lang="en-US" sz="1400" dirty="0">
                <a:latin typeface="Baskerville Old Face" panose="02020602080505020303" pitchFamily="18" charset="0"/>
              </a:rPr>
              <a:t>( Every Data block (Free or in-use) has a book-keeper called Meta block 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4. 	Phase 4 – Splitting and Merging Data Blocks</a:t>
            </a:r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 startAt="5"/>
            </a:pP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Phase 5 – LMM Statistics</a:t>
            </a:r>
          </a:p>
          <a:p>
            <a:pPr lvl="1"/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latin typeface="Baskerville Old Face" panose="02020602080505020303" pitchFamily="18" charset="0"/>
              </a:rPr>
              <a:t>(Derive useful info from LMM – Leaked Data blocks, 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			# in-use-blocks, # free-blocks, # of VM pages in use </a:t>
            </a:r>
            <a:r>
              <a:rPr lang="en-US" sz="1400" dirty="0" err="1">
                <a:latin typeface="Baskerville Old Face" panose="02020602080505020303" pitchFamily="18" charset="0"/>
              </a:rPr>
              <a:t>etc</a:t>
            </a:r>
            <a:r>
              <a:rPr lang="en-US" sz="1400" dirty="0">
                <a:latin typeface="Baskerville Old Face" panose="02020602080505020303" pitchFamily="18" charset="0"/>
              </a:rPr>
              <a:t> . . . )</a:t>
            </a:r>
          </a:p>
          <a:p>
            <a:pPr lvl="1"/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buAutoNum type="arabicPeriod" startAt="5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skerville Old Face" panose="02020602080505020303" pitchFamily="18" charset="0"/>
              </a:rPr>
              <a:t>Case Study – See your LMM in action </a:t>
            </a:r>
          </a:p>
          <a:p>
            <a:pPr marL="457200" indent="-457200">
              <a:buAutoNum type="arabicPeriod" startAt="5"/>
            </a:pPr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buAutoNum type="arabicPeriod" startAt="5"/>
            </a:pPr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Add Extensions to the Project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(support for large structures, </a:t>
            </a:r>
            <a:r>
              <a:rPr lang="en-US" sz="1400" dirty="0" err="1">
                <a:solidFill>
                  <a:srgbClr val="FF0000"/>
                </a:solidFill>
                <a:latin typeface="Baskerville Old Face" panose="02020602080505020303" pitchFamily="18" charset="0"/>
              </a:rPr>
              <a:t>xrealloc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Project Development Phases</a:t>
            </a:r>
          </a:p>
        </p:txBody>
      </p:sp>
    </p:spTree>
    <p:extLst>
      <p:ext uri="{BB962C8B-B14F-4D97-AF65-F5344CB8AC3E}">
        <p14:creationId xmlns:p14="http://schemas.microsoft.com/office/powerpoint/2010/main" val="17827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8584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Page Family Registration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56EE5-217A-43D4-AFB0-5B352FD9CF3A}"/>
              </a:ext>
            </a:extLst>
          </p:cNvPr>
          <p:cNvSpPr txBox="1"/>
          <p:nvPr/>
        </p:nvSpPr>
        <p:spPr>
          <a:xfrm>
            <a:off x="355600" y="1280160"/>
            <a:ext cx="117043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Page Family </a:t>
            </a:r>
            <a:r>
              <a:rPr lang="en-US" dirty="0" err="1">
                <a:latin typeface="Baskerville Old Face" panose="02020602080505020303" pitchFamily="18" charset="0"/>
              </a:rPr>
              <a:t>Reistration</a:t>
            </a:r>
            <a:r>
              <a:rPr lang="en-US" dirty="0">
                <a:latin typeface="Baskerville Old Face" panose="02020602080505020303" pitchFamily="18" charset="0"/>
              </a:rPr>
              <a:t> means, the User space application relying on LMM, during initialization, tell LMM the details of the structure's application is using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Application may be using 100s of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This is essential since LMM need to know how much bytes to be allocated to application if application issues request for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</a:t>
            </a:r>
            <a:r>
              <a:rPr lang="en-US" dirty="0">
                <a:latin typeface="Baskerville Old Face" panose="02020602080505020303" pitchFamily="18" charset="0"/>
              </a:rPr>
              <a:t>memory allocation for a structure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LMM needs to store application’s structure information  : Name of Structure and its size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LMM uses VM pages as requested from Kernel to store registration information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A738F-EE8E-4564-8ACE-36A4668AD276}"/>
              </a:ext>
            </a:extLst>
          </p:cNvPr>
          <p:cNvSpPr/>
          <p:nvPr/>
        </p:nvSpPr>
        <p:spPr>
          <a:xfrm>
            <a:off x="7565309" y="377926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F42B3-5BC1-4031-94A4-10706C16F23B}"/>
              </a:ext>
            </a:extLst>
          </p:cNvPr>
          <p:cNvSpPr/>
          <p:nvPr/>
        </p:nvSpPr>
        <p:spPr>
          <a:xfrm>
            <a:off x="3200567" y="379276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49B1D9-2C79-49DB-9A5A-DA5313D8E1FC}"/>
              </a:ext>
            </a:extLst>
          </p:cNvPr>
          <p:cNvSpPr/>
          <p:nvPr/>
        </p:nvSpPr>
        <p:spPr>
          <a:xfrm rot="10800000">
            <a:off x="4907280" y="405975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C8BA-8E57-4F00-BAD2-6FB340076D03}"/>
              </a:ext>
            </a:extLst>
          </p:cNvPr>
          <p:cNvSpPr txBox="1"/>
          <p:nvPr/>
        </p:nvSpPr>
        <p:spPr>
          <a:xfrm>
            <a:off x="5408081" y="379276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person_t</a:t>
            </a:r>
            <a:r>
              <a:rPr lang="en-US" sz="1400" dirty="0">
                <a:latin typeface="Baskerville Old Face" panose="02020602080505020303" pitchFamily="18" charset="0"/>
              </a:rPr>
              <a:t>, 60B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3BE0C-F05C-4BDC-BCC7-B06859886D5D}"/>
              </a:ext>
            </a:extLst>
          </p:cNvPr>
          <p:cNvSpPr txBox="1"/>
          <p:nvPr/>
        </p:nvSpPr>
        <p:spPr>
          <a:xfrm>
            <a:off x="5408080" y="4239661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Occupation_t</a:t>
            </a:r>
            <a:r>
              <a:rPr lang="en-US" sz="1400" dirty="0">
                <a:latin typeface="Baskerville Old Face" panose="02020602080505020303" pitchFamily="18" charset="0"/>
              </a:rPr>
              <a:t>, 120B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B6859E-611E-4B91-9193-6CF29B653987}"/>
              </a:ext>
            </a:extLst>
          </p:cNvPr>
          <p:cNvSpPr/>
          <p:nvPr/>
        </p:nvSpPr>
        <p:spPr>
          <a:xfrm rot="10800000">
            <a:off x="4907280" y="4467570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A2EEB-3ACF-4D04-9131-93C1BCD370E9}"/>
              </a:ext>
            </a:extLst>
          </p:cNvPr>
          <p:cNvSpPr txBox="1"/>
          <p:nvPr/>
        </p:nvSpPr>
        <p:spPr>
          <a:xfrm>
            <a:off x="5408080" y="4753154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student_t</a:t>
            </a:r>
            <a:r>
              <a:rPr lang="en-US" sz="1400" dirty="0">
                <a:latin typeface="Baskerville Old Face" panose="02020602080505020303" pitchFamily="18" charset="0"/>
              </a:rPr>
              <a:t>, 75B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1930B8-3910-477C-8C08-E71C081C6EF2}"/>
              </a:ext>
            </a:extLst>
          </p:cNvPr>
          <p:cNvSpPr/>
          <p:nvPr/>
        </p:nvSpPr>
        <p:spPr>
          <a:xfrm rot="10800000">
            <a:off x="4907280" y="498106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0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 animBg="1"/>
      <p:bldP spid="8" grpId="0"/>
      <p:bldP spid="10" grpId="0"/>
      <p:bldP spid="11" grpId="0" animBg="1"/>
      <p:bldP spid="12" grpId="0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8584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Page Family Registration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A738F-EE8E-4564-8ACE-36A4668AD276}"/>
              </a:ext>
            </a:extLst>
          </p:cNvPr>
          <p:cNvSpPr/>
          <p:nvPr/>
        </p:nvSpPr>
        <p:spPr>
          <a:xfrm>
            <a:off x="9536349" y="67030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F42B3-5BC1-4031-94A4-10706C16F23B}"/>
              </a:ext>
            </a:extLst>
          </p:cNvPr>
          <p:cNvSpPr/>
          <p:nvPr/>
        </p:nvSpPr>
        <p:spPr>
          <a:xfrm>
            <a:off x="5171607" y="68380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49B1D9-2C79-49DB-9A5A-DA5313D8E1FC}"/>
              </a:ext>
            </a:extLst>
          </p:cNvPr>
          <p:cNvSpPr/>
          <p:nvPr/>
        </p:nvSpPr>
        <p:spPr>
          <a:xfrm rot="10800000">
            <a:off x="6878320" y="95079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C8BA-8E57-4F00-BAD2-6FB340076D03}"/>
              </a:ext>
            </a:extLst>
          </p:cNvPr>
          <p:cNvSpPr txBox="1"/>
          <p:nvPr/>
        </p:nvSpPr>
        <p:spPr>
          <a:xfrm>
            <a:off x="7379121" y="68380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person_t</a:t>
            </a:r>
            <a:r>
              <a:rPr lang="en-US" sz="1400" dirty="0">
                <a:latin typeface="Baskerville Old Face" panose="02020602080505020303" pitchFamily="18" charset="0"/>
              </a:rPr>
              <a:t>, 60B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3BE0C-F05C-4BDC-BCC7-B06859886D5D}"/>
              </a:ext>
            </a:extLst>
          </p:cNvPr>
          <p:cNvSpPr txBox="1"/>
          <p:nvPr/>
        </p:nvSpPr>
        <p:spPr>
          <a:xfrm>
            <a:off x="7379120" y="1130701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Occupation_t</a:t>
            </a:r>
            <a:r>
              <a:rPr lang="en-US" sz="1400" dirty="0">
                <a:latin typeface="Baskerville Old Face" panose="02020602080505020303" pitchFamily="18" charset="0"/>
              </a:rPr>
              <a:t>, 120B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B6859E-611E-4B91-9193-6CF29B653987}"/>
              </a:ext>
            </a:extLst>
          </p:cNvPr>
          <p:cNvSpPr/>
          <p:nvPr/>
        </p:nvSpPr>
        <p:spPr>
          <a:xfrm rot="10800000">
            <a:off x="6878320" y="1358610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A2EEB-3ACF-4D04-9131-93C1BCD370E9}"/>
              </a:ext>
            </a:extLst>
          </p:cNvPr>
          <p:cNvSpPr txBox="1"/>
          <p:nvPr/>
        </p:nvSpPr>
        <p:spPr>
          <a:xfrm>
            <a:off x="7379120" y="1644194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student_t</a:t>
            </a:r>
            <a:r>
              <a:rPr lang="en-US" sz="1400" dirty="0">
                <a:latin typeface="Baskerville Old Face" panose="02020602080505020303" pitchFamily="18" charset="0"/>
              </a:rPr>
              <a:t>, 75B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1930B8-3910-477C-8C08-E71C081C6EF2}"/>
              </a:ext>
            </a:extLst>
          </p:cNvPr>
          <p:cNvSpPr/>
          <p:nvPr/>
        </p:nvSpPr>
        <p:spPr>
          <a:xfrm rot="10800000">
            <a:off x="6878320" y="187210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B15AB-54B3-49DF-B97E-DA8EC63D8321}"/>
              </a:ext>
            </a:extLst>
          </p:cNvPr>
          <p:cNvSpPr/>
          <p:nvPr/>
        </p:nvSpPr>
        <p:spPr>
          <a:xfrm>
            <a:off x="3995501" y="1113354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3591A-13C0-441B-8CBE-6BB8344D203C}"/>
              </a:ext>
            </a:extLst>
          </p:cNvPr>
          <p:cNvSpPr txBox="1"/>
          <p:nvPr/>
        </p:nvSpPr>
        <p:spPr>
          <a:xfrm>
            <a:off x="4022194" y="2809031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F4876-5700-4D69-B1B4-18770644A81D}"/>
              </a:ext>
            </a:extLst>
          </p:cNvPr>
          <p:cNvSpPr txBox="1"/>
          <p:nvPr/>
        </p:nvSpPr>
        <p:spPr>
          <a:xfrm>
            <a:off x="3989655" y="2286701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70EF6-03E2-4BE1-A775-946FAEB578B8}"/>
              </a:ext>
            </a:extLst>
          </p:cNvPr>
          <p:cNvSpPr txBox="1"/>
          <p:nvPr/>
        </p:nvSpPr>
        <p:spPr>
          <a:xfrm>
            <a:off x="4029474" y="1745937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DA643-4516-4115-9D9D-D9EDA9E071AF}"/>
              </a:ext>
            </a:extLst>
          </p:cNvPr>
          <p:cNvSpPr txBox="1"/>
          <p:nvPr/>
        </p:nvSpPr>
        <p:spPr>
          <a:xfrm>
            <a:off x="175097" y="3972973"/>
            <a:ext cx="115916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LMM request VM pages(s) from Kernel to store registration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information : Structure name and structure size is called a 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page family 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VM page stores the page families , starting from bottom to top, in a contiguous manner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VM pages used to store page families are called VM page for Families (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If LMM needs more VM pages to store more Application’s page families, LMM can request more VM pages from Kernel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Multiple VM pages for families are linked through linked list, most recent one  - the 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0518CD-98BE-4D8C-AD1C-203B48F3177E}"/>
              </a:ext>
            </a:extLst>
          </p:cNvPr>
          <p:cNvSpPr/>
          <p:nvPr/>
        </p:nvSpPr>
        <p:spPr>
          <a:xfrm>
            <a:off x="1668127" y="114571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A7E9F7-BFB3-42D5-BBBD-37647BF07969}"/>
              </a:ext>
            </a:extLst>
          </p:cNvPr>
          <p:cNvSpPr txBox="1"/>
          <p:nvPr/>
        </p:nvSpPr>
        <p:spPr>
          <a:xfrm>
            <a:off x="1125981" y="34403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74D7FD-12FB-4B06-84CC-1770AC1D029F}"/>
              </a:ext>
            </a:extLst>
          </p:cNvPr>
          <p:cNvSpPr txBox="1"/>
          <p:nvPr/>
        </p:nvSpPr>
        <p:spPr>
          <a:xfrm>
            <a:off x="1693842" y="2787046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teacher_t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B395ED-86DE-429E-98B9-C07BF3B694D3}"/>
              </a:ext>
            </a:extLst>
          </p:cNvPr>
          <p:cNvSpPr txBox="1"/>
          <p:nvPr/>
        </p:nvSpPr>
        <p:spPr>
          <a:xfrm>
            <a:off x="1691783" y="2285036"/>
            <a:ext cx="88678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exam_t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C365A-A331-464A-985E-51C86D89B48C}"/>
              </a:ext>
            </a:extLst>
          </p:cNvPr>
          <p:cNvSpPr txBox="1"/>
          <p:nvPr/>
        </p:nvSpPr>
        <p:spPr>
          <a:xfrm>
            <a:off x="1701122" y="1723952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campus_t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160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09D3CEF-34AB-483B-94D2-041EFCEAFD21}"/>
              </a:ext>
            </a:extLst>
          </p:cNvPr>
          <p:cNvSpPr/>
          <p:nvPr/>
        </p:nvSpPr>
        <p:spPr>
          <a:xfrm>
            <a:off x="2606338" y="3180307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DD01C8-35A7-4868-8EA1-E20F237D7E2E}"/>
              </a:ext>
            </a:extLst>
          </p:cNvPr>
          <p:cNvSpPr txBox="1"/>
          <p:nvPr/>
        </p:nvSpPr>
        <p:spPr>
          <a:xfrm>
            <a:off x="2587903" y="293435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110DEC-0ECB-473E-8C4D-3A59A6AB852E}"/>
              </a:ext>
            </a:extLst>
          </p:cNvPr>
          <p:cNvSpPr txBox="1"/>
          <p:nvPr/>
        </p:nvSpPr>
        <p:spPr>
          <a:xfrm>
            <a:off x="4929393" y="3088246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A29E88-ADBB-4EDE-A2F4-857597DA3D17}"/>
              </a:ext>
            </a:extLst>
          </p:cNvPr>
          <p:cNvSpPr txBox="1"/>
          <p:nvPr/>
        </p:nvSpPr>
        <p:spPr>
          <a:xfrm>
            <a:off x="3602958" y="3461649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30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19" grpId="0" animBg="1"/>
      <p:bldP spid="20" grpId="0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8584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Page Family Registration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A738F-EE8E-4564-8ACE-36A4668AD276}"/>
              </a:ext>
            </a:extLst>
          </p:cNvPr>
          <p:cNvSpPr/>
          <p:nvPr/>
        </p:nvSpPr>
        <p:spPr>
          <a:xfrm>
            <a:off x="9536349" y="67030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F42B3-5BC1-4031-94A4-10706C16F23B}"/>
              </a:ext>
            </a:extLst>
          </p:cNvPr>
          <p:cNvSpPr/>
          <p:nvPr/>
        </p:nvSpPr>
        <p:spPr>
          <a:xfrm>
            <a:off x="5171607" y="68380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49B1D9-2C79-49DB-9A5A-DA5313D8E1FC}"/>
              </a:ext>
            </a:extLst>
          </p:cNvPr>
          <p:cNvSpPr/>
          <p:nvPr/>
        </p:nvSpPr>
        <p:spPr>
          <a:xfrm rot="10800000">
            <a:off x="6878320" y="95079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C8BA-8E57-4F00-BAD2-6FB340076D03}"/>
              </a:ext>
            </a:extLst>
          </p:cNvPr>
          <p:cNvSpPr txBox="1"/>
          <p:nvPr/>
        </p:nvSpPr>
        <p:spPr>
          <a:xfrm>
            <a:off x="7379121" y="68380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person_t</a:t>
            </a:r>
            <a:r>
              <a:rPr lang="en-US" sz="1400" dirty="0">
                <a:latin typeface="Baskerville Old Face" panose="02020602080505020303" pitchFamily="18" charset="0"/>
              </a:rPr>
              <a:t>, 60B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3BE0C-F05C-4BDC-BCC7-B06859886D5D}"/>
              </a:ext>
            </a:extLst>
          </p:cNvPr>
          <p:cNvSpPr txBox="1"/>
          <p:nvPr/>
        </p:nvSpPr>
        <p:spPr>
          <a:xfrm>
            <a:off x="7379120" y="1130701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Occupation_t</a:t>
            </a:r>
            <a:r>
              <a:rPr lang="en-US" sz="1400" dirty="0">
                <a:latin typeface="Baskerville Old Face" panose="02020602080505020303" pitchFamily="18" charset="0"/>
              </a:rPr>
              <a:t>, 120B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B6859E-611E-4B91-9193-6CF29B653987}"/>
              </a:ext>
            </a:extLst>
          </p:cNvPr>
          <p:cNvSpPr/>
          <p:nvPr/>
        </p:nvSpPr>
        <p:spPr>
          <a:xfrm rot="10800000">
            <a:off x="6878320" y="1358610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A2EEB-3ACF-4D04-9131-93C1BCD370E9}"/>
              </a:ext>
            </a:extLst>
          </p:cNvPr>
          <p:cNvSpPr txBox="1"/>
          <p:nvPr/>
        </p:nvSpPr>
        <p:spPr>
          <a:xfrm>
            <a:off x="7379120" y="1644194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student_t</a:t>
            </a:r>
            <a:r>
              <a:rPr lang="en-US" sz="1400" dirty="0">
                <a:latin typeface="Baskerville Old Face" panose="02020602080505020303" pitchFamily="18" charset="0"/>
              </a:rPr>
              <a:t>, 75B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1930B8-3910-477C-8C08-E71C081C6EF2}"/>
              </a:ext>
            </a:extLst>
          </p:cNvPr>
          <p:cNvSpPr/>
          <p:nvPr/>
        </p:nvSpPr>
        <p:spPr>
          <a:xfrm rot="10800000">
            <a:off x="6878320" y="187210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B15AB-54B3-49DF-B97E-DA8EC63D8321}"/>
              </a:ext>
            </a:extLst>
          </p:cNvPr>
          <p:cNvSpPr/>
          <p:nvPr/>
        </p:nvSpPr>
        <p:spPr>
          <a:xfrm>
            <a:off x="3982271" y="1130701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3591A-13C0-441B-8CBE-6BB8344D203C}"/>
              </a:ext>
            </a:extLst>
          </p:cNvPr>
          <p:cNvSpPr txBox="1"/>
          <p:nvPr/>
        </p:nvSpPr>
        <p:spPr>
          <a:xfrm>
            <a:off x="4022194" y="2809031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F4876-5700-4D69-B1B4-18770644A81D}"/>
              </a:ext>
            </a:extLst>
          </p:cNvPr>
          <p:cNvSpPr txBox="1"/>
          <p:nvPr/>
        </p:nvSpPr>
        <p:spPr>
          <a:xfrm>
            <a:off x="3979495" y="2307021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70EF6-03E2-4BE1-A775-946FAEB578B8}"/>
              </a:ext>
            </a:extLst>
          </p:cNvPr>
          <p:cNvSpPr txBox="1"/>
          <p:nvPr/>
        </p:nvSpPr>
        <p:spPr>
          <a:xfrm>
            <a:off x="3979495" y="1756097"/>
            <a:ext cx="879787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0518CD-98BE-4D8C-AD1C-203B48F3177E}"/>
              </a:ext>
            </a:extLst>
          </p:cNvPr>
          <p:cNvSpPr/>
          <p:nvPr/>
        </p:nvSpPr>
        <p:spPr>
          <a:xfrm>
            <a:off x="1668127" y="114571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74D7FD-12FB-4B06-84CC-1770AC1D029F}"/>
              </a:ext>
            </a:extLst>
          </p:cNvPr>
          <p:cNvSpPr txBox="1"/>
          <p:nvPr/>
        </p:nvSpPr>
        <p:spPr>
          <a:xfrm>
            <a:off x="1693842" y="2787046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teacher_t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B395ED-86DE-429E-98B9-C07BF3B694D3}"/>
              </a:ext>
            </a:extLst>
          </p:cNvPr>
          <p:cNvSpPr txBox="1"/>
          <p:nvPr/>
        </p:nvSpPr>
        <p:spPr>
          <a:xfrm>
            <a:off x="1691783" y="2285036"/>
            <a:ext cx="88678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exam_t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C365A-A331-464A-985E-51C86D89B48C}"/>
              </a:ext>
            </a:extLst>
          </p:cNvPr>
          <p:cNvSpPr txBox="1"/>
          <p:nvPr/>
        </p:nvSpPr>
        <p:spPr>
          <a:xfrm>
            <a:off x="1701122" y="1723952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campus_t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D6CA7-9C76-4455-B149-28904218C6C5}"/>
              </a:ext>
            </a:extLst>
          </p:cNvPr>
          <p:cNvSpPr txBox="1"/>
          <p:nvPr/>
        </p:nvSpPr>
        <p:spPr>
          <a:xfrm>
            <a:off x="531080" y="4318176"/>
            <a:ext cx="53479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	char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[MM_MAX_STRUCT_NAME];</a:t>
            </a: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	uint32_t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struct_size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;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19E79E-184F-464A-882D-993FAEEA24BA}"/>
              </a:ext>
            </a:extLst>
          </p:cNvPr>
          <p:cNvSpPr txBox="1"/>
          <p:nvPr/>
        </p:nvSpPr>
        <p:spPr>
          <a:xfrm>
            <a:off x="6364246" y="4249971"/>
            <a:ext cx="41472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vm_page_for_families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solidFill>
                <a:srgbClr val="FF99FF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	struct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vm_page_for_families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_ *next;</a:t>
            </a: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	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[0];</a:t>
            </a:r>
          </a:p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; 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1977432-0CDC-43AD-A21F-8A15B0DF5108}"/>
              </a:ext>
            </a:extLst>
          </p:cNvPr>
          <p:cNvSpPr/>
          <p:nvPr/>
        </p:nvSpPr>
        <p:spPr>
          <a:xfrm>
            <a:off x="2606338" y="3180307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26896-359B-4D78-BEBB-C54ACCC44209}"/>
              </a:ext>
            </a:extLst>
          </p:cNvPr>
          <p:cNvSpPr txBox="1"/>
          <p:nvPr/>
        </p:nvSpPr>
        <p:spPr>
          <a:xfrm>
            <a:off x="2587903" y="293435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797FBF-1407-4B12-9E6A-2FCFC362BC8E}"/>
              </a:ext>
            </a:extLst>
          </p:cNvPr>
          <p:cNvSpPr txBox="1"/>
          <p:nvPr/>
        </p:nvSpPr>
        <p:spPr>
          <a:xfrm>
            <a:off x="4929393" y="3088246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CB7CE-E926-49BB-83ED-3B47E9E0133D}"/>
              </a:ext>
            </a:extLst>
          </p:cNvPr>
          <p:cNvSpPr txBox="1"/>
          <p:nvPr/>
        </p:nvSpPr>
        <p:spPr>
          <a:xfrm>
            <a:off x="1125981" y="34403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76B0FC-5595-4C55-9202-426C28427003}"/>
              </a:ext>
            </a:extLst>
          </p:cNvPr>
          <p:cNvSpPr txBox="1"/>
          <p:nvPr/>
        </p:nvSpPr>
        <p:spPr>
          <a:xfrm>
            <a:off x="3602958" y="3461649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7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962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  -&gt; Page Family Instantiation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8584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Page Family Instantiation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A738F-EE8E-4564-8ACE-36A4668AD276}"/>
              </a:ext>
            </a:extLst>
          </p:cNvPr>
          <p:cNvSpPr/>
          <p:nvPr/>
        </p:nvSpPr>
        <p:spPr>
          <a:xfrm>
            <a:off x="9536349" y="67030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F42B3-5BC1-4031-94A4-10706C16F23B}"/>
              </a:ext>
            </a:extLst>
          </p:cNvPr>
          <p:cNvSpPr/>
          <p:nvPr/>
        </p:nvSpPr>
        <p:spPr>
          <a:xfrm>
            <a:off x="5171607" y="68380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49B1D9-2C79-49DB-9A5A-DA5313D8E1FC}"/>
              </a:ext>
            </a:extLst>
          </p:cNvPr>
          <p:cNvSpPr/>
          <p:nvPr/>
        </p:nvSpPr>
        <p:spPr>
          <a:xfrm rot="10800000">
            <a:off x="6878320" y="95079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C8BA-8E57-4F00-BAD2-6FB340076D03}"/>
              </a:ext>
            </a:extLst>
          </p:cNvPr>
          <p:cNvSpPr txBox="1"/>
          <p:nvPr/>
        </p:nvSpPr>
        <p:spPr>
          <a:xfrm>
            <a:off x="7379121" y="68380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person_t</a:t>
            </a:r>
            <a:r>
              <a:rPr lang="en-US" sz="1400" dirty="0">
                <a:latin typeface="Baskerville Old Face" panose="02020602080505020303" pitchFamily="18" charset="0"/>
              </a:rPr>
              <a:t>, 60B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3BE0C-F05C-4BDC-BCC7-B06859886D5D}"/>
              </a:ext>
            </a:extLst>
          </p:cNvPr>
          <p:cNvSpPr txBox="1"/>
          <p:nvPr/>
        </p:nvSpPr>
        <p:spPr>
          <a:xfrm>
            <a:off x="7379120" y="1130701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Occupation_t</a:t>
            </a:r>
            <a:r>
              <a:rPr lang="en-US" sz="1400" dirty="0">
                <a:latin typeface="Baskerville Old Face" panose="02020602080505020303" pitchFamily="18" charset="0"/>
              </a:rPr>
              <a:t>, 120B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B6859E-611E-4B91-9193-6CF29B653987}"/>
              </a:ext>
            </a:extLst>
          </p:cNvPr>
          <p:cNvSpPr/>
          <p:nvPr/>
        </p:nvSpPr>
        <p:spPr>
          <a:xfrm rot="10800000">
            <a:off x="6878320" y="1358610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A2EEB-3ACF-4D04-9131-93C1BCD370E9}"/>
              </a:ext>
            </a:extLst>
          </p:cNvPr>
          <p:cNvSpPr txBox="1"/>
          <p:nvPr/>
        </p:nvSpPr>
        <p:spPr>
          <a:xfrm>
            <a:off x="7379120" y="1644194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student_t</a:t>
            </a:r>
            <a:r>
              <a:rPr lang="en-US" sz="1400" dirty="0">
                <a:latin typeface="Baskerville Old Face" panose="02020602080505020303" pitchFamily="18" charset="0"/>
              </a:rPr>
              <a:t>, 75B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1930B8-3910-477C-8C08-E71C081C6EF2}"/>
              </a:ext>
            </a:extLst>
          </p:cNvPr>
          <p:cNvSpPr/>
          <p:nvPr/>
        </p:nvSpPr>
        <p:spPr>
          <a:xfrm rot="10800000">
            <a:off x="6878320" y="187210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B15AB-54B3-49DF-B97E-DA8EC63D8321}"/>
              </a:ext>
            </a:extLst>
          </p:cNvPr>
          <p:cNvSpPr/>
          <p:nvPr/>
        </p:nvSpPr>
        <p:spPr>
          <a:xfrm>
            <a:off x="3982271" y="1130701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3591A-13C0-441B-8CBE-6BB8344D203C}"/>
              </a:ext>
            </a:extLst>
          </p:cNvPr>
          <p:cNvSpPr txBox="1"/>
          <p:nvPr/>
        </p:nvSpPr>
        <p:spPr>
          <a:xfrm>
            <a:off x="4022194" y="2809031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F4876-5700-4D69-B1B4-18770644A81D}"/>
              </a:ext>
            </a:extLst>
          </p:cNvPr>
          <p:cNvSpPr txBox="1"/>
          <p:nvPr/>
        </p:nvSpPr>
        <p:spPr>
          <a:xfrm>
            <a:off x="3979495" y="2307021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70EF6-03E2-4BE1-A775-946FAEB578B8}"/>
              </a:ext>
            </a:extLst>
          </p:cNvPr>
          <p:cNvSpPr txBox="1"/>
          <p:nvPr/>
        </p:nvSpPr>
        <p:spPr>
          <a:xfrm>
            <a:off x="4029474" y="1745937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0518CD-98BE-4D8C-AD1C-203B48F3177E}"/>
              </a:ext>
            </a:extLst>
          </p:cNvPr>
          <p:cNvSpPr/>
          <p:nvPr/>
        </p:nvSpPr>
        <p:spPr>
          <a:xfrm>
            <a:off x="1668127" y="114571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74D7FD-12FB-4B06-84CC-1770AC1D029F}"/>
              </a:ext>
            </a:extLst>
          </p:cNvPr>
          <p:cNvSpPr txBox="1"/>
          <p:nvPr/>
        </p:nvSpPr>
        <p:spPr>
          <a:xfrm>
            <a:off x="1693842" y="2787046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teacher_t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B395ED-86DE-429E-98B9-C07BF3B694D3}"/>
              </a:ext>
            </a:extLst>
          </p:cNvPr>
          <p:cNvSpPr txBox="1"/>
          <p:nvPr/>
        </p:nvSpPr>
        <p:spPr>
          <a:xfrm>
            <a:off x="1691783" y="2285036"/>
            <a:ext cx="88678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exam_t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C365A-A331-464A-985E-51C86D89B48C}"/>
              </a:ext>
            </a:extLst>
          </p:cNvPr>
          <p:cNvSpPr txBox="1"/>
          <p:nvPr/>
        </p:nvSpPr>
        <p:spPr>
          <a:xfrm>
            <a:off x="1701122" y="1723952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campus_t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160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1977432-0CDC-43AD-A21F-8A15B0DF5108}"/>
              </a:ext>
            </a:extLst>
          </p:cNvPr>
          <p:cNvSpPr/>
          <p:nvPr/>
        </p:nvSpPr>
        <p:spPr>
          <a:xfrm>
            <a:off x="2606338" y="3180307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26896-359B-4D78-BEBB-C54ACCC44209}"/>
              </a:ext>
            </a:extLst>
          </p:cNvPr>
          <p:cNvSpPr txBox="1"/>
          <p:nvPr/>
        </p:nvSpPr>
        <p:spPr>
          <a:xfrm>
            <a:off x="2587903" y="293435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797FBF-1407-4B12-9E6A-2FCFC362BC8E}"/>
              </a:ext>
            </a:extLst>
          </p:cNvPr>
          <p:cNvSpPr txBox="1"/>
          <p:nvPr/>
        </p:nvSpPr>
        <p:spPr>
          <a:xfrm>
            <a:off x="4929393" y="3088246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CB7CE-E926-49BB-83ED-3B47E9E0133D}"/>
              </a:ext>
            </a:extLst>
          </p:cNvPr>
          <p:cNvSpPr txBox="1"/>
          <p:nvPr/>
        </p:nvSpPr>
        <p:spPr>
          <a:xfrm>
            <a:off x="1125981" y="34403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76B0FC-5595-4C55-9202-426C28427003}"/>
              </a:ext>
            </a:extLst>
          </p:cNvPr>
          <p:cNvSpPr txBox="1"/>
          <p:nvPr/>
        </p:nvSpPr>
        <p:spPr>
          <a:xfrm>
            <a:off x="3602958" y="3461649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D9E1B-00F2-4C16-8DF1-CA3E3A67E3DA}"/>
              </a:ext>
            </a:extLst>
          </p:cNvPr>
          <p:cNvSpPr txBox="1"/>
          <p:nvPr/>
        </p:nvSpPr>
        <p:spPr>
          <a:xfrm>
            <a:off x="175097" y="4046277"/>
            <a:ext cx="10248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How Application Process going to report its page family information to LMM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LMM provides an API using which User space Application can perform page family registration with LMM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2F060-F666-4BDA-824F-86606BE90D4F}"/>
              </a:ext>
            </a:extLst>
          </p:cNvPr>
          <p:cNvSpPr txBox="1"/>
          <p:nvPr/>
        </p:nvSpPr>
        <p:spPr>
          <a:xfrm>
            <a:off x="2799964" y="4692559"/>
            <a:ext cx="65614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void</a:t>
            </a:r>
          </a:p>
          <a:p>
            <a:r>
              <a:rPr lang="en-US" sz="28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mm_instantiate_new_page_family</a:t>
            </a:r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</a:p>
          <a:p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(char *</a:t>
            </a:r>
            <a:r>
              <a:rPr lang="en-US" sz="28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uint32_t </a:t>
            </a:r>
            <a:r>
              <a:rPr lang="en-US" sz="28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struct_size</a:t>
            </a:r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518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7" y="481442"/>
            <a:ext cx="38584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Page Family Registration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A738F-EE8E-4564-8ACE-36A4668AD276}"/>
              </a:ext>
            </a:extLst>
          </p:cNvPr>
          <p:cNvSpPr/>
          <p:nvPr/>
        </p:nvSpPr>
        <p:spPr>
          <a:xfrm>
            <a:off x="9536349" y="67030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F42B3-5BC1-4031-94A4-10706C16F23B}"/>
              </a:ext>
            </a:extLst>
          </p:cNvPr>
          <p:cNvSpPr/>
          <p:nvPr/>
        </p:nvSpPr>
        <p:spPr>
          <a:xfrm>
            <a:off x="5171607" y="68380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49B1D9-2C79-49DB-9A5A-DA5313D8E1FC}"/>
              </a:ext>
            </a:extLst>
          </p:cNvPr>
          <p:cNvSpPr/>
          <p:nvPr/>
        </p:nvSpPr>
        <p:spPr>
          <a:xfrm rot="10800000">
            <a:off x="6878320" y="95079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C8BA-8E57-4F00-BAD2-6FB340076D03}"/>
              </a:ext>
            </a:extLst>
          </p:cNvPr>
          <p:cNvSpPr txBox="1"/>
          <p:nvPr/>
        </p:nvSpPr>
        <p:spPr>
          <a:xfrm>
            <a:off x="7379121" y="683801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person_t</a:t>
            </a:r>
            <a:r>
              <a:rPr lang="en-US" sz="1400" dirty="0">
                <a:latin typeface="Baskerville Old Face" panose="02020602080505020303" pitchFamily="18" charset="0"/>
              </a:rPr>
              <a:t>, 60B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3BE0C-F05C-4BDC-BCC7-B06859886D5D}"/>
              </a:ext>
            </a:extLst>
          </p:cNvPr>
          <p:cNvSpPr txBox="1"/>
          <p:nvPr/>
        </p:nvSpPr>
        <p:spPr>
          <a:xfrm>
            <a:off x="7379120" y="1130701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Occupation_t</a:t>
            </a:r>
            <a:r>
              <a:rPr lang="en-US" sz="1400" dirty="0">
                <a:latin typeface="Baskerville Old Face" panose="02020602080505020303" pitchFamily="18" charset="0"/>
              </a:rPr>
              <a:t>, 120B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B6859E-611E-4B91-9193-6CF29B653987}"/>
              </a:ext>
            </a:extLst>
          </p:cNvPr>
          <p:cNvSpPr/>
          <p:nvPr/>
        </p:nvSpPr>
        <p:spPr>
          <a:xfrm rot="10800000">
            <a:off x="6878320" y="1358610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A2EEB-3ACF-4D04-9131-93C1BCD370E9}"/>
              </a:ext>
            </a:extLst>
          </p:cNvPr>
          <p:cNvSpPr txBox="1"/>
          <p:nvPr/>
        </p:nvSpPr>
        <p:spPr>
          <a:xfrm>
            <a:off x="7379120" y="1644194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student_t</a:t>
            </a:r>
            <a:r>
              <a:rPr lang="en-US" sz="1400" dirty="0">
                <a:latin typeface="Baskerville Old Face" panose="02020602080505020303" pitchFamily="18" charset="0"/>
              </a:rPr>
              <a:t>, 75B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1930B8-3910-477C-8C08-E71C081C6EF2}"/>
              </a:ext>
            </a:extLst>
          </p:cNvPr>
          <p:cNvSpPr/>
          <p:nvPr/>
        </p:nvSpPr>
        <p:spPr>
          <a:xfrm rot="10800000">
            <a:off x="6878320" y="1872103"/>
            <a:ext cx="2194560" cy="162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B15AB-54B3-49DF-B97E-DA8EC63D8321}"/>
              </a:ext>
            </a:extLst>
          </p:cNvPr>
          <p:cNvSpPr/>
          <p:nvPr/>
        </p:nvSpPr>
        <p:spPr>
          <a:xfrm>
            <a:off x="3982271" y="1130701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3591A-13C0-441B-8CBE-6BB8344D203C}"/>
              </a:ext>
            </a:extLst>
          </p:cNvPr>
          <p:cNvSpPr txBox="1"/>
          <p:nvPr/>
        </p:nvSpPr>
        <p:spPr>
          <a:xfrm>
            <a:off x="4022194" y="2809031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F4876-5700-4D69-B1B4-18770644A81D}"/>
              </a:ext>
            </a:extLst>
          </p:cNvPr>
          <p:cNvSpPr txBox="1"/>
          <p:nvPr/>
        </p:nvSpPr>
        <p:spPr>
          <a:xfrm>
            <a:off x="3979495" y="2307021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70EF6-03E2-4BE1-A775-946FAEB578B8}"/>
              </a:ext>
            </a:extLst>
          </p:cNvPr>
          <p:cNvSpPr txBox="1"/>
          <p:nvPr/>
        </p:nvSpPr>
        <p:spPr>
          <a:xfrm>
            <a:off x="4029474" y="1745937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797FBF-1407-4B12-9E6A-2FCFC362BC8E}"/>
              </a:ext>
            </a:extLst>
          </p:cNvPr>
          <p:cNvSpPr txBox="1"/>
          <p:nvPr/>
        </p:nvSpPr>
        <p:spPr>
          <a:xfrm>
            <a:off x="4929393" y="3088246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76B0FC-5595-4C55-9202-426C28427003}"/>
              </a:ext>
            </a:extLst>
          </p:cNvPr>
          <p:cNvSpPr txBox="1"/>
          <p:nvPr/>
        </p:nvSpPr>
        <p:spPr>
          <a:xfrm>
            <a:off x="3602958" y="3461649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7C358-13E6-4869-9DAD-0ED487FFA6A3}"/>
              </a:ext>
            </a:extLst>
          </p:cNvPr>
          <p:cNvSpPr txBox="1"/>
          <p:nvPr/>
        </p:nvSpPr>
        <p:spPr>
          <a:xfrm>
            <a:off x="1919889" y="4994370"/>
            <a:ext cx="69477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mm_instantiate_new_page_family</a:t>
            </a:r>
            <a:r>
              <a:rPr lang="en-US" dirty="0">
                <a:latin typeface="Baskerville Old Face" panose="02020602080505020303" pitchFamily="18" charset="0"/>
              </a:rPr>
              <a:t> ( “</a:t>
            </a:r>
            <a:r>
              <a:rPr lang="en-US" dirty="0" err="1">
                <a:latin typeface="Baskerville Old Face" panose="02020602080505020303" pitchFamily="18" charset="0"/>
              </a:rPr>
              <a:t>person_t</a:t>
            </a:r>
            <a:r>
              <a:rPr lang="en-US" dirty="0">
                <a:latin typeface="Baskerville Old Face" panose="02020602080505020303" pitchFamily="18" charset="0"/>
              </a:rPr>
              <a:t>”,         </a:t>
            </a:r>
            <a:r>
              <a:rPr lang="en-US" dirty="0" err="1">
                <a:latin typeface="Baskerville Old Face" panose="02020602080505020303" pitchFamily="18" charset="0"/>
              </a:rPr>
              <a:t>sizeof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  <a:r>
              <a:rPr lang="en-US" dirty="0" err="1">
                <a:latin typeface="Baskerville Old Face" panose="02020602080505020303" pitchFamily="18" charset="0"/>
              </a:rPr>
              <a:t>person_t</a:t>
            </a:r>
            <a:r>
              <a:rPr lang="en-US" dirty="0">
                <a:latin typeface="Baskerville Old Face" panose="02020602080505020303" pitchFamily="18" charset="0"/>
              </a:rPr>
              <a:t>));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mm_instantiate_new_page_family</a:t>
            </a:r>
            <a:r>
              <a:rPr lang="en-US" dirty="0">
                <a:latin typeface="Baskerville Old Face" panose="02020602080505020303" pitchFamily="18" charset="0"/>
              </a:rPr>
              <a:t> ( “</a:t>
            </a:r>
            <a:r>
              <a:rPr lang="en-US" dirty="0" err="1">
                <a:latin typeface="Baskerville Old Face" panose="02020602080505020303" pitchFamily="18" charset="0"/>
              </a:rPr>
              <a:t>occupation_t</a:t>
            </a:r>
            <a:r>
              <a:rPr lang="en-US" dirty="0">
                <a:latin typeface="Baskerville Old Face" panose="02020602080505020303" pitchFamily="18" charset="0"/>
              </a:rPr>
              <a:t>”, </a:t>
            </a:r>
            <a:r>
              <a:rPr lang="en-US" dirty="0" err="1">
                <a:latin typeface="Baskerville Old Face" panose="02020602080505020303" pitchFamily="18" charset="0"/>
              </a:rPr>
              <a:t>sizeof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  <a:r>
              <a:rPr lang="en-US" dirty="0" err="1">
                <a:latin typeface="Baskerville Old Face" panose="02020602080505020303" pitchFamily="18" charset="0"/>
              </a:rPr>
              <a:t>Occupation_t</a:t>
            </a:r>
            <a:r>
              <a:rPr lang="en-US" dirty="0">
                <a:latin typeface="Baskerville Old Face" panose="02020602080505020303" pitchFamily="18" charset="0"/>
              </a:rPr>
              <a:t>));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mm_instantiate_new_page_family</a:t>
            </a:r>
            <a:r>
              <a:rPr lang="en-US" dirty="0">
                <a:latin typeface="Baskerville Old Face" panose="02020602080505020303" pitchFamily="18" charset="0"/>
              </a:rPr>
              <a:t> ( “</a:t>
            </a:r>
            <a:r>
              <a:rPr lang="en-US" dirty="0" err="1">
                <a:latin typeface="Baskerville Old Face" panose="02020602080505020303" pitchFamily="18" charset="0"/>
              </a:rPr>
              <a:t>student_t</a:t>
            </a:r>
            <a:r>
              <a:rPr lang="en-US" dirty="0">
                <a:latin typeface="Baskerville Old Face" panose="02020602080505020303" pitchFamily="18" charset="0"/>
              </a:rPr>
              <a:t>”,        </a:t>
            </a:r>
            <a:r>
              <a:rPr lang="en-US" dirty="0" err="1">
                <a:latin typeface="Baskerville Old Face" panose="02020602080505020303" pitchFamily="18" charset="0"/>
              </a:rPr>
              <a:t>sizeof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  <a:r>
              <a:rPr lang="en-US" dirty="0" err="1">
                <a:latin typeface="Baskerville Old Face" panose="02020602080505020303" pitchFamily="18" charset="0"/>
              </a:rPr>
              <a:t>student_t</a:t>
            </a:r>
            <a:r>
              <a:rPr lang="en-US" dirty="0">
                <a:latin typeface="Baskerville Old Face" panose="02020602080505020303" pitchFamily="18" charset="0"/>
              </a:rPr>
              <a:t>));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E18203-EE66-4BF8-A77F-660B4B40B3F2}"/>
              </a:ext>
            </a:extLst>
          </p:cNvPr>
          <p:cNvSpPr txBox="1"/>
          <p:nvPr/>
        </p:nvSpPr>
        <p:spPr>
          <a:xfrm>
            <a:off x="175097" y="4046277"/>
            <a:ext cx="10248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How Application Process going to report its page family information to LMM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LMM provides an API using which User space Application can perform page family registration with LMM</a:t>
            </a:r>
          </a:p>
        </p:txBody>
      </p:sp>
    </p:spTree>
    <p:extLst>
      <p:ext uri="{BB962C8B-B14F-4D97-AF65-F5344CB8AC3E}">
        <p14:creationId xmlns:p14="http://schemas.microsoft.com/office/powerpoint/2010/main" val="48186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A32109-97F5-4E60-ABD6-0EA5867FA96E}"/>
              </a:ext>
            </a:extLst>
          </p:cNvPr>
          <p:cNvSpPr txBox="1"/>
          <p:nvPr/>
        </p:nvSpPr>
        <p:spPr>
          <a:xfrm>
            <a:off x="208390" y="486319"/>
            <a:ext cx="11751935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Baskerville Old Face" panose="02020602080505020303" pitchFamily="18" charset="0"/>
              </a:rPr>
              <a:t>Algorithm :</a:t>
            </a:r>
          </a:p>
          <a:p>
            <a:r>
              <a:rPr lang="en-US" sz="2000" b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void</a:t>
            </a:r>
          </a:p>
          <a:p>
            <a:r>
              <a:rPr lang="en-US" sz="2000" b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mm_instantiate_new_page_family</a:t>
            </a:r>
            <a:r>
              <a:rPr lang="en-US" sz="2000" b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</a:p>
          <a:p>
            <a:r>
              <a:rPr lang="en-US" sz="2000" b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(char *</a:t>
            </a:r>
            <a:r>
              <a:rPr lang="en-US" sz="2000" b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2000" b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uint32_t </a:t>
            </a:r>
            <a:r>
              <a:rPr lang="en-US" sz="2000" b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struct_size</a:t>
            </a:r>
            <a:r>
              <a:rPr lang="en-US" sz="2000" b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{</a:t>
            </a:r>
          </a:p>
          <a:p>
            <a:endParaRPr lang="en-US" sz="20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1</a:t>
            </a:r>
            <a:r>
              <a:rPr lang="en-US" sz="2000" dirty="0">
                <a:latin typeface="Baskerville Old Face" panose="02020602080505020303" pitchFamily="18" charset="0"/>
              </a:rPr>
              <a:t>. Create a new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latin typeface="Baskerville Old Face" panose="02020602080505020303" pitchFamily="18" charset="0"/>
              </a:rPr>
              <a:t> from arguments</a:t>
            </a:r>
          </a:p>
          <a:p>
            <a:endParaRPr lang="en-US" sz="20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2</a:t>
            </a:r>
            <a:r>
              <a:rPr lang="en-US" sz="2000" dirty="0">
                <a:latin typeface="Baskerville Old Face" panose="02020602080505020303" pitchFamily="18" charset="0"/>
              </a:rPr>
              <a:t>. if LMM has not taken its first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VM page,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allocate one from kernel, update 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ptr</a:t>
            </a:r>
            <a:endParaRPr lang="en-US" sz="20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	3. check if new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can accommodate in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VM page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		3.a Yes, then insert new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entry into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, end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		3.b No, allocate a new VM page from kernel, update linked list and update 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to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	point to most recent allocated VM page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4. insert new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</a:t>
            </a:r>
            <a:r>
              <a:rPr lang="en-US" sz="2000" dirty="0">
                <a:latin typeface="Baskerville Old Face" panose="02020602080505020303" pitchFamily="18" charset="0"/>
              </a:rPr>
              <a:t>into current 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VM page</a:t>
            </a: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495DE-32DB-4744-A0F6-D4601845EFDB}"/>
              </a:ext>
            </a:extLst>
          </p:cNvPr>
          <p:cNvSpPr txBox="1"/>
          <p:nvPr/>
        </p:nvSpPr>
        <p:spPr>
          <a:xfrm>
            <a:off x="6746240" y="669199"/>
            <a:ext cx="45352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/*New Global Variable*/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static </a:t>
            </a:r>
            <a:r>
              <a:rPr lang="en-US" sz="2000" dirty="0" err="1">
                <a:latin typeface="Baskerville Old Face" panose="02020602080505020303" pitchFamily="18" charset="0"/>
              </a:rPr>
              <a:t>vm_page_for_families_t</a:t>
            </a:r>
            <a:r>
              <a:rPr lang="en-US" sz="2000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*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= NULL;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53903E-61DF-48E4-9F4B-91671D3FA2C1}"/>
              </a:ext>
            </a:extLst>
          </p:cNvPr>
          <p:cNvSpPr/>
          <p:nvPr/>
        </p:nvSpPr>
        <p:spPr>
          <a:xfrm>
            <a:off x="9469120" y="2428427"/>
            <a:ext cx="826082" cy="69069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03DE95-79FA-476F-9B2A-298A42CC1367}"/>
              </a:ext>
            </a:extLst>
          </p:cNvPr>
          <p:cNvSpPr/>
          <p:nvPr/>
        </p:nvSpPr>
        <p:spPr>
          <a:xfrm>
            <a:off x="10800080" y="2428427"/>
            <a:ext cx="826082" cy="69069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5E353-0004-45C4-BC95-98AE183F0361}"/>
              </a:ext>
            </a:extLst>
          </p:cNvPr>
          <p:cNvSpPr txBox="1"/>
          <p:nvPr/>
        </p:nvSpPr>
        <p:spPr>
          <a:xfrm>
            <a:off x="4287520" y="6426407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Lets Code !</a:t>
            </a:r>
          </a:p>
        </p:txBody>
      </p:sp>
    </p:spTree>
    <p:extLst>
      <p:ext uri="{BB962C8B-B14F-4D97-AF65-F5344CB8AC3E}">
        <p14:creationId xmlns:p14="http://schemas.microsoft.com/office/powerpoint/2010/main" val="175890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A4D86-308C-4758-B36A-4EE119C3A0FC}"/>
              </a:ext>
            </a:extLst>
          </p:cNvPr>
          <p:cNvSpPr txBox="1"/>
          <p:nvPr/>
        </p:nvSpPr>
        <p:spPr>
          <a:xfrm>
            <a:off x="650240" y="802640"/>
            <a:ext cx="10237098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askerville Old Face" panose="02020602080505020303" pitchFamily="18" charset="0"/>
              </a:rPr>
              <a:t>Coding Assignments - Guidelines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Pls do Assignments religiously as given at several places in this course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The code that you write in assignments need to be written in project files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In subsequent sections, the code/APIs you write as a part of assignment shall be used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 will assume you have successfully completed assignments and tested well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I will not discuss Code implementation which you will do as Assignments in the course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Questions which relates to test you C skills (and not conceptual) are given as assignments</a:t>
            </a:r>
          </a:p>
          <a:p>
            <a:pPr lvl="1"/>
            <a:endParaRPr lang="en-US" sz="2000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Do not dare to skip assignments, It will create problem from you..  </a:t>
            </a:r>
            <a:r>
              <a:rPr lang="en-US" sz="2000" dirty="0">
                <a:latin typeface="Baskerville Old Face" panose="02020602080505020303" pitchFamily="18" charset="0"/>
                <a:sym typeface="Wingdings" panose="05000000000000000000" pitchFamily="2" charset="2"/>
              </a:rPr>
              <a:t>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sym typeface="Wingdings" panose="05000000000000000000" pitchFamily="2" charset="2"/>
              </a:rPr>
              <a:t>I will also provide solution to all assignments, but you are encouraged to do them yourselves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08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6B86F-4F98-47D9-95B0-5F06B0F2AD44}"/>
              </a:ext>
            </a:extLst>
          </p:cNvPr>
          <p:cNvSpPr txBox="1"/>
          <p:nvPr/>
        </p:nvSpPr>
        <p:spPr>
          <a:xfrm>
            <a:off x="0" y="0"/>
            <a:ext cx="532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Test your C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9B016-181C-4A13-8683-B8ECF3336035}"/>
              </a:ext>
            </a:extLst>
          </p:cNvPr>
          <p:cNvSpPr txBox="1"/>
          <p:nvPr/>
        </p:nvSpPr>
        <p:spPr>
          <a:xfrm>
            <a:off x="175097" y="481442"/>
            <a:ext cx="530114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Test your C Skills : Writing a Looping Macros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CF389-32C2-4D8D-85EC-9AA87DF9CAC6}"/>
              </a:ext>
            </a:extLst>
          </p:cNvPr>
          <p:cNvSpPr txBox="1"/>
          <p:nvPr/>
        </p:nvSpPr>
        <p:spPr>
          <a:xfrm>
            <a:off x="314960" y="1168400"/>
            <a:ext cx="11461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Write a Looping macro in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mm.h</a:t>
            </a:r>
            <a:r>
              <a:rPr lang="en-US" sz="2000" dirty="0">
                <a:latin typeface="Baskerville Old Face" panose="02020602080505020303" pitchFamily="18" charset="0"/>
              </a:rPr>
              <a:t> file to iterate over all page families ( </a:t>
            </a:r>
            <a:r>
              <a:rPr lang="en-US" sz="2000" dirty="0" err="1"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latin typeface="Baskerville Old Face" panose="02020602080505020303" pitchFamily="18" charset="0"/>
              </a:rPr>
              <a:t> ) objects stored in a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virtual Memory page ( </a:t>
            </a:r>
            <a:r>
              <a:rPr lang="en-US" sz="2000" dirty="0" err="1">
                <a:latin typeface="Baskerville Old Face" panose="02020602080505020303" pitchFamily="18" charset="0"/>
              </a:rPr>
              <a:t>vm_page_for_families_t</a:t>
            </a:r>
            <a:r>
              <a:rPr lang="en-US" sz="2000" dirty="0">
                <a:latin typeface="Baskerville Old Face" panose="02020602080505020303" pitchFamily="18" charset="0"/>
              </a:rPr>
              <a:t> ) from bottom to 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A807D-050D-4BF4-91A7-26D895F04F58}"/>
              </a:ext>
            </a:extLst>
          </p:cNvPr>
          <p:cNvSpPr txBox="1"/>
          <p:nvPr/>
        </p:nvSpPr>
        <p:spPr>
          <a:xfrm>
            <a:off x="314960" y="2109139"/>
            <a:ext cx="90316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latin typeface="Baskerville Old Face" panose="02020602080505020303" pitchFamily="18" charset="0"/>
              </a:rPr>
              <a:t>curr</a:t>
            </a:r>
            <a:r>
              <a:rPr lang="en-US" sz="2000" dirty="0">
                <a:latin typeface="Baskerville Old Face" panose="02020602080505020303" pitchFamily="18" charset="0"/>
              </a:rPr>
              <a:t> = NULL;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#define ITERATE_PAGE_FAMILIES_BEGIN(</a:t>
            </a:r>
            <a:r>
              <a:rPr lang="en-US" sz="2000" dirty="0" err="1">
                <a:latin typeface="Baskerville Old Face" panose="02020602080505020303" pitchFamily="18" charset="0"/>
              </a:rPr>
              <a:t>vm_page_for_families_ptr</a:t>
            </a:r>
            <a:r>
              <a:rPr lang="en-US" sz="2000" dirty="0">
                <a:latin typeface="Baskerville Old Face" panose="02020602080505020303" pitchFamily="18" charset="0"/>
              </a:rPr>
              <a:t>, </a:t>
            </a:r>
            <a:r>
              <a:rPr lang="en-US" sz="2000" dirty="0" err="1">
                <a:latin typeface="Baskerville Old Face" panose="02020602080505020303" pitchFamily="18" charset="0"/>
              </a:rPr>
              <a:t>curr</a:t>
            </a:r>
            <a:r>
              <a:rPr lang="en-US" sz="2000" dirty="0">
                <a:latin typeface="Baskerville Old Face" panose="02020602080505020303" pitchFamily="18" charset="0"/>
              </a:rPr>
              <a:t>)	\</a:t>
            </a: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#define ITERATE_PAGE_FAMILIES_END(</a:t>
            </a:r>
            <a:r>
              <a:rPr lang="en-US" sz="2000" dirty="0" err="1">
                <a:latin typeface="Baskerville Old Face" panose="02020602080505020303" pitchFamily="18" charset="0"/>
              </a:rPr>
              <a:t>vm_page_for_families_ptr</a:t>
            </a:r>
            <a:r>
              <a:rPr lang="en-US" sz="2000" dirty="0">
                <a:latin typeface="Baskerville Old Face" panose="02020602080505020303" pitchFamily="18" charset="0"/>
              </a:rPr>
              <a:t>, </a:t>
            </a:r>
            <a:r>
              <a:rPr lang="en-US" sz="2000" dirty="0" err="1">
                <a:latin typeface="Baskerville Old Face" panose="02020602080505020303" pitchFamily="18" charset="0"/>
              </a:rPr>
              <a:t>curr</a:t>
            </a:r>
            <a:r>
              <a:rPr lang="en-US" sz="2000" dirty="0">
                <a:latin typeface="Baskerville Old Face" panose="02020602080505020303" pitchFamily="18" charset="0"/>
              </a:rPr>
              <a:t>)    	\</a:t>
            </a: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definition&gt;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014EB-0AAB-4F3B-BC77-8129C01BD03C}"/>
              </a:ext>
            </a:extLst>
          </p:cNvPr>
          <p:cNvSpPr/>
          <p:nvPr/>
        </p:nvSpPr>
        <p:spPr>
          <a:xfrm>
            <a:off x="10301791" y="1787664"/>
            <a:ext cx="976008" cy="2814889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15F92-E9C7-477F-9E4C-4DA3A1C6CA40}"/>
              </a:ext>
            </a:extLst>
          </p:cNvPr>
          <p:cNvSpPr txBox="1"/>
          <p:nvPr/>
        </p:nvSpPr>
        <p:spPr>
          <a:xfrm>
            <a:off x="10341714" y="4034008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D018E-57BB-4207-BB71-D06E671039BD}"/>
              </a:ext>
            </a:extLst>
          </p:cNvPr>
          <p:cNvSpPr txBox="1"/>
          <p:nvPr/>
        </p:nvSpPr>
        <p:spPr>
          <a:xfrm>
            <a:off x="10299015" y="3531998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1EFC9-9021-45E5-A587-AD16BA64C63C}"/>
              </a:ext>
            </a:extLst>
          </p:cNvPr>
          <p:cNvSpPr txBox="1"/>
          <p:nvPr/>
        </p:nvSpPr>
        <p:spPr>
          <a:xfrm>
            <a:off x="10348994" y="2970914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6C0154-8D3E-4F2C-8AE0-FCB505A40407}"/>
              </a:ext>
            </a:extLst>
          </p:cNvPr>
          <p:cNvSpPr txBox="1"/>
          <p:nvPr/>
        </p:nvSpPr>
        <p:spPr>
          <a:xfrm>
            <a:off x="9739598" y="4670454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E3BFD-6426-4FFF-8A4A-8094F904A4BF}"/>
              </a:ext>
            </a:extLst>
          </p:cNvPr>
          <p:cNvSpPr txBox="1"/>
          <p:nvPr/>
        </p:nvSpPr>
        <p:spPr>
          <a:xfrm>
            <a:off x="10348994" y="2413744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8C4EF-ACDC-4D69-BD45-4D7E572D188A}"/>
              </a:ext>
            </a:extLst>
          </p:cNvPr>
          <p:cNvSpPr txBox="1"/>
          <p:nvPr/>
        </p:nvSpPr>
        <p:spPr>
          <a:xfrm>
            <a:off x="10348994" y="1875121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00085-C3FB-4708-A834-55C4BF264DB6}"/>
              </a:ext>
            </a:extLst>
          </p:cNvPr>
          <p:cNvSpPr txBox="1"/>
          <p:nvPr/>
        </p:nvSpPr>
        <p:spPr>
          <a:xfrm>
            <a:off x="314960" y="4906064"/>
            <a:ext cx="1113317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Macro must iterate over page families starting from bottom of VM page towards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Macro must set </a:t>
            </a:r>
            <a:r>
              <a:rPr lang="en-US" sz="2000" i="1" dirty="0" err="1">
                <a:latin typeface="Baskerville Old Face" panose="02020602080505020303" pitchFamily="18" charset="0"/>
              </a:rPr>
              <a:t>curr</a:t>
            </a:r>
            <a:r>
              <a:rPr lang="en-US" sz="2000" dirty="0">
                <a:latin typeface="Baskerville Old Face" panose="02020602080505020303" pitchFamily="18" charset="0"/>
              </a:rPr>
              <a:t> to current </a:t>
            </a:r>
            <a:r>
              <a:rPr lang="en-US" sz="2000" i="1" dirty="0" err="1"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latin typeface="Baskerville Old Face" panose="02020602080505020303" pitchFamily="18" charset="0"/>
              </a:rPr>
              <a:t> object present in VM 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Macro must terminate when empty </a:t>
            </a:r>
            <a:r>
              <a:rPr lang="en-US" sz="2000" i="1" dirty="0" err="1">
                <a:latin typeface="Baskerville Old Face" panose="02020602080505020303" pitchFamily="18" charset="0"/>
              </a:rPr>
              <a:t>vm_page_family_t</a:t>
            </a:r>
            <a:r>
              <a:rPr lang="en-US" sz="2000" i="1" dirty="0"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object is encountered (identified by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struct_size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= 0</a:t>
            </a:r>
            <a:r>
              <a:rPr lang="en-US" sz="2000" dirty="0">
                <a:latin typeface="Baskerville Old Face" panose="02020602080505020303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Macro must not overshoot VM Page upper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skerville Old Face" panose="02020602080505020303" pitchFamily="18" charset="0"/>
              </a:rPr>
              <a:t>Never Written Looping Macros in C ?  -&gt; Refer 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Appendix B </a:t>
            </a:r>
            <a:r>
              <a:rPr lang="en-US" sz="2000" dirty="0">
                <a:latin typeface="Baskerville Old Face" panose="02020602080505020303" pitchFamily="18" charset="0"/>
              </a:rPr>
              <a:t>section in the course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194C81-442B-43FE-A2AD-AD741075A5DE}"/>
              </a:ext>
            </a:extLst>
          </p:cNvPr>
          <p:cNvSpPr txBox="1"/>
          <p:nvPr/>
        </p:nvSpPr>
        <p:spPr>
          <a:xfrm>
            <a:off x="8138160" y="2291214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o/p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2FC33-BDC2-44E9-AEE3-EAF247EFF6E3}"/>
              </a:ext>
            </a:extLst>
          </p:cNvPr>
          <p:cNvSpPr txBox="1"/>
          <p:nvPr/>
        </p:nvSpPr>
        <p:spPr>
          <a:xfrm>
            <a:off x="9139914" y="4229960"/>
            <a:ext cx="1199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Baskerville Old Face" panose="02020602080505020303" pitchFamily="18" charset="0"/>
              </a:rPr>
              <a:t>vm_page_family_t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134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6B86F-4F98-47D9-95B0-5F06B0F2AD44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9B016-181C-4A13-8683-B8ECF3336035}"/>
              </a:ext>
            </a:extLst>
          </p:cNvPr>
          <p:cNvSpPr txBox="1"/>
          <p:nvPr/>
        </p:nvSpPr>
        <p:spPr>
          <a:xfrm>
            <a:off x="175097" y="481442"/>
            <a:ext cx="301514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Page Family Instantiation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AE9374-A90E-4C91-8125-0559EB39EA2D}"/>
              </a:ext>
            </a:extLst>
          </p:cNvPr>
          <p:cNvSpPr/>
          <p:nvPr/>
        </p:nvSpPr>
        <p:spPr>
          <a:xfrm>
            <a:off x="5485047" y="236329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292DE7-321A-4B0B-B7B0-26837E896CB6}"/>
              </a:ext>
            </a:extLst>
          </p:cNvPr>
          <p:cNvSpPr txBox="1"/>
          <p:nvPr/>
        </p:nvSpPr>
        <p:spPr>
          <a:xfrm>
            <a:off x="5524970" y="4041629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3F2E36-824D-476D-B7B1-ACBEF6D817DC}"/>
              </a:ext>
            </a:extLst>
          </p:cNvPr>
          <p:cNvSpPr txBox="1"/>
          <p:nvPr/>
        </p:nvSpPr>
        <p:spPr>
          <a:xfrm>
            <a:off x="6432169" y="4320844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90D9-7EF6-494C-AB17-C216F60A5408}"/>
              </a:ext>
            </a:extLst>
          </p:cNvPr>
          <p:cNvSpPr/>
          <p:nvPr/>
        </p:nvSpPr>
        <p:spPr>
          <a:xfrm>
            <a:off x="804421" y="12183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static </a:t>
            </a:r>
            <a:r>
              <a:rPr lang="en-US" dirty="0" err="1"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*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= NULL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0AD937-1822-4AED-A117-CF3E81EF44B9}"/>
              </a:ext>
            </a:extLst>
          </p:cNvPr>
          <p:cNvSpPr txBox="1"/>
          <p:nvPr/>
        </p:nvSpPr>
        <p:spPr>
          <a:xfrm>
            <a:off x="5482271" y="461017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</p:spTree>
    <p:extLst>
      <p:ext uri="{BB962C8B-B14F-4D97-AF65-F5344CB8AC3E}">
        <p14:creationId xmlns:p14="http://schemas.microsoft.com/office/powerpoint/2010/main" val="54459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7" grpId="0"/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6B86F-4F98-47D9-95B0-5F06B0F2AD44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9B016-181C-4A13-8683-B8ECF3336035}"/>
              </a:ext>
            </a:extLst>
          </p:cNvPr>
          <p:cNvSpPr txBox="1"/>
          <p:nvPr/>
        </p:nvSpPr>
        <p:spPr>
          <a:xfrm>
            <a:off x="175097" y="481442"/>
            <a:ext cx="301514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Page Family Instantiation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AE9374-A90E-4C91-8125-0559EB39EA2D}"/>
              </a:ext>
            </a:extLst>
          </p:cNvPr>
          <p:cNvSpPr/>
          <p:nvPr/>
        </p:nvSpPr>
        <p:spPr>
          <a:xfrm>
            <a:off x="5485047" y="236329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292DE7-321A-4B0B-B7B0-26837E896CB6}"/>
              </a:ext>
            </a:extLst>
          </p:cNvPr>
          <p:cNvSpPr txBox="1"/>
          <p:nvPr/>
        </p:nvSpPr>
        <p:spPr>
          <a:xfrm>
            <a:off x="5524970" y="4041629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45933E-9E75-48E6-9817-CDDE2EAE7BE8}"/>
              </a:ext>
            </a:extLst>
          </p:cNvPr>
          <p:cNvSpPr txBox="1"/>
          <p:nvPr/>
        </p:nvSpPr>
        <p:spPr>
          <a:xfrm>
            <a:off x="5482271" y="3539619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D2643-5605-42AD-AB7D-D3C9F5F05FA4}"/>
              </a:ext>
            </a:extLst>
          </p:cNvPr>
          <p:cNvSpPr txBox="1"/>
          <p:nvPr/>
        </p:nvSpPr>
        <p:spPr>
          <a:xfrm>
            <a:off x="5532250" y="2978535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16179-4A02-4447-B779-9971981C534B}"/>
              </a:ext>
            </a:extLst>
          </p:cNvPr>
          <p:cNvSpPr/>
          <p:nvPr/>
        </p:nvSpPr>
        <p:spPr>
          <a:xfrm>
            <a:off x="3170903" y="2378317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2A18B9-21A7-4687-A297-85ABEEA0B15D}"/>
              </a:ext>
            </a:extLst>
          </p:cNvPr>
          <p:cNvSpPr txBox="1"/>
          <p:nvPr/>
        </p:nvSpPr>
        <p:spPr>
          <a:xfrm>
            <a:off x="3196618" y="4019644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teacher_t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175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C3583E4-5616-493B-AB11-A825ABA22E76}"/>
              </a:ext>
            </a:extLst>
          </p:cNvPr>
          <p:cNvSpPr/>
          <p:nvPr/>
        </p:nvSpPr>
        <p:spPr>
          <a:xfrm>
            <a:off x="4109114" y="4412905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171C89-094F-41DC-8796-2E6A7C316F2A}"/>
              </a:ext>
            </a:extLst>
          </p:cNvPr>
          <p:cNvSpPr txBox="1"/>
          <p:nvPr/>
        </p:nvSpPr>
        <p:spPr>
          <a:xfrm>
            <a:off x="4090679" y="4166956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3F2E36-824D-476D-B7B1-ACBEF6D817DC}"/>
              </a:ext>
            </a:extLst>
          </p:cNvPr>
          <p:cNvSpPr txBox="1"/>
          <p:nvPr/>
        </p:nvSpPr>
        <p:spPr>
          <a:xfrm>
            <a:off x="6432169" y="4320844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90D9-7EF6-494C-AB17-C216F60A5408}"/>
              </a:ext>
            </a:extLst>
          </p:cNvPr>
          <p:cNvSpPr/>
          <p:nvPr/>
        </p:nvSpPr>
        <p:spPr>
          <a:xfrm>
            <a:off x="804421" y="12183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static </a:t>
            </a:r>
            <a:r>
              <a:rPr lang="en-US" dirty="0" err="1"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*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=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7EFC53-0EB0-42EB-8BB5-993220C063A7}"/>
              </a:ext>
            </a:extLst>
          </p:cNvPr>
          <p:cNvSpPr txBox="1"/>
          <p:nvPr/>
        </p:nvSpPr>
        <p:spPr>
          <a:xfrm>
            <a:off x="5524970" y="2417451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emp_t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44793E-F380-476E-A586-4B980558CFB6}"/>
              </a:ext>
            </a:extLst>
          </p:cNvPr>
          <p:cNvSpPr/>
          <p:nvPr/>
        </p:nvSpPr>
        <p:spPr>
          <a:xfrm>
            <a:off x="885645" y="2378317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12A1857D-30FF-4121-832C-C9772403129B}"/>
              </a:ext>
            </a:extLst>
          </p:cNvPr>
          <p:cNvSpPr/>
          <p:nvPr/>
        </p:nvSpPr>
        <p:spPr>
          <a:xfrm>
            <a:off x="1924483" y="4372840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7998F-420D-47C0-B34B-3BB556D4343F}"/>
              </a:ext>
            </a:extLst>
          </p:cNvPr>
          <p:cNvSpPr txBox="1"/>
          <p:nvPr/>
        </p:nvSpPr>
        <p:spPr>
          <a:xfrm>
            <a:off x="1906048" y="4126891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C27581-32D1-467F-AE3B-4DCE2C48C1E6}"/>
              </a:ext>
            </a:extLst>
          </p:cNvPr>
          <p:cNvSpPr txBox="1"/>
          <p:nvPr/>
        </p:nvSpPr>
        <p:spPr>
          <a:xfrm>
            <a:off x="804421" y="461017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0AD937-1822-4AED-A117-CF3E81EF44B9}"/>
              </a:ext>
            </a:extLst>
          </p:cNvPr>
          <p:cNvSpPr txBox="1"/>
          <p:nvPr/>
        </p:nvSpPr>
        <p:spPr>
          <a:xfrm>
            <a:off x="5482271" y="461017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68A7A4-CE95-4BB3-BDFA-A57F285E923D}"/>
              </a:ext>
            </a:extLst>
          </p:cNvPr>
          <p:cNvSpPr txBox="1"/>
          <p:nvPr/>
        </p:nvSpPr>
        <p:spPr>
          <a:xfrm>
            <a:off x="3099535" y="462395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</p:spTree>
    <p:extLst>
      <p:ext uri="{BB962C8B-B14F-4D97-AF65-F5344CB8AC3E}">
        <p14:creationId xmlns:p14="http://schemas.microsoft.com/office/powerpoint/2010/main" val="167289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6B86F-4F98-47D9-95B0-5F06B0F2AD44}"/>
              </a:ext>
            </a:extLst>
          </p:cNvPr>
          <p:cNvSpPr txBox="1"/>
          <p:nvPr/>
        </p:nvSpPr>
        <p:spPr>
          <a:xfrm>
            <a:off x="0" y="0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Page Family Registration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9B016-181C-4A13-8683-B8ECF3336035}"/>
              </a:ext>
            </a:extLst>
          </p:cNvPr>
          <p:cNvSpPr txBox="1"/>
          <p:nvPr/>
        </p:nvSpPr>
        <p:spPr>
          <a:xfrm>
            <a:off x="175097" y="481442"/>
            <a:ext cx="301514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Page Family Instantiation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90D9-7EF6-494C-AB17-C216F60A5408}"/>
              </a:ext>
            </a:extLst>
          </p:cNvPr>
          <p:cNvSpPr/>
          <p:nvPr/>
        </p:nvSpPr>
        <p:spPr>
          <a:xfrm>
            <a:off x="804421" y="12183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static </a:t>
            </a:r>
            <a:r>
              <a:rPr lang="en-US" dirty="0" err="1"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*</a:t>
            </a:r>
            <a:r>
              <a:rPr lang="en-US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first_vm_page_for_families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=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60B0B2-4C04-4764-BDE3-889587B6E645}"/>
              </a:ext>
            </a:extLst>
          </p:cNvPr>
          <p:cNvSpPr/>
          <p:nvPr/>
        </p:nvSpPr>
        <p:spPr>
          <a:xfrm>
            <a:off x="5485047" y="2363299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5BC3DA-224F-4223-BB26-A3F99AABB5F3}"/>
              </a:ext>
            </a:extLst>
          </p:cNvPr>
          <p:cNvSpPr txBox="1"/>
          <p:nvPr/>
        </p:nvSpPr>
        <p:spPr>
          <a:xfrm>
            <a:off x="5524970" y="4041629"/>
            <a:ext cx="83708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B209A-4DC2-452D-9C5D-769AF8AA9D56}"/>
              </a:ext>
            </a:extLst>
          </p:cNvPr>
          <p:cNvSpPr txBox="1"/>
          <p:nvPr/>
        </p:nvSpPr>
        <p:spPr>
          <a:xfrm>
            <a:off x="5482271" y="3539619"/>
            <a:ext cx="971741" cy="4924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occupation_t</a:t>
            </a:r>
            <a:endParaRPr lang="en-US" sz="12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18B43E-F870-487A-B756-A97339709813}"/>
              </a:ext>
            </a:extLst>
          </p:cNvPr>
          <p:cNvSpPr txBox="1"/>
          <p:nvPr/>
        </p:nvSpPr>
        <p:spPr>
          <a:xfrm>
            <a:off x="5532250" y="2978535"/>
            <a:ext cx="82747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person_t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60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F60D0C-7C5E-4523-BAD5-303EF4F6B51F}"/>
              </a:ext>
            </a:extLst>
          </p:cNvPr>
          <p:cNvSpPr/>
          <p:nvPr/>
        </p:nvSpPr>
        <p:spPr>
          <a:xfrm>
            <a:off x="3170903" y="2378317"/>
            <a:ext cx="976008" cy="2246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11DA5A-F930-4839-8884-A8CECB57C800}"/>
              </a:ext>
            </a:extLst>
          </p:cNvPr>
          <p:cNvSpPr txBox="1"/>
          <p:nvPr/>
        </p:nvSpPr>
        <p:spPr>
          <a:xfrm>
            <a:off x="3196618" y="4019644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teacher_t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175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FF13DD04-040C-4F27-BC31-9137A6B81DFE}"/>
              </a:ext>
            </a:extLst>
          </p:cNvPr>
          <p:cNvSpPr/>
          <p:nvPr/>
        </p:nvSpPr>
        <p:spPr>
          <a:xfrm>
            <a:off x="4109114" y="4412905"/>
            <a:ext cx="1239140" cy="203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5963E-30B9-4A30-84C5-8D3DFCBA4104}"/>
              </a:ext>
            </a:extLst>
          </p:cNvPr>
          <p:cNvSpPr txBox="1"/>
          <p:nvPr/>
        </p:nvSpPr>
        <p:spPr>
          <a:xfrm>
            <a:off x="4090679" y="4166956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639F13-1008-4D43-B074-AC11CC980E80}"/>
              </a:ext>
            </a:extLst>
          </p:cNvPr>
          <p:cNvSpPr txBox="1"/>
          <p:nvPr/>
        </p:nvSpPr>
        <p:spPr>
          <a:xfrm>
            <a:off x="6432169" y="4320844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next = NULL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677D24-1C34-4B0A-8DE9-BA960A9CB01E}"/>
              </a:ext>
            </a:extLst>
          </p:cNvPr>
          <p:cNvSpPr txBox="1"/>
          <p:nvPr/>
        </p:nvSpPr>
        <p:spPr>
          <a:xfrm>
            <a:off x="5524970" y="2417451"/>
            <a:ext cx="886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emp_t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58CA95-762F-4C00-90FF-DB8176E1972F}"/>
              </a:ext>
            </a:extLst>
          </p:cNvPr>
          <p:cNvSpPr txBox="1"/>
          <p:nvPr/>
        </p:nvSpPr>
        <p:spPr>
          <a:xfrm>
            <a:off x="5482271" y="461017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D18038-C892-42B9-BB54-F3AD3426D3BB}"/>
              </a:ext>
            </a:extLst>
          </p:cNvPr>
          <p:cNvSpPr txBox="1"/>
          <p:nvPr/>
        </p:nvSpPr>
        <p:spPr>
          <a:xfrm>
            <a:off x="3099535" y="462395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</p:spTree>
    <p:extLst>
      <p:ext uri="{BB962C8B-B14F-4D97-AF65-F5344CB8AC3E}">
        <p14:creationId xmlns:p14="http://schemas.microsoft.com/office/powerpoint/2010/main" val="1266742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134A75-A4A1-464E-B1F5-4DBE9F7D4DFC}"/>
              </a:ext>
            </a:extLst>
          </p:cNvPr>
          <p:cNvSpPr/>
          <p:nvPr/>
        </p:nvSpPr>
        <p:spPr>
          <a:xfrm>
            <a:off x="9410111" y="954019"/>
            <a:ext cx="1478507" cy="153623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90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2 -&gt; LMM Integration with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F42F2-061D-4547-98D8-1AF63FB9093F}"/>
              </a:ext>
            </a:extLst>
          </p:cNvPr>
          <p:cNvSpPr txBox="1"/>
          <p:nvPr/>
        </p:nvSpPr>
        <p:spPr>
          <a:xfrm>
            <a:off x="175097" y="481442"/>
            <a:ext cx="5077623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2 – LMM Integration with 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A4D86-308C-4758-B36A-4EE119C3A0FC}"/>
              </a:ext>
            </a:extLst>
          </p:cNvPr>
          <p:cNvSpPr txBox="1"/>
          <p:nvPr/>
        </p:nvSpPr>
        <p:spPr>
          <a:xfrm>
            <a:off x="360862" y="1071895"/>
            <a:ext cx="8837676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LMM Integration with Application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Create new file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uapi_mm.h</a:t>
            </a:r>
            <a:endParaRPr lang="en-US" sz="20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Provide publicly exposed structures and APIs of LMM in this header file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Baskerville Old Face" panose="02020602080505020303" pitchFamily="18" charset="0"/>
              </a:rPr>
              <a:t>uapi_mm.h</a:t>
            </a:r>
            <a:r>
              <a:rPr lang="en-US" sz="2000" dirty="0">
                <a:latin typeface="Baskerville Old Face" panose="02020602080505020303" pitchFamily="18" charset="0"/>
              </a:rPr>
              <a:t> is an interface between LMM lib and application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	#define MM_REG_STRUCT(</a:t>
            </a:r>
            <a:r>
              <a:rPr lang="en-US" sz="2000" dirty="0" err="1">
                <a:latin typeface="Baskerville Old Face" panose="02020602080505020303" pitchFamily="18" charset="0"/>
              </a:rPr>
              <a:t>struct_name</a:t>
            </a:r>
            <a:r>
              <a:rPr lang="en-US" sz="2000" dirty="0">
                <a:latin typeface="Baskerville Old Face" panose="02020602080505020303" pitchFamily="18" charset="0"/>
              </a:rPr>
              <a:t>)  \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(</a:t>
            </a:r>
            <a:r>
              <a:rPr lang="en-US" sz="2000" dirty="0" err="1">
                <a:latin typeface="Baskerville Old Face" panose="02020602080505020303" pitchFamily="18" charset="0"/>
              </a:rPr>
              <a:t>mm_instantiate_new_page_family</a:t>
            </a:r>
            <a:r>
              <a:rPr lang="en-US" sz="2000" dirty="0">
                <a:latin typeface="Baskerville Old Face" panose="02020602080505020303" pitchFamily="18" charset="0"/>
              </a:rPr>
              <a:t>(#</a:t>
            </a:r>
            <a:r>
              <a:rPr lang="en-US" sz="2000" dirty="0" err="1">
                <a:latin typeface="Baskerville Old Face" panose="02020602080505020303" pitchFamily="18" charset="0"/>
              </a:rPr>
              <a:t>struct_name</a:t>
            </a:r>
            <a:r>
              <a:rPr lang="en-US" sz="2000" dirty="0">
                <a:latin typeface="Baskerville Old Face" panose="02020602080505020303" pitchFamily="18" charset="0"/>
              </a:rPr>
              <a:t>, </a:t>
            </a:r>
            <a:r>
              <a:rPr lang="en-US" sz="2000" dirty="0" err="1">
                <a:latin typeface="Baskerville Old Face" panose="02020602080505020303" pitchFamily="18" charset="0"/>
              </a:rPr>
              <a:t>sizeof</a:t>
            </a:r>
            <a:r>
              <a:rPr lang="en-US" sz="2000" dirty="0">
                <a:latin typeface="Baskerville Old Face" panose="02020602080505020303" pitchFamily="18" charset="0"/>
              </a:rPr>
              <a:t>(</a:t>
            </a:r>
            <a:r>
              <a:rPr lang="en-US" sz="2000" dirty="0" err="1">
                <a:latin typeface="Baskerville Old Face" panose="02020602080505020303" pitchFamily="18" charset="0"/>
              </a:rPr>
              <a:t>struct_name</a:t>
            </a:r>
            <a:r>
              <a:rPr lang="en-US" sz="2000" dirty="0">
                <a:latin typeface="Baskerville Old Face" panose="02020602080505020303" pitchFamily="18" charset="0"/>
              </a:rPr>
              <a:t>)))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Used as : create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appln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: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testapp.c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(remove main from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mm.c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</a:t>
            </a:r>
            <a:r>
              <a:rPr lang="en-US" sz="1600" dirty="0">
                <a:latin typeface="Baskerville Old Face" panose="02020602080505020303" pitchFamily="18" charset="0"/>
              </a:rPr>
              <a:t>	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	#include “</a:t>
            </a:r>
            <a:r>
              <a:rPr lang="en-US" sz="1600" dirty="0" err="1">
                <a:latin typeface="Baskerville Old Face" panose="02020602080505020303" pitchFamily="18" charset="0"/>
              </a:rPr>
              <a:t>uapi_mm.h</a:t>
            </a:r>
            <a:r>
              <a:rPr lang="en-US" sz="1600" dirty="0">
                <a:latin typeface="Baskerville Old Face" panose="02020602080505020303" pitchFamily="18" charset="0"/>
              </a:rPr>
              <a:t>”</a:t>
            </a: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int</a:t>
            </a: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main(int </a:t>
            </a:r>
            <a:r>
              <a:rPr lang="en-US" sz="1600" dirty="0" err="1">
                <a:latin typeface="Baskerville Old Face" panose="02020602080505020303" pitchFamily="18" charset="0"/>
              </a:rPr>
              <a:t>argc</a:t>
            </a:r>
            <a:r>
              <a:rPr lang="en-US" sz="1600" dirty="0">
                <a:latin typeface="Baskerville Old Face" panose="02020602080505020303" pitchFamily="18" charset="0"/>
              </a:rPr>
              <a:t>, char **</a:t>
            </a:r>
            <a:r>
              <a:rPr lang="en-US" sz="1600" dirty="0" err="1">
                <a:latin typeface="Baskerville Old Face" panose="02020602080505020303" pitchFamily="18" charset="0"/>
              </a:rPr>
              <a:t>argv</a:t>
            </a:r>
            <a:r>
              <a:rPr lang="en-US" sz="1600" dirty="0">
                <a:latin typeface="Baskerville Old Face" panose="02020602080505020303" pitchFamily="18" charset="0"/>
              </a:rPr>
              <a:t>){</a:t>
            </a:r>
          </a:p>
          <a:p>
            <a:pPr lvl="2"/>
            <a:endParaRPr lang="en-US" sz="1600" dirty="0">
              <a:latin typeface="Baskerville Old Face" panose="02020602080505020303" pitchFamily="18" charset="0"/>
            </a:endParaRP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    </a:t>
            </a:r>
            <a:r>
              <a:rPr lang="en-US" sz="1600" dirty="0" err="1">
                <a:latin typeface="Baskerville Old Face" panose="02020602080505020303" pitchFamily="18" charset="0"/>
              </a:rPr>
              <a:t>mm_init</a:t>
            </a:r>
            <a:r>
              <a:rPr lang="en-US" sz="1600" dirty="0">
                <a:latin typeface="Baskerville Old Face" panose="02020602080505020303" pitchFamily="18" charset="0"/>
              </a:rPr>
              <a:t>();</a:t>
            </a: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    MM_REG_STRUCT( </a:t>
            </a:r>
            <a:r>
              <a:rPr lang="en-US" sz="1600" dirty="0" err="1">
                <a:latin typeface="Baskerville Old Face" panose="02020602080505020303" pitchFamily="18" charset="0"/>
              </a:rPr>
              <a:t>emp_t</a:t>
            </a:r>
            <a:r>
              <a:rPr lang="en-US" sz="1600" dirty="0">
                <a:latin typeface="Baskerville Old Face" panose="02020602080505020303" pitchFamily="18" charset="0"/>
              </a:rPr>
              <a:t> );</a:t>
            </a: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    MM_REG_STRUCT( </a:t>
            </a:r>
            <a:r>
              <a:rPr lang="en-US" sz="1600" dirty="0" err="1">
                <a:latin typeface="Baskerville Old Face" panose="02020602080505020303" pitchFamily="18" charset="0"/>
              </a:rPr>
              <a:t>student_t</a:t>
            </a:r>
            <a:r>
              <a:rPr lang="en-US" sz="1600" dirty="0">
                <a:latin typeface="Baskerville Old Face" panose="02020602080505020303" pitchFamily="18" charset="0"/>
              </a:rPr>
              <a:t> );</a:t>
            </a:r>
          </a:p>
          <a:p>
            <a:pPr lvl="2"/>
            <a:r>
              <a:rPr lang="en-US" sz="1600" dirty="0">
                <a:latin typeface="Baskerville Old Face" panose="02020602080505020303" pitchFamily="18" charset="0"/>
              </a:rPr>
              <a:t>     . . . 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D6E370-BCC0-4B72-85FA-BCECC27C5E66}"/>
              </a:ext>
            </a:extLst>
          </p:cNvPr>
          <p:cNvSpPr/>
          <p:nvPr/>
        </p:nvSpPr>
        <p:spPr>
          <a:xfrm>
            <a:off x="9659692" y="1229360"/>
            <a:ext cx="955040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mm.c</a:t>
            </a:r>
            <a:endParaRPr lang="en-US" sz="2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mm.h</a:t>
            </a:r>
            <a:endParaRPr lang="en-US" sz="2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1DE0E7-FA71-4903-BAB5-067C1C965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438" y="2645470"/>
            <a:ext cx="645469" cy="69808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656D17-E1C6-4A87-AA6E-E99E3E44A3B8}"/>
              </a:ext>
            </a:extLst>
          </p:cNvPr>
          <p:cNvSpPr/>
          <p:nvPr/>
        </p:nvSpPr>
        <p:spPr>
          <a:xfrm>
            <a:off x="9790625" y="4438078"/>
            <a:ext cx="731521" cy="654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F0966-F44D-4A57-98A6-1DAFC9119E23}"/>
              </a:ext>
            </a:extLst>
          </p:cNvPr>
          <p:cNvSpPr txBox="1"/>
          <p:nvPr/>
        </p:nvSpPr>
        <p:spPr>
          <a:xfrm>
            <a:off x="9607808" y="1960880"/>
            <a:ext cx="112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LMM lib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21E6C-4217-4BD2-AFFC-E1F1816D5FB6}"/>
              </a:ext>
            </a:extLst>
          </p:cNvPr>
          <p:cNvSpPr txBox="1"/>
          <p:nvPr/>
        </p:nvSpPr>
        <p:spPr>
          <a:xfrm>
            <a:off x="9530555" y="3200893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uapi_mm.h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A4F15-BC2D-4F46-9EA9-6E2CAE1898B8}"/>
              </a:ext>
            </a:extLst>
          </p:cNvPr>
          <p:cNvSpPr txBox="1"/>
          <p:nvPr/>
        </p:nvSpPr>
        <p:spPr>
          <a:xfrm>
            <a:off x="9674023" y="5074740"/>
            <a:ext cx="1071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Appln</a:t>
            </a:r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err="1">
                <a:latin typeface="Baskerville Old Face" panose="02020602080505020303" pitchFamily="18" charset="0"/>
              </a:rPr>
              <a:t>testapp.c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AB11B0-2A9D-4A48-8B22-35EC9D9CA089}"/>
              </a:ext>
            </a:extLst>
          </p:cNvPr>
          <p:cNvSpPr/>
          <p:nvPr/>
        </p:nvSpPr>
        <p:spPr>
          <a:xfrm rot="5400000">
            <a:off x="9723915" y="3802239"/>
            <a:ext cx="783006" cy="43460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5FDE9-3B42-43AA-B933-6A7139599982}"/>
              </a:ext>
            </a:extLst>
          </p:cNvPr>
          <p:cNvSpPr txBox="1"/>
          <p:nvPr/>
        </p:nvSpPr>
        <p:spPr>
          <a:xfrm>
            <a:off x="10209587" y="3756223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#include “</a:t>
            </a:r>
            <a:r>
              <a:rPr lang="en-US" sz="1400" dirty="0" err="1">
                <a:latin typeface="Baskerville Old Face" panose="02020602080505020303" pitchFamily="18" charset="0"/>
              </a:rPr>
              <a:t>uapi_mm.h</a:t>
            </a:r>
            <a:r>
              <a:rPr lang="en-US" sz="1400" dirty="0">
                <a:latin typeface="Baskerville Old Face" panose="02020602080505020303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10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  <p:bldP spid="7" grpId="0" animBg="1"/>
      <p:bldP spid="4" grpId="0"/>
      <p:bldP spid="9" grpId="0"/>
      <p:bldP spid="10" grpId="0"/>
      <p:bldP spid="8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36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Project Development Phases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80E9E-7A66-4318-9D12-7AE264EB3DB6}"/>
              </a:ext>
            </a:extLst>
          </p:cNvPr>
          <p:cNvSpPr txBox="1"/>
          <p:nvPr/>
        </p:nvSpPr>
        <p:spPr>
          <a:xfrm>
            <a:off x="3459716" y="212735"/>
            <a:ext cx="7064755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Phase 1 – Virtual Memory Page Allocation and Deallocation 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Phase 2 – Page Family Registration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 	(Application need to tell out LMM about its structure information)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Phase 3 - Data Structures to define Meta Block and Data Block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</a:t>
            </a:r>
            <a:r>
              <a:rPr lang="en-US" sz="1400" dirty="0">
                <a:latin typeface="Baskerville Old Face" panose="02020602080505020303" pitchFamily="18" charset="0"/>
              </a:rPr>
              <a:t>( Every Data block (Free or in-use) has a book-keeper called Meta block 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4. 	Phase 4 – Splitting and Merging Data Blocks</a:t>
            </a:r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5. 	Phase 5 – Memory Allocation Algorithm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6. 	Phase 6 – Memory Deallocation Algorithm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4"/>
                </a:solidFill>
                <a:latin typeface="Baskerville Old Face" panose="02020602080505020303" pitchFamily="18" charset="0"/>
              </a:rPr>
              <a:t>7. 	Phase 7 – LMM Statistics</a:t>
            </a:r>
          </a:p>
          <a:p>
            <a:pPr lvl="1"/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latin typeface="Baskerville Old Face" panose="02020602080505020303" pitchFamily="18" charset="0"/>
              </a:rPr>
              <a:t>(Derive useful info from LMM – Leaked Data blocks, 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			# in-use-blocks, # free-blocks, # of VM pages in use </a:t>
            </a:r>
            <a:r>
              <a:rPr lang="en-US" sz="1400" dirty="0" err="1">
                <a:latin typeface="Baskerville Old Face" panose="02020602080505020303" pitchFamily="18" charset="0"/>
              </a:rPr>
              <a:t>etc</a:t>
            </a:r>
            <a:r>
              <a:rPr lang="en-US" sz="1400" dirty="0">
                <a:latin typeface="Baskerville Old Face" panose="02020602080505020303" pitchFamily="18" charset="0"/>
              </a:rPr>
              <a:t> . . . )</a:t>
            </a:r>
          </a:p>
          <a:p>
            <a:endParaRPr lang="en-US" sz="2000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8.	Add Extensions to the Project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(support for large structures, </a:t>
            </a:r>
            <a:r>
              <a:rPr lang="en-US" sz="1400" dirty="0" err="1">
                <a:solidFill>
                  <a:srgbClr val="FF0000"/>
                </a:solidFill>
                <a:latin typeface="Baskerville Old Face" panose="02020602080505020303" pitchFamily="18" charset="0"/>
              </a:rPr>
              <a:t>xrealloc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8" y="481442"/>
            <a:ext cx="1492432" cy="92333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Project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Development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Phases</a:t>
            </a:r>
          </a:p>
        </p:txBody>
      </p:sp>
    </p:spTree>
    <p:extLst>
      <p:ext uri="{BB962C8B-B14F-4D97-AF65-F5344CB8AC3E}">
        <p14:creationId xmlns:p14="http://schemas.microsoft.com/office/powerpoint/2010/main" val="74449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28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3 -&gt; Meta Block and Data Block</a:t>
            </a: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438393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3 -&gt; Meta Block And Data Block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7CF7B6-231C-43D1-A542-AC5816D1EC02}"/>
              </a:ext>
            </a:extLst>
          </p:cNvPr>
          <p:cNvSpPr/>
          <p:nvPr/>
        </p:nvSpPr>
        <p:spPr>
          <a:xfrm>
            <a:off x="3194890" y="130710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8DF3C7-1283-402E-A07B-84E0DA4B2893}"/>
              </a:ext>
            </a:extLst>
          </p:cNvPr>
          <p:cNvSpPr/>
          <p:nvPr/>
        </p:nvSpPr>
        <p:spPr>
          <a:xfrm>
            <a:off x="3225370" y="3317000"/>
            <a:ext cx="89463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7581847-E660-4876-ADE6-050B4877E92C}"/>
              </a:ext>
            </a:extLst>
          </p:cNvPr>
          <p:cNvSpPr/>
          <p:nvPr/>
        </p:nvSpPr>
        <p:spPr>
          <a:xfrm>
            <a:off x="3224429" y="3662453"/>
            <a:ext cx="894635" cy="14301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91603-310F-4BE6-B843-785BADEE0E99}"/>
              </a:ext>
            </a:extLst>
          </p:cNvPr>
          <p:cNvSpPr txBox="1"/>
          <p:nvPr/>
        </p:nvSpPr>
        <p:spPr>
          <a:xfrm>
            <a:off x="2986302" y="3971789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VM page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0AB231-1033-4063-B04A-410D282A1E2A}"/>
              </a:ext>
            </a:extLst>
          </p:cNvPr>
          <p:cNvSpPr txBox="1"/>
          <p:nvPr/>
        </p:nvSpPr>
        <p:spPr>
          <a:xfrm>
            <a:off x="5233255" y="15685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ptr1 =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(1,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693677-7C5F-4350-B02B-F750C1C4FD87}"/>
              </a:ext>
            </a:extLst>
          </p:cNvPr>
          <p:cNvSpPr txBox="1"/>
          <p:nvPr/>
        </p:nvSpPr>
        <p:spPr>
          <a:xfrm>
            <a:off x="5233255" y="2203026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ptr2 =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(1,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ED85FB-9F26-4B51-AB7B-EA1CF5E51120}"/>
              </a:ext>
            </a:extLst>
          </p:cNvPr>
          <p:cNvSpPr/>
          <p:nvPr/>
        </p:nvSpPr>
        <p:spPr>
          <a:xfrm>
            <a:off x="3220043" y="2786689"/>
            <a:ext cx="89463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36950D-3618-4806-9AAC-3460D43DE661}"/>
              </a:ext>
            </a:extLst>
          </p:cNvPr>
          <p:cNvSpPr/>
          <p:nvPr/>
        </p:nvSpPr>
        <p:spPr>
          <a:xfrm>
            <a:off x="3219102" y="3142302"/>
            <a:ext cx="894635" cy="14301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4A09C1-4F6F-478E-B172-C30975D02228}"/>
              </a:ext>
            </a:extLst>
          </p:cNvPr>
          <p:cNvSpPr txBox="1"/>
          <p:nvPr/>
        </p:nvSpPr>
        <p:spPr>
          <a:xfrm>
            <a:off x="5233254" y="2858181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ptr3 =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(2,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B51285-D276-403E-A9FB-B7245C44A10B}"/>
              </a:ext>
            </a:extLst>
          </p:cNvPr>
          <p:cNvSpPr/>
          <p:nvPr/>
        </p:nvSpPr>
        <p:spPr>
          <a:xfrm>
            <a:off x="3215210" y="2614966"/>
            <a:ext cx="894635" cy="14301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E9C7EA5-010A-4913-9AC9-BC7CE58D796E}"/>
              </a:ext>
            </a:extLst>
          </p:cNvPr>
          <p:cNvSpPr/>
          <p:nvPr/>
        </p:nvSpPr>
        <p:spPr>
          <a:xfrm>
            <a:off x="3214925" y="1867535"/>
            <a:ext cx="894635" cy="768199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90B1D5-FFDB-4669-A658-56004530D0AE}"/>
              </a:ext>
            </a:extLst>
          </p:cNvPr>
          <p:cNvSpPr/>
          <p:nvPr/>
        </p:nvSpPr>
        <p:spPr>
          <a:xfrm>
            <a:off x="269055" y="1309008"/>
            <a:ext cx="894635" cy="14301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1EA5BE-E15C-4B3E-9772-E357F189E611}"/>
              </a:ext>
            </a:extLst>
          </p:cNvPr>
          <p:cNvSpPr/>
          <p:nvPr/>
        </p:nvSpPr>
        <p:spPr>
          <a:xfrm>
            <a:off x="269055" y="1738921"/>
            <a:ext cx="89463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D9027-B218-47AC-ACA4-8C3D5DF96EA5}"/>
              </a:ext>
            </a:extLst>
          </p:cNvPr>
          <p:cNvSpPr txBox="1"/>
          <p:nvPr/>
        </p:nvSpPr>
        <p:spPr>
          <a:xfrm>
            <a:off x="1163690" y="122613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Meta Block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BAAB19-2933-4E5A-A008-2900C2E480A9}"/>
              </a:ext>
            </a:extLst>
          </p:cNvPr>
          <p:cNvSpPr txBox="1"/>
          <p:nvPr/>
        </p:nvSpPr>
        <p:spPr>
          <a:xfrm>
            <a:off x="1163690" y="1697706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Block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D6CC3-BBB1-47AB-8241-7FCFE1B5EEC1}"/>
              </a:ext>
            </a:extLst>
          </p:cNvPr>
          <p:cNvSpPr txBox="1"/>
          <p:nvPr/>
        </p:nvSpPr>
        <p:spPr>
          <a:xfrm>
            <a:off x="396240" y="4714666"/>
            <a:ext cx="1032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Meta blocks is responsible to store meta information of its data block + </a:t>
            </a:r>
          </a:p>
          <a:p>
            <a:pPr marL="0" lvl="1"/>
            <a:r>
              <a:rPr lang="en-US" dirty="0">
                <a:latin typeface="Baskerville Old Face" panose="02020602080505020303" pitchFamily="18" charset="0"/>
              </a:rPr>
              <a:t>	Maintain chains of free and allocated blocks</a:t>
            </a:r>
          </a:p>
          <a:p>
            <a:pPr marL="0" lvl="1"/>
            <a:endParaRPr lang="en-US" dirty="0">
              <a:latin typeface="Baskerville Old Face" panose="02020602080505020303" pitchFamily="18" charset="0"/>
            </a:endParaRP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Data block is a chunk of VM page which is given to application for use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Application Do not know anything about Meta blocks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 block , whether allocated or freed, is guarded by its Meta block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2554C5-0EC7-4DEF-927A-049C4787FBD5}"/>
              </a:ext>
            </a:extLst>
          </p:cNvPr>
          <p:cNvSpPr txBox="1"/>
          <p:nvPr/>
        </p:nvSpPr>
        <p:spPr>
          <a:xfrm>
            <a:off x="5259139" y="3425070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xfree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(ptr2)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39549-FD1A-4873-897E-4CB190D2C3FA}"/>
              </a:ext>
            </a:extLst>
          </p:cNvPr>
          <p:cNvSpPr txBox="1"/>
          <p:nvPr/>
        </p:nvSpPr>
        <p:spPr>
          <a:xfrm>
            <a:off x="4201378" y="372208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21AF1E-CCBA-4413-AAE7-AA625D204CE8}"/>
              </a:ext>
            </a:extLst>
          </p:cNvPr>
          <p:cNvSpPr txBox="1"/>
          <p:nvPr/>
        </p:nvSpPr>
        <p:spPr>
          <a:xfrm>
            <a:off x="4205296" y="117432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46D0DDE-39E9-4502-87D5-666DE1989D03}"/>
              </a:ext>
            </a:extLst>
          </p:cNvPr>
          <p:cNvSpPr/>
          <p:nvPr/>
        </p:nvSpPr>
        <p:spPr>
          <a:xfrm rot="5400000">
            <a:off x="9561149" y="1036761"/>
            <a:ext cx="494492" cy="2661919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FC842-144D-4E3D-9EB5-5BDE7E8930C1}"/>
              </a:ext>
            </a:extLst>
          </p:cNvPr>
          <p:cNvSpPr txBox="1"/>
          <p:nvPr/>
        </p:nvSpPr>
        <p:spPr>
          <a:xfrm>
            <a:off x="9351195" y="176129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CD6470-9143-4C96-9080-980734C75C6E}"/>
              </a:ext>
            </a:extLst>
          </p:cNvPr>
          <p:cNvSpPr txBox="1"/>
          <p:nvPr/>
        </p:nvSpPr>
        <p:spPr>
          <a:xfrm>
            <a:off x="7694817" y="2624398"/>
            <a:ext cx="2618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to store page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Families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(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vm_page_for_families_t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8A9387-35F0-42CF-8040-50A32442B705}"/>
              </a:ext>
            </a:extLst>
          </p:cNvPr>
          <p:cNvSpPr txBox="1"/>
          <p:nvPr/>
        </p:nvSpPr>
        <p:spPr>
          <a:xfrm>
            <a:off x="10407537" y="2672767"/>
            <a:ext cx="1784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For </a:t>
            </a:r>
            <a:r>
              <a:rPr lang="en-US" dirty="0" err="1">
                <a:latin typeface="Baskerville Old Face" panose="02020602080505020303" pitchFamily="18" charset="0"/>
              </a:rPr>
              <a:t>alloc</a:t>
            </a:r>
            <a:r>
              <a:rPr lang="en-US" dirty="0">
                <a:latin typeface="Baskerville Old Face" panose="02020602080505020303" pitchFamily="18" charset="0"/>
              </a:rPr>
              <a:t>/de-</a:t>
            </a:r>
            <a:r>
              <a:rPr lang="en-US" dirty="0" err="1">
                <a:latin typeface="Baskerville Old Face" panose="02020602080505020303" pitchFamily="18" charset="0"/>
              </a:rPr>
              <a:t>alloc</a:t>
            </a:r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Memory to </a:t>
            </a:r>
            <a:r>
              <a:rPr lang="en-US" dirty="0" err="1">
                <a:latin typeface="Baskerville Old Face" panose="02020602080505020303" pitchFamily="18" charset="0"/>
              </a:rPr>
              <a:t>appln</a:t>
            </a:r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i="1" dirty="0">
                <a:latin typeface="Baskerville Old Face" panose="02020602080505020303" pitchFamily="18" charset="0"/>
              </a:rPr>
              <a:t>Data VM pages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(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502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8" grpId="0" animBg="1"/>
      <p:bldP spid="43" grpId="0"/>
      <p:bldP spid="44" grpId="0"/>
      <p:bldP spid="45" grpId="0" animBg="1"/>
      <p:bldP spid="45" grpId="1" animBg="1"/>
      <p:bldP spid="46" grpId="0" animBg="1"/>
      <p:bldP spid="49" grpId="0"/>
      <p:bldP spid="50" grpId="0" animBg="1"/>
      <p:bldP spid="51" grpId="0" animBg="1"/>
      <p:bldP spid="57" grpId="0"/>
      <p:bldP spid="11" grpId="0" animBg="1"/>
      <p:bldP spid="12" grpId="0"/>
      <p:bldP spid="59" grpId="0"/>
      <p:bldP spid="6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28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3 -&gt; Meta Block and Data Block</a:t>
            </a: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438393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3 -&gt; Meta Block And Data Block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53B42-DC4C-4CD7-94A6-370891B1CE13}"/>
              </a:ext>
            </a:extLst>
          </p:cNvPr>
          <p:cNvSpPr txBox="1"/>
          <p:nvPr/>
        </p:nvSpPr>
        <p:spPr>
          <a:xfrm>
            <a:off x="243583" y="1349648"/>
            <a:ext cx="5096267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Meta block Data structure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latin typeface="Baskerville Old Face" panose="02020602080505020303" pitchFamily="18" charset="0"/>
              </a:rPr>
              <a:t>vm_bool_t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;  /*Free or allocated*/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; /*Size of block*/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prev_block</a:t>
            </a:r>
            <a:r>
              <a:rPr lang="en-US" dirty="0">
                <a:latin typeface="Baskerville Old Face" panose="02020602080505020303" pitchFamily="18" charset="0"/>
              </a:rPr>
              <a:t>;  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/*</a:t>
            </a:r>
            <a:r>
              <a:rPr lang="en-US" sz="1600" dirty="0" err="1">
                <a:latin typeface="Baskerville Old Face" panose="02020602080505020303" pitchFamily="18" charset="0"/>
              </a:rPr>
              <a:t>ptr</a:t>
            </a:r>
            <a:r>
              <a:rPr lang="en-US" sz="1600" dirty="0">
                <a:latin typeface="Baskerville Old Face" panose="02020602080505020303" pitchFamily="18" charset="0"/>
              </a:rPr>
              <a:t> to next meta block downward in Data VM page*/</a:t>
            </a:r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sz="1600" dirty="0">
                <a:latin typeface="Baskerville Old Face" panose="02020602080505020303" pitchFamily="18" charset="0"/>
              </a:rPr>
              <a:t>;  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/*</a:t>
            </a:r>
            <a:r>
              <a:rPr lang="en-US" sz="1600" dirty="0" err="1">
                <a:latin typeface="Baskerville Old Face" panose="02020602080505020303" pitchFamily="18" charset="0"/>
              </a:rPr>
              <a:t>ptr</a:t>
            </a:r>
            <a:r>
              <a:rPr lang="en-US" sz="1600" dirty="0">
                <a:latin typeface="Baskerville Old Face" panose="02020602080505020303" pitchFamily="18" charset="0"/>
              </a:rPr>
              <a:t> to next block upward in Data VM page*/</a:t>
            </a:r>
          </a:p>
          <a:p>
            <a:endParaRPr lang="en-US" sz="1600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92C479-B423-47C8-A6A4-A7C14EC1A3A9}"/>
              </a:ext>
            </a:extLst>
          </p:cNvPr>
          <p:cNvSpPr/>
          <p:nvPr/>
        </p:nvSpPr>
        <p:spPr>
          <a:xfrm>
            <a:off x="8475244" y="454449"/>
            <a:ext cx="1361072" cy="553294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2B5179-4C5A-4C0F-9065-E0FA85890892}"/>
              </a:ext>
            </a:extLst>
          </p:cNvPr>
          <p:cNvSpPr txBox="1"/>
          <p:nvPr/>
        </p:nvSpPr>
        <p:spPr>
          <a:xfrm>
            <a:off x="8410929" y="6051461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VM page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FE647-C95D-4588-A994-7C1435376161}"/>
              </a:ext>
            </a:extLst>
          </p:cNvPr>
          <p:cNvSpPr txBox="1"/>
          <p:nvPr/>
        </p:nvSpPr>
        <p:spPr>
          <a:xfrm>
            <a:off x="9796012" y="579690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0DF50B-13A8-4702-9DA6-86BDF1CE36C3}"/>
              </a:ext>
            </a:extLst>
          </p:cNvPr>
          <p:cNvSpPr txBox="1"/>
          <p:nvPr/>
        </p:nvSpPr>
        <p:spPr>
          <a:xfrm>
            <a:off x="9821466" y="53787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3780A9-8E10-4CDB-AA45-13DB95850B23}"/>
              </a:ext>
            </a:extLst>
          </p:cNvPr>
          <p:cNvSpPr/>
          <p:nvPr/>
        </p:nvSpPr>
        <p:spPr>
          <a:xfrm>
            <a:off x="8510414" y="5064506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69B1AE-1031-4156-B557-1BBB8FADDFA1}"/>
              </a:ext>
            </a:extLst>
          </p:cNvPr>
          <p:cNvSpPr/>
          <p:nvPr/>
        </p:nvSpPr>
        <p:spPr>
          <a:xfrm>
            <a:off x="8532156" y="4695580"/>
            <a:ext cx="1223216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62A9AD-4254-44E3-AB51-10A42D54F8F4}"/>
              </a:ext>
            </a:extLst>
          </p:cNvPr>
          <p:cNvSpPr/>
          <p:nvPr/>
        </p:nvSpPr>
        <p:spPr>
          <a:xfrm>
            <a:off x="8500254" y="3849543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17AC11-E4C0-4763-8327-E1F0154AE65B}"/>
              </a:ext>
            </a:extLst>
          </p:cNvPr>
          <p:cNvSpPr/>
          <p:nvPr/>
        </p:nvSpPr>
        <p:spPr>
          <a:xfrm>
            <a:off x="8521996" y="3480617"/>
            <a:ext cx="122321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B784C323-BF5E-4EB3-9F30-76396863FD15}"/>
              </a:ext>
            </a:extLst>
          </p:cNvPr>
          <p:cNvSpPr/>
          <p:nvPr/>
        </p:nvSpPr>
        <p:spPr>
          <a:xfrm rot="16200000">
            <a:off x="9347200" y="4990354"/>
            <a:ext cx="1120150" cy="385042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42732D-08FD-45BB-BD3F-E1E048752105}"/>
              </a:ext>
            </a:extLst>
          </p:cNvPr>
          <p:cNvSpPr/>
          <p:nvPr/>
        </p:nvSpPr>
        <p:spPr>
          <a:xfrm>
            <a:off x="8490116" y="2599295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745355-3F94-4833-B349-C2D40E407FC3}"/>
              </a:ext>
            </a:extLst>
          </p:cNvPr>
          <p:cNvSpPr/>
          <p:nvPr/>
        </p:nvSpPr>
        <p:spPr>
          <a:xfrm>
            <a:off x="8511858" y="1851093"/>
            <a:ext cx="1223216" cy="732312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44D03FE-994C-42B6-BEBE-D69E3973A564}"/>
              </a:ext>
            </a:extLst>
          </p:cNvPr>
          <p:cNvSpPr/>
          <p:nvPr/>
        </p:nvSpPr>
        <p:spPr>
          <a:xfrm>
            <a:off x="8490094" y="982662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4998A28-EAB9-4B6F-8023-9093862FD156}"/>
              </a:ext>
            </a:extLst>
          </p:cNvPr>
          <p:cNvSpPr/>
          <p:nvPr/>
        </p:nvSpPr>
        <p:spPr>
          <a:xfrm>
            <a:off x="8510414" y="607234"/>
            <a:ext cx="124318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E78F7-9878-4FAE-817E-11442197ED27}"/>
              </a:ext>
            </a:extLst>
          </p:cNvPr>
          <p:cNvSpPr txBox="1"/>
          <p:nvPr/>
        </p:nvSpPr>
        <p:spPr>
          <a:xfrm>
            <a:off x="7490110" y="1183174"/>
            <a:ext cx="65915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MB4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MB3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MB2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MB1</a:t>
            </a:r>
          </a:p>
        </p:txBody>
      </p:sp>
      <p:sp>
        <p:nvSpPr>
          <p:cNvPr id="72" name="Arrow: Curved Up 71">
            <a:extLst>
              <a:ext uri="{FF2B5EF4-FFF2-40B4-BE49-F238E27FC236}">
                <a16:creationId xmlns:a16="http://schemas.microsoft.com/office/drawing/2014/main" id="{58719C50-4278-402F-BBBF-1B24B48EFCC6}"/>
              </a:ext>
            </a:extLst>
          </p:cNvPr>
          <p:cNvSpPr/>
          <p:nvPr/>
        </p:nvSpPr>
        <p:spPr>
          <a:xfrm rot="16200000">
            <a:off x="9325121" y="3762957"/>
            <a:ext cx="1195521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Arrow: Curved Up 72">
            <a:extLst>
              <a:ext uri="{FF2B5EF4-FFF2-40B4-BE49-F238E27FC236}">
                <a16:creationId xmlns:a16="http://schemas.microsoft.com/office/drawing/2014/main" id="{C8F707BD-3551-44F1-AE03-FF868B678CC1}"/>
              </a:ext>
            </a:extLst>
          </p:cNvPr>
          <p:cNvSpPr/>
          <p:nvPr/>
        </p:nvSpPr>
        <p:spPr>
          <a:xfrm rot="16200000">
            <a:off x="9144082" y="2298628"/>
            <a:ext cx="1579433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Arrow: Curved Up 73">
            <a:extLst>
              <a:ext uri="{FF2B5EF4-FFF2-40B4-BE49-F238E27FC236}">
                <a16:creationId xmlns:a16="http://schemas.microsoft.com/office/drawing/2014/main" id="{1AA4A8DD-F044-40FA-8380-034431D8DFC5}"/>
              </a:ext>
            </a:extLst>
          </p:cNvPr>
          <p:cNvSpPr/>
          <p:nvPr/>
        </p:nvSpPr>
        <p:spPr>
          <a:xfrm rot="5400000">
            <a:off x="7478812" y="4998505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Arrow: Curved Up 74">
            <a:extLst>
              <a:ext uri="{FF2B5EF4-FFF2-40B4-BE49-F238E27FC236}">
                <a16:creationId xmlns:a16="http://schemas.microsoft.com/office/drawing/2014/main" id="{87014A4F-AA3F-4FCD-886B-C98E93EAD4D3}"/>
              </a:ext>
            </a:extLst>
          </p:cNvPr>
          <p:cNvSpPr/>
          <p:nvPr/>
        </p:nvSpPr>
        <p:spPr>
          <a:xfrm rot="5400000">
            <a:off x="7448011" y="3716278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Arrow: Curved Up 75">
            <a:extLst>
              <a:ext uri="{FF2B5EF4-FFF2-40B4-BE49-F238E27FC236}">
                <a16:creationId xmlns:a16="http://schemas.microsoft.com/office/drawing/2014/main" id="{57807C13-D849-4774-97B5-3046F24E9568}"/>
              </a:ext>
            </a:extLst>
          </p:cNvPr>
          <p:cNvSpPr/>
          <p:nvPr/>
        </p:nvSpPr>
        <p:spPr>
          <a:xfrm rot="5400000">
            <a:off x="7303466" y="2273669"/>
            <a:ext cx="2028854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700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28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3 -&gt; Meta Block and Data Block</a:t>
            </a: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438393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3 -&gt; Meta Block And Data Block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92C479-B423-47C8-A6A4-A7C14EC1A3A9}"/>
              </a:ext>
            </a:extLst>
          </p:cNvPr>
          <p:cNvSpPr/>
          <p:nvPr/>
        </p:nvSpPr>
        <p:spPr>
          <a:xfrm>
            <a:off x="8475244" y="60723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FE647-C95D-4588-A994-7C1435376161}"/>
              </a:ext>
            </a:extLst>
          </p:cNvPr>
          <p:cNvSpPr txBox="1"/>
          <p:nvPr/>
        </p:nvSpPr>
        <p:spPr>
          <a:xfrm>
            <a:off x="9796012" y="579690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3780A9-8E10-4CDB-AA45-13DB95850B23}"/>
              </a:ext>
            </a:extLst>
          </p:cNvPr>
          <p:cNvSpPr/>
          <p:nvPr/>
        </p:nvSpPr>
        <p:spPr>
          <a:xfrm>
            <a:off x="8510414" y="5064506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69B1AE-1031-4156-B557-1BBB8FADDFA1}"/>
              </a:ext>
            </a:extLst>
          </p:cNvPr>
          <p:cNvSpPr/>
          <p:nvPr/>
        </p:nvSpPr>
        <p:spPr>
          <a:xfrm>
            <a:off x="8532156" y="4695580"/>
            <a:ext cx="1223216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62A9AD-4254-44E3-AB51-10A42D54F8F4}"/>
              </a:ext>
            </a:extLst>
          </p:cNvPr>
          <p:cNvSpPr/>
          <p:nvPr/>
        </p:nvSpPr>
        <p:spPr>
          <a:xfrm>
            <a:off x="8500254" y="3849543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17AC11-E4C0-4763-8327-E1F0154AE65B}"/>
              </a:ext>
            </a:extLst>
          </p:cNvPr>
          <p:cNvSpPr/>
          <p:nvPr/>
        </p:nvSpPr>
        <p:spPr>
          <a:xfrm>
            <a:off x="8521996" y="3480617"/>
            <a:ext cx="122321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B784C323-BF5E-4EB3-9F30-76396863FD15}"/>
              </a:ext>
            </a:extLst>
          </p:cNvPr>
          <p:cNvSpPr/>
          <p:nvPr/>
        </p:nvSpPr>
        <p:spPr>
          <a:xfrm rot="16200000">
            <a:off x="9347200" y="4990354"/>
            <a:ext cx="1120150" cy="385042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42732D-08FD-45BB-BD3F-E1E048752105}"/>
              </a:ext>
            </a:extLst>
          </p:cNvPr>
          <p:cNvSpPr/>
          <p:nvPr/>
        </p:nvSpPr>
        <p:spPr>
          <a:xfrm>
            <a:off x="8490116" y="2599295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44D03FE-994C-42B6-BEBE-D69E3973A564}"/>
              </a:ext>
            </a:extLst>
          </p:cNvPr>
          <p:cNvSpPr/>
          <p:nvPr/>
        </p:nvSpPr>
        <p:spPr>
          <a:xfrm>
            <a:off x="8490094" y="982662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4998A28-EAB9-4B6F-8023-9093862FD156}"/>
              </a:ext>
            </a:extLst>
          </p:cNvPr>
          <p:cNvSpPr/>
          <p:nvPr/>
        </p:nvSpPr>
        <p:spPr>
          <a:xfrm>
            <a:off x="8510414" y="607234"/>
            <a:ext cx="124318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E78F7-9878-4FAE-817E-11442197ED27}"/>
              </a:ext>
            </a:extLst>
          </p:cNvPr>
          <p:cNvSpPr txBox="1"/>
          <p:nvPr/>
        </p:nvSpPr>
        <p:spPr>
          <a:xfrm>
            <a:off x="7490110" y="1183174"/>
            <a:ext cx="65915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MB4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MB3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MB2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MB1</a:t>
            </a:r>
          </a:p>
        </p:txBody>
      </p:sp>
      <p:sp>
        <p:nvSpPr>
          <p:cNvPr id="72" name="Arrow: Curved Up 71">
            <a:extLst>
              <a:ext uri="{FF2B5EF4-FFF2-40B4-BE49-F238E27FC236}">
                <a16:creationId xmlns:a16="http://schemas.microsoft.com/office/drawing/2014/main" id="{58719C50-4278-402F-BBBF-1B24B48EFCC6}"/>
              </a:ext>
            </a:extLst>
          </p:cNvPr>
          <p:cNvSpPr/>
          <p:nvPr/>
        </p:nvSpPr>
        <p:spPr>
          <a:xfrm rot="16200000">
            <a:off x="9325121" y="3762957"/>
            <a:ext cx="1195521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Arrow: Curved Up 72">
            <a:extLst>
              <a:ext uri="{FF2B5EF4-FFF2-40B4-BE49-F238E27FC236}">
                <a16:creationId xmlns:a16="http://schemas.microsoft.com/office/drawing/2014/main" id="{C8F707BD-3551-44F1-AE03-FF868B678CC1}"/>
              </a:ext>
            </a:extLst>
          </p:cNvPr>
          <p:cNvSpPr/>
          <p:nvPr/>
        </p:nvSpPr>
        <p:spPr>
          <a:xfrm rot="16200000">
            <a:off x="9144082" y="2298628"/>
            <a:ext cx="1579433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Arrow: Curved Up 73">
            <a:extLst>
              <a:ext uri="{FF2B5EF4-FFF2-40B4-BE49-F238E27FC236}">
                <a16:creationId xmlns:a16="http://schemas.microsoft.com/office/drawing/2014/main" id="{1AA4A8DD-F044-40FA-8380-034431D8DFC5}"/>
              </a:ext>
            </a:extLst>
          </p:cNvPr>
          <p:cNvSpPr/>
          <p:nvPr/>
        </p:nvSpPr>
        <p:spPr>
          <a:xfrm rot="5400000">
            <a:off x="7478812" y="4998505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Arrow: Curved Up 74">
            <a:extLst>
              <a:ext uri="{FF2B5EF4-FFF2-40B4-BE49-F238E27FC236}">
                <a16:creationId xmlns:a16="http://schemas.microsoft.com/office/drawing/2014/main" id="{87014A4F-AA3F-4FCD-886B-C98E93EAD4D3}"/>
              </a:ext>
            </a:extLst>
          </p:cNvPr>
          <p:cNvSpPr/>
          <p:nvPr/>
        </p:nvSpPr>
        <p:spPr>
          <a:xfrm rot="5400000">
            <a:off x="7448011" y="3716278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Arrow: Curved Up 75">
            <a:extLst>
              <a:ext uri="{FF2B5EF4-FFF2-40B4-BE49-F238E27FC236}">
                <a16:creationId xmlns:a16="http://schemas.microsoft.com/office/drawing/2014/main" id="{57807C13-D849-4774-97B5-3046F24E9568}"/>
              </a:ext>
            </a:extLst>
          </p:cNvPr>
          <p:cNvSpPr/>
          <p:nvPr/>
        </p:nvSpPr>
        <p:spPr>
          <a:xfrm rot="5400000">
            <a:off x="7303466" y="2273669"/>
            <a:ext cx="2028854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6998DE2-995B-4590-BF5B-29B00201CC52}"/>
              </a:ext>
            </a:extLst>
          </p:cNvPr>
          <p:cNvGraphicFramePr>
            <a:graphicFrameLocks noGrp="1"/>
          </p:cNvGraphicFramePr>
          <p:nvPr/>
        </p:nvGraphicFramePr>
        <p:xfrm>
          <a:off x="243583" y="4815851"/>
          <a:ext cx="31912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649">
                  <a:extLst>
                    <a:ext uri="{9D8B030D-6E8A-4147-A177-3AD203B41FA5}">
                      <a16:colId xmlns:a16="http://schemas.microsoft.com/office/drawing/2014/main" val="2802218882"/>
                    </a:ext>
                  </a:extLst>
                </a:gridCol>
                <a:gridCol w="1595649">
                  <a:extLst>
                    <a:ext uri="{9D8B030D-6E8A-4147-A177-3AD203B41FA5}">
                      <a16:colId xmlns:a16="http://schemas.microsoft.com/office/drawing/2014/main" val="1779519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Metablock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ea typeface="+mn-ea"/>
                          <a:cs typeface="+mn-cs"/>
                        </a:rPr>
                        <a:t>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02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MB1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skerville Old Face" panose="020206020805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66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MB2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skerville Old Face" panose="02020602080505020303" pitchFamily="18" charset="0"/>
                        </a:rPr>
                        <a:t>28 + 20 = 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68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MB3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skerville Old Face" panose="02020602080505020303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02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skerville Old Face" panose="02020602080505020303" pitchFamily="18" charset="0"/>
                        </a:rPr>
                        <a:t>MB4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skerville Old Face" panose="02020602080505020303" pitchFamily="18" charset="0"/>
                        </a:rPr>
                        <a:t>164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98336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25E1CB8-B9A7-4780-80DC-C7FEC505A55B}"/>
              </a:ext>
            </a:extLst>
          </p:cNvPr>
          <p:cNvSpPr txBox="1"/>
          <p:nvPr/>
        </p:nvSpPr>
        <p:spPr>
          <a:xfrm>
            <a:off x="8410929" y="6051461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VM page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F377ED-C9CF-4801-B4F1-7F59D58B4B62}"/>
              </a:ext>
            </a:extLst>
          </p:cNvPr>
          <p:cNvSpPr txBox="1"/>
          <p:nvPr/>
        </p:nvSpPr>
        <p:spPr>
          <a:xfrm>
            <a:off x="9821466" y="53787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B41B00-2F90-4567-B8E7-14F7DA577831}"/>
              </a:ext>
            </a:extLst>
          </p:cNvPr>
          <p:cNvSpPr txBox="1"/>
          <p:nvPr/>
        </p:nvSpPr>
        <p:spPr>
          <a:xfrm>
            <a:off x="243583" y="1349648"/>
            <a:ext cx="5096267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Meta block Data structure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latin typeface="Baskerville Old Face" panose="02020602080505020303" pitchFamily="18" charset="0"/>
              </a:rPr>
              <a:t>vm_bool_t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;  /*Free or allocated*/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; /*Size of block*/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prev_block</a:t>
            </a:r>
            <a:r>
              <a:rPr lang="en-US" dirty="0">
                <a:latin typeface="Baskerville Old Face" panose="02020602080505020303" pitchFamily="18" charset="0"/>
              </a:rPr>
              <a:t>;  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/*</a:t>
            </a:r>
            <a:r>
              <a:rPr lang="en-US" sz="1600" dirty="0" err="1">
                <a:latin typeface="Baskerville Old Face" panose="02020602080505020303" pitchFamily="18" charset="0"/>
              </a:rPr>
              <a:t>ptr</a:t>
            </a:r>
            <a:r>
              <a:rPr lang="en-US" sz="1600" dirty="0">
                <a:latin typeface="Baskerville Old Face" panose="02020602080505020303" pitchFamily="18" charset="0"/>
              </a:rPr>
              <a:t> to next meta block downward in Data VM page*/</a:t>
            </a:r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sz="1600" dirty="0">
                <a:latin typeface="Baskerville Old Face" panose="02020602080505020303" pitchFamily="18" charset="0"/>
              </a:rPr>
              <a:t>;  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/*</a:t>
            </a:r>
            <a:r>
              <a:rPr lang="en-US" sz="1600" dirty="0" err="1">
                <a:latin typeface="Baskerville Old Face" panose="02020602080505020303" pitchFamily="18" charset="0"/>
              </a:rPr>
              <a:t>ptr</a:t>
            </a:r>
            <a:r>
              <a:rPr lang="en-US" sz="1600" dirty="0">
                <a:latin typeface="Baskerville Old Face" panose="02020602080505020303" pitchFamily="18" charset="0"/>
              </a:rPr>
              <a:t> to next block upward in Data VM page*/</a:t>
            </a:r>
          </a:p>
          <a:p>
            <a:r>
              <a:rPr lang="en-US" sz="16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 uint32_t offset;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8D3917-1D69-459B-B462-81B73A943FAE}"/>
              </a:ext>
            </a:extLst>
          </p:cNvPr>
          <p:cNvSpPr/>
          <p:nvPr/>
        </p:nvSpPr>
        <p:spPr>
          <a:xfrm>
            <a:off x="8511858" y="1851093"/>
            <a:ext cx="1223216" cy="732312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3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28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3 -&gt; Meta Block and Data Block</a:t>
            </a: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438393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3 -&gt; Meta Block And Data Block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53B42-DC4C-4CD7-94A6-370891B1CE13}"/>
              </a:ext>
            </a:extLst>
          </p:cNvPr>
          <p:cNvSpPr txBox="1"/>
          <p:nvPr/>
        </p:nvSpPr>
        <p:spPr>
          <a:xfrm>
            <a:off x="142034" y="1361215"/>
            <a:ext cx="738695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Let Us Write some Macros in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99FF"/>
                </a:solidFill>
                <a:latin typeface="Baskerville Old Face" panose="02020602080505020303" pitchFamily="18" charset="0"/>
              </a:rPr>
              <a:t> to Manipulate Meta blocks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offset_of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container_structure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field_name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\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&lt;provide definition (Check Resource Section)&gt;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MM_GET_PAGE_FROM_META_BLOCK 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\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NEXT_META_BLOCK(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  \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NEXT_META_BLOCK_BY_SIZE(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  \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sv-SE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PREV_META_BLOCK(block_meta_data_ptr)    \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92C479-B423-47C8-A6A4-A7C14EC1A3A9}"/>
              </a:ext>
            </a:extLst>
          </p:cNvPr>
          <p:cNvSpPr/>
          <p:nvPr/>
        </p:nvSpPr>
        <p:spPr>
          <a:xfrm>
            <a:off x="8475244" y="60723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2B5179-4C5A-4C0F-9065-E0FA85890892}"/>
              </a:ext>
            </a:extLst>
          </p:cNvPr>
          <p:cNvSpPr txBox="1"/>
          <p:nvPr/>
        </p:nvSpPr>
        <p:spPr>
          <a:xfrm>
            <a:off x="8410929" y="6010607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Data VM page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FE647-C95D-4588-A994-7C1435376161}"/>
              </a:ext>
            </a:extLst>
          </p:cNvPr>
          <p:cNvSpPr txBox="1"/>
          <p:nvPr/>
        </p:nvSpPr>
        <p:spPr>
          <a:xfrm>
            <a:off x="9796012" y="579690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0DF50B-13A8-4702-9DA6-86BDF1CE36C3}"/>
              </a:ext>
            </a:extLst>
          </p:cNvPr>
          <p:cNvSpPr txBox="1"/>
          <p:nvPr/>
        </p:nvSpPr>
        <p:spPr>
          <a:xfrm>
            <a:off x="9796012" y="488981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3780A9-8E10-4CDB-AA45-13DB95850B23}"/>
              </a:ext>
            </a:extLst>
          </p:cNvPr>
          <p:cNvSpPr/>
          <p:nvPr/>
        </p:nvSpPr>
        <p:spPr>
          <a:xfrm>
            <a:off x="8510414" y="5064506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69B1AE-1031-4156-B557-1BBB8FADDFA1}"/>
              </a:ext>
            </a:extLst>
          </p:cNvPr>
          <p:cNvSpPr/>
          <p:nvPr/>
        </p:nvSpPr>
        <p:spPr>
          <a:xfrm>
            <a:off x="8532156" y="4695580"/>
            <a:ext cx="1223216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62A9AD-4254-44E3-AB51-10A42D54F8F4}"/>
              </a:ext>
            </a:extLst>
          </p:cNvPr>
          <p:cNvSpPr/>
          <p:nvPr/>
        </p:nvSpPr>
        <p:spPr>
          <a:xfrm>
            <a:off x="8500254" y="3849543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17AC11-E4C0-4763-8327-E1F0154AE65B}"/>
              </a:ext>
            </a:extLst>
          </p:cNvPr>
          <p:cNvSpPr/>
          <p:nvPr/>
        </p:nvSpPr>
        <p:spPr>
          <a:xfrm>
            <a:off x="8521996" y="3480617"/>
            <a:ext cx="122321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B784C323-BF5E-4EB3-9F30-76396863FD15}"/>
              </a:ext>
            </a:extLst>
          </p:cNvPr>
          <p:cNvSpPr/>
          <p:nvPr/>
        </p:nvSpPr>
        <p:spPr>
          <a:xfrm rot="16200000">
            <a:off x="9347200" y="4990354"/>
            <a:ext cx="1120150" cy="385042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42732D-08FD-45BB-BD3F-E1E048752105}"/>
              </a:ext>
            </a:extLst>
          </p:cNvPr>
          <p:cNvSpPr/>
          <p:nvPr/>
        </p:nvSpPr>
        <p:spPr>
          <a:xfrm>
            <a:off x="8490116" y="2599295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44D03FE-994C-42B6-BEBE-D69E3973A564}"/>
              </a:ext>
            </a:extLst>
          </p:cNvPr>
          <p:cNvSpPr/>
          <p:nvPr/>
        </p:nvSpPr>
        <p:spPr>
          <a:xfrm>
            <a:off x="8490094" y="982662"/>
            <a:ext cx="1255118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9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NULL</a:t>
            </a: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4998A28-EAB9-4B6F-8023-9093862FD156}"/>
              </a:ext>
            </a:extLst>
          </p:cNvPr>
          <p:cNvSpPr/>
          <p:nvPr/>
        </p:nvSpPr>
        <p:spPr>
          <a:xfrm>
            <a:off x="8510414" y="607234"/>
            <a:ext cx="1243186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E78F7-9878-4FAE-817E-11442197ED27}"/>
              </a:ext>
            </a:extLst>
          </p:cNvPr>
          <p:cNvSpPr txBox="1"/>
          <p:nvPr/>
        </p:nvSpPr>
        <p:spPr>
          <a:xfrm>
            <a:off x="7490110" y="1183174"/>
            <a:ext cx="65915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MB4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MB3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MB2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MB1</a:t>
            </a:r>
          </a:p>
        </p:txBody>
      </p:sp>
      <p:sp>
        <p:nvSpPr>
          <p:cNvPr id="72" name="Arrow: Curved Up 71">
            <a:extLst>
              <a:ext uri="{FF2B5EF4-FFF2-40B4-BE49-F238E27FC236}">
                <a16:creationId xmlns:a16="http://schemas.microsoft.com/office/drawing/2014/main" id="{58719C50-4278-402F-BBBF-1B24B48EFCC6}"/>
              </a:ext>
            </a:extLst>
          </p:cNvPr>
          <p:cNvSpPr/>
          <p:nvPr/>
        </p:nvSpPr>
        <p:spPr>
          <a:xfrm rot="16200000">
            <a:off x="9325121" y="3762957"/>
            <a:ext cx="1195521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Arrow: Curved Up 72">
            <a:extLst>
              <a:ext uri="{FF2B5EF4-FFF2-40B4-BE49-F238E27FC236}">
                <a16:creationId xmlns:a16="http://schemas.microsoft.com/office/drawing/2014/main" id="{C8F707BD-3551-44F1-AE03-FF868B678CC1}"/>
              </a:ext>
            </a:extLst>
          </p:cNvPr>
          <p:cNvSpPr/>
          <p:nvPr/>
        </p:nvSpPr>
        <p:spPr>
          <a:xfrm rot="16200000">
            <a:off x="9144082" y="2298628"/>
            <a:ext cx="1579433" cy="416256"/>
          </a:xfrm>
          <a:prstGeom prst="curved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Arrow: Curved Up 73">
            <a:extLst>
              <a:ext uri="{FF2B5EF4-FFF2-40B4-BE49-F238E27FC236}">
                <a16:creationId xmlns:a16="http://schemas.microsoft.com/office/drawing/2014/main" id="{1AA4A8DD-F044-40FA-8380-034431D8DFC5}"/>
              </a:ext>
            </a:extLst>
          </p:cNvPr>
          <p:cNvSpPr/>
          <p:nvPr/>
        </p:nvSpPr>
        <p:spPr>
          <a:xfrm rot="5400000">
            <a:off x="7478812" y="4998505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Arrow: Curved Up 74">
            <a:extLst>
              <a:ext uri="{FF2B5EF4-FFF2-40B4-BE49-F238E27FC236}">
                <a16:creationId xmlns:a16="http://schemas.microsoft.com/office/drawing/2014/main" id="{87014A4F-AA3F-4FCD-886B-C98E93EAD4D3}"/>
              </a:ext>
            </a:extLst>
          </p:cNvPr>
          <p:cNvSpPr/>
          <p:nvPr/>
        </p:nvSpPr>
        <p:spPr>
          <a:xfrm rot="5400000">
            <a:off x="7448011" y="3716278"/>
            <a:ext cx="1637522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Arrow: Curved Up 75">
            <a:extLst>
              <a:ext uri="{FF2B5EF4-FFF2-40B4-BE49-F238E27FC236}">
                <a16:creationId xmlns:a16="http://schemas.microsoft.com/office/drawing/2014/main" id="{57807C13-D849-4774-97B5-3046F24E9568}"/>
              </a:ext>
            </a:extLst>
          </p:cNvPr>
          <p:cNvSpPr/>
          <p:nvPr/>
        </p:nvSpPr>
        <p:spPr>
          <a:xfrm rot="5400000">
            <a:off x="7303466" y="2273669"/>
            <a:ext cx="2028854" cy="385042"/>
          </a:xfrm>
          <a:prstGeom prst="curvedUp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B3AAAD-7A78-421E-B117-FCAE389C9485}"/>
              </a:ext>
            </a:extLst>
          </p:cNvPr>
          <p:cNvSpPr/>
          <p:nvPr/>
        </p:nvSpPr>
        <p:spPr>
          <a:xfrm>
            <a:off x="8511858" y="1851093"/>
            <a:ext cx="1223216" cy="732312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676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636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Project Development Phases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80E9E-7A66-4318-9D12-7AE264EB3DB6}"/>
              </a:ext>
            </a:extLst>
          </p:cNvPr>
          <p:cNvSpPr txBox="1"/>
          <p:nvPr/>
        </p:nvSpPr>
        <p:spPr>
          <a:xfrm>
            <a:off x="3459716" y="212735"/>
            <a:ext cx="7064755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92D050"/>
                </a:solidFill>
                <a:latin typeface="Baskerville Old Face" panose="02020602080505020303" pitchFamily="18" charset="0"/>
              </a:rPr>
              <a:t>Phase 1 – Virtual Memory Page Allocation and Deallocation 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Phase 2 – Page Family Registration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 	(Application need to tell out LMM about its structure information)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Phase 3 - Data Structures to define Meta Block and Data Block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		</a:t>
            </a:r>
            <a:r>
              <a:rPr lang="en-US" sz="1400" dirty="0">
                <a:latin typeface="Baskerville Old Face" panose="02020602080505020303" pitchFamily="18" charset="0"/>
              </a:rPr>
              <a:t>( Every Data block (Free or in-use) has a book-keeper called Meta block )</a:t>
            </a:r>
          </a:p>
          <a:p>
            <a:pPr marL="457200" indent="-457200">
              <a:buAutoNum type="arabicPeriod"/>
            </a:pPr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4. 	Phase 4 – Splitting and Merging Data Blocks</a:t>
            </a:r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5. 	Phase 5 – Memory Allocation Algorithm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6. 	Phase 6 – Memory Deallocation Algorithm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4"/>
                </a:solidFill>
                <a:latin typeface="Baskerville Old Face" panose="02020602080505020303" pitchFamily="18" charset="0"/>
              </a:rPr>
              <a:t>7. 	Phase 7 – LMM Statistics</a:t>
            </a:r>
          </a:p>
          <a:p>
            <a:pPr lvl="1"/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latin typeface="Baskerville Old Face" panose="02020602080505020303" pitchFamily="18" charset="0"/>
              </a:rPr>
              <a:t>(Derive useful info from LMM – Leaked Data blocks, </a:t>
            </a:r>
          </a:p>
          <a:p>
            <a:pPr lvl="1"/>
            <a:r>
              <a:rPr lang="en-US" sz="1400" dirty="0">
                <a:latin typeface="Baskerville Old Face" panose="02020602080505020303" pitchFamily="18" charset="0"/>
              </a:rPr>
              <a:t>			# in-use-blocks, # free-blocks, # of VM pages in use </a:t>
            </a:r>
            <a:r>
              <a:rPr lang="en-US" sz="1400" dirty="0" err="1">
                <a:latin typeface="Baskerville Old Face" panose="02020602080505020303" pitchFamily="18" charset="0"/>
              </a:rPr>
              <a:t>etc</a:t>
            </a:r>
            <a:r>
              <a:rPr lang="en-US" sz="1400" dirty="0">
                <a:latin typeface="Baskerville Old Face" panose="02020602080505020303" pitchFamily="18" charset="0"/>
              </a:rPr>
              <a:t> . . . )</a:t>
            </a:r>
          </a:p>
          <a:p>
            <a:endParaRPr lang="en-US" sz="2000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8.	Add Extensions to the Project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	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(support for large structures, </a:t>
            </a:r>
            <a:r>
              <a:rPr lang="en-US" sz="1400" dirty="0" err="1">
                <a:solidFill>
                  <a:srgbClr val="FF0000"/>
                </a:solidFill>
                <a:latin typeface="Baskerville Old Face" panose="02020602080505020303" pitchFamily="18" charset="0"/>
              </a:rPr>
              <a:t>xrealloc</a:t>
            </a:r>
            <a:r>
              <a:rPr lang="en-US" sz="1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7AEE-1377-46A1-AA6F-487066AEFF9C}"/>
              </a:ext>
            </a:extLst>
          </p:cNvPr>
          <p:cNvSpPr txBox="1"/>
          <p:nvPr/>
        </p:nvSpPr>
        <p:spPr>
          <a:xfrm>
            <a:off x="175098" y="481442"/>
            <a:ext cx="1492432" cy="92333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Project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Development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Phases</a:t>
            </a:r>
          </a:p>
        </p:txBody>
      </p:sp>
    </p:spTree>
    <p:extLst>
      <p:ext uri="{BB962C8B-B14F-4D97-AF65-F5344CB8AC3E}">
        <p14:creationId xmlns:p14="http://schemas.microsoft.com/office/powerpoint/2010/main" val="348080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D3AF1A-2E36-468C-994A-C532B66C7F02}"/>
              </a:ext>
            </a:extLst>
          </p:cNvPr>
          <p:cNvSpPr/>
          <p:nvPr/>
        </p:nvSpPr>
        <p:spPr>
          <a:xfrm>
            <a:off x="426642" y="575563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334F7B-3631-4990-8AF8-6D9D9DF70780}"/>
              </a:ext>
            </a:extLst>
          </p:cNvPr>
          <p:cNvSpPr txBox="1"/>
          <p:nvPr/>
        </p:nvSpPr>
        <p:spPr>
          <a:xfrm>
            <a:off x="1749292" y="59077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4A0622-EF96-4FC7-92DB-DF27F6229CBF}"/>
              </a:ext>
            </a:extLst>
          </p:cNvPr>
          <p:cNvSpPr txBox="1"/>
          <p:nvPr/>
        </p:nvSpPr>
        <p:spPr>
          <a:xfrm>
            <a:off x="1749292" y="51856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475F-E58B-4171-B027-89090E7BB8DE}"/>
              </a:ext>
            </a:extLst>
          </p:cNvPr>
          <p:cNvSpPr/>
          <p:nvPr/>
        </p:nvSpPr>
        <p:spPr>
          <a:xfrm>
            <a:off x="426306" y="606043"/>
            <a:ext cx="1320768" cy="460195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4068B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80D0D-C86C-4C06-9A7C-C81D8477D605}"/>
              </a:ext>
            </a:extLst>
          </p:cNvPr>
          <p:cNvSpPr txBox="1"/>
          <p:nvPr/>
        </p:nvSpPr>
        <p:spPr>
          <a:xfrm>
            <a:off x="225292" y="6150970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When new Data VM page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requested from kernel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D423F3-AEC2-47BE-AC09-2E87C6A7FD4D}"/>
              </a:ext>
            </a:extLst>
          </p:cNvPr>
          <p:cNvSpPr/>
          <p:nvPr/>
        </p:nvSpPr>
        <p:spPr>
          <a:xfrm>
            <a:off x="411418" y="5197164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4068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891D04F-A6F8-428C-AF62-EF1250F75EE6}"/>
              </a:ext>
            </a:extLst>
          </p:cNvPr>
          <p:cNvSpPr/>
          <p:nvPr/>
        </p:nvSpPr>
        <p:spPr>
          <a:xfrm>
            <a:off x="1941812" y="3331831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1061AC-EF01-4DEF-8A59-11DF45040031}"/>
              </a:ext>
            </a:extLst>
          </p:cNvPr>
          <p:cNvSpPr txBox="1"/>
          <p:nvPr/>
        </p:nvSpPr>
        <p:spPr>
          <a:xfrm>
            <a:off x="1941813" y="3091610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7344F1-40FE-4F0A-8629-97D427AFA7D5}"/>
              </a:ext>
            </a:extLst>
          </p:cNvPr>
          <p:cNvSpPr/>
          <p:nvPr/>
        </p:nvSpPr>
        <p:spPr>
          <a:xfrm>
            <a:off x="3790029" y="689031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A41EC9-F7FB-4547-BD80-C261DB330497}"/>
              </a:ext>
            </a:extLst>
          </p:cNvPr>
          <p:cNvSpPr txBox="1"/>
          <p:nvPr/>
        </p:nvSpPr>
        <p:spPr>
          <a:xfrm>
            <a:off x="5112679" y="6021237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39B2A0-A0A2-4857-A610-7EFE6FC9627F}"/>
              </a:ext>
            </a:extLst>
          </p:cNvPr>
          <p:cNvSpPr txBox="1"/>
          <p:nvPr/>
        </p:nvSpPr>
        <p:spPr>
          <a:xfrm>
            <a:off x="5112679" y="632034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673AE8-5E61-418D-B3F7-5B7B2584A346}"/>
              </a:ext>
            </a:extLst>
          </p:cNvPr>
          <p:cNvSpPr/>
          <p:nvPr/>
        </p:nvSpPr>
        <p:spPr>
          <a:xfrm>
            <a:off x="3789693" y="701331"/>
            <a:ext cx="1320768" cy="3323021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4020B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C4DFD7-0CED-4CCD-8C84-3FC66E5115F2}"/>
              </a:ext>
            </a:extLst>
          </p:cNvPr>
          <p:cNvSpPr/>
          <p:nvPr/>
        </p:nvSpPr>
        <p:spPr>
          <a:xfrm>
            <a:off x="3774805" y="5310632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0C4CA0-2020-467D-A6C5-5258EFDA29E6}"/>
              </a:ext>
            </a:extLst>
          </p:cNvPr>
          <p:cNvSpPr/>
          <p:nvPr/>
        </p:nvSpPr>
        <p:spPr>
          <a:xfrm>
            <a:off x="3774803" y="4937760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2A3A32-A33F-4A5D-A2EB-7AF3300460D6}"/>
              </a:ext>
            </a:extLst>
          </p:cNvPr>
          <p:cNvSpPr/>
          <p:nvPr/>
        </p:nvSpPr>
        <p:spPr>
          <a:xfrm>
            <a:off x="3763204" y="404418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B0549FB5-41B3-42CB-8644-F67E38908E0F}"/>
              </a:ext>
            </a:extLst>
          </p:cNvPr>
          <p:cNvSpPr/>
          <p:nvPr/>
        </p:nvSpPr>
        <p:spPr>
          <a:xfrm>
            <a:off x="5318267" y="3287768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CED46D-A0E3-477C-922A-96EE58699F82}"/>
              </a:ext>
            </a:extLst>
          </p:cNvPr>
          <p:cNvSpPr txBox="1"/>
          <p:nvPr/>
        </p:nvSpPr>
        <p:spPr>
          <a:xfrm>
            <a:off x="5314746" y="305966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41E5A9-5279-4C19-901B-F19AA037B4EC}"/>
              </a:ext>
            </a:extLst>
          </p:cNvPr>
          <p:cNvSpPr/>
          <p:nvPr/>
        </p:nvSpPr>
        <p:spPr>
          <a:xfrm>
            <a:off x="7153752" y="767876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05EDDA-213E-4BE8-A7AC-77A5DB27D25C}"/>
              </a:ext>
            </a:extLst>
          </p:cNvPr>
          <p:cNvSpPr txBox="1"/>
          <p:nvPr/>
        </p:nvSpPr>
        <p:spPr>
          <a:xfrm>
            <a:off x="8476402" y="6100082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D33BB3-7C21-4D06-A163-42662F56DFA2}"/>
              </a:ext>
            </a:extLst>
          </p:cNvPr>
          <p:cNvSpPr txBox="1"/>
          <p:nvPr/>
        </p:nvSpPr>
        <p:spPr>
          <a:xfrm>
            <a:off x="8476402" y="71087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52C798-29C5-4C82-A404-D078DD12D41A}"/>
              </a:ext>
            </a:extLst>
          </p:cNvPr>
          <p:cNvSpPr/>
          <p:nvPr/>
        </p:nvSpPr>
        <p:spPr>
          <a:xfrm>
            <a:off x="7153416" y="780177"/>
            <a:ext cx="1320768" cy="206073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3972B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385B81-C722-489F-A1B5-11189DE250C6}"/>
              </a:ext>
            </a:extLst>
          </p:cNvPr>
          <p:cNvSpPr/>
          <p:nvPr/>
        </p:nvSpPr>
        <p:spPr>
          <a:xfrm>
            <a:off x="7138528" y="5389477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39A745-92BB-4100-8FD6-7BBB2F3C55AA}"/>
              </a:ext>
            </a:extLst>
          </p:cNvPr>
          <p:cNvSpPr/>
          <p:nvPr/>
        </p:nvSpPr>
        <p:spPr>
          <a:xfrm>
            <a:off x="7138526" y="5016605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E1F7B6-386B-49C3-A2A0-3A628FFF4CC6}"/>
              </a:ext>
            </a:extLst>
          </p:cNvPr>
          <p:cNvSpPr/>
          <p:nvPr/>
        </p:nvSpPr>
        <p:spPr>
          <a:xfrm>
            <a:off x="7126927" y="4123034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32EB85-F67E-4CE2-9BEC-96CF797F9EC1}"/>
              </a:ext>
            </a:extLst>
          </p:cNvPr>
          <p:cNvSpPr txBox="1"/>
          <p:nvPr/>
        </p:nvSpPr>
        <p:spPr>
          <a:xfrm>
            <a:off x="1817150" y="561472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891F7F-9F4F-4654-8147-D537358198B6}"/>
              </a:ext>
            </a:extLst>
          </p:cNvPr>
          <p:cNvSpPr txBox="1"/>
          <p:nvPr/>
        </p:nvSpPr>
        <p:spPr>
          <a:xfrm>
            <a:off x="5201350" y="562397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A2C303-AD78-41CA-9966-995A59F02D73}"/>
              </a:ext>
            </a:extLst>
          </p:cNvPr>
          <p:cNvSpPr txBox="1"/>
          <p:nvPr/>
        </p:nvSpPr>
        <p:spPr>
          <a:xfrm>
            <a:off x="5201350" y="447692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C2F319-0E86-4DEE-8A98-BEEF43523522}"/>
              </a:ext>
            </a:extLst>
          </p:cNvPr>
          <p:cNvSpPr txBox="1"/>
          <p:nvPr/>
        </p:nvSpPr>
        <p:spPr>
          <a:xfrm>
            <a:off x="6758955" y="555161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0DF910-E424-4076-AD87-C0E25C2AE847}"/>
              </a:ext>
            </a:extLst>
          </p:cNvPr>
          <p:cNvSpPr txBox="1"/>
          <p:nvPr/>
        </p:nvSpPr>
        <p:spPr>
          <a:xfrm>
            <a:off x="6703009" y="447692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DC1BEB-AC9F-4E4B-A1E9-51A9234251B3}"/>
              </a:ext>
            </a:extLst>
          </p:cNvPr>
          <p:cNvSpPr/>
          <p:nvPr/>
        </p:nvSpPr>
        <p:spPr>
          <a:xfrm>
            <a:off x="7136952" y="2840916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3972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37D881-8AD0-4FA7-83A8-E0C67F473A5C}"/>
              </a:ext>
            </a:extLst>
          </p:cNvPr>
          <p:cNvSpPr/>
          <p:nvPr/>
        </p:nvSpPr>
        <p:spPr>
          <a:xfrm>
            <a:off x="7150123" y="3747245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788AEC-D285-4461-AD0E-BD242663568D}"/>
              </a:ext>
            </a:extLst>
          </p:cNvPr>
          <p:cNvSpPr txBox="1"/>
          <p:nvPr/>
        </p:nvSpPr>
        <p:spPr>
          <a:xfrm>
            <a:off x="8498023" y="302599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06255F-3A30-4020-BDAF-AFE0A2FC243C}"/>
              </a:ext>
            </a:extLst>
          </p:cNvPr>
          <p:cNvSpPr txBox="1"/>
          <p:nvPr/>
        </p:nvSpPr>
        <p:spPr>
          <a:xfrm>
            <a:off x="8950960" y="1107440"/>
            <a:ext cx="331052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skerville Old Face" panose="02020602080505020303" pitchFamily="18" charset="0"/>
              </a:rPr>
              <a:t>For every malloc, a free block is </a:t>
            </a:r>
            <a:r>
              <a:rPr lang="en-US" sz="1400" dirty="0" err="1">
                <a:latin typeface="Baskerville Old Face" panose="02020602080505020303" pitchFamily="18" charset="0"/>
              </a:rPr>
              <a:t>splitted</a:t>
            </a:r>
            <a:endParaRPr lang="en-US" sz="1400" dirty="0">
              <a:latin typeface="Baskerville Old Face" panose="02020602080505020303" pitchFamily="18" charset="0"/>
            </a:endParaRPr>
          </a:p>
          <a:p>
            <a:r>
              <a:rPr lang="en-US" sz="1400" dirty="0">
                <a:latin typeface="Baskerville Old Face" panose="02020602080505020303" pitchFamily="18" charset="0"/>
              </a:rPr>
              <a:t>into allocated block and remaining 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area left is a smaller free block</a:t>
            </a:r>
          </a:p>
          <a:p>
            <a:endParaRPr lang="en-US" sz="1400" dirty="0">
              <a:latin typeface="Baskerville Old Face" panose="02020602080505020303" pitchFamily="18" charset="0"/>
            </a:endParaRPr>
          </a:p>
          <a:p>
            <a:endParaRPr lang="en-US" sz="1400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skerville Old Face" panose="02020602080505020303" pitchFamily="18" charset="0"/>
              </a:rPr>
              <a:t>If VM page do not have free block to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Satisfy malloc request, a new data VM page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requested from kernel, and same exercise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repeated</a:t>
            </a:r>
          </a:p>
        </p:txBody>
      </p:sp>
    </p:spTree>
    <p:extLst>
      <p:ext uri="{BB962C8B-B14F-4D97-AF65-F5344CB8AC3E}">
        <p14:creationId xmlns:p14="http://schemas.microsoft.com/office/powerpoint/2010/main" val="236802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 animBg="1"/>
      <p:bldP spid="3" grpId="0"/>
      <p:bldP spid="33" grpId="0" animBg="1"/>
      <p:bldP spid="34" grpId="0" animBg="1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5" grpId="0"/>
      <p:bldP spid="46" grpId="0" animBg="1"/>
      <p:bldP spid="47" grpId="0"/>
      <p:bldP spid="48" grpId="0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 animBg="1"/>
      <p:bldP spid="59" grpId="0" animBg="1"/>
      <p:bldP spid="60" grpId="0"/>
      <p:bldP spid="6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A90E2-01D9-44B4-BEB4-D0CF8883F8F4}"/>
              </a:ext>
            </a:extLst>
          </p:cNvPr>
          <p:cNvSpPr txBox="1"/>
          <p:nvPr/>
        </p:nvSpPr>
        <p:spPr>
          <a:xfrm>
            <a:off x="172720" y="477520"/>
            <a:ext cx="1034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Q. Whenever a free block is split into allocated and smaller free bock, how many 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2000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and	</a:t>
            </a:r>
          </a:p>
          <a:p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2000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pointers needs to be adjusted ? Discuss all possible cases.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0C649C-7E3E-45BF-BD23-51DC8934597F}"/>
              </a:ext>
            </a:extLst>
          </p:cNvPr>
          <p:cNvSpPr/>
          <p:nvPr/>
        </p:nvSpPr>
        <p:spPr>
          <a:xfrm>
            <a:off x="814604" y="129359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3BC003-55DA-4E5C-9C8D-67CDD7D4A5A5}"/>
              </a:ext>
            </a:extLst>
          </p:cNvPr>
          <p:cNvSpPr/>
          <p:nvPr/>
        </p:nvSpPr>
        <p:spPr>
          <a:xfrm>
            <a:off x="827641" y="625476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1D18C8-14CD-49C0-9D70-009ABD8234E8}"/>
              </a:ext>
            </a:extLst>
          </p:cNvPr>
          <p:cNvSpPr/>
          <p:nvPr/>
        </p:nvSpPr>
        <p:spPr>
          <a:xfrm>
            <a:off x="824764" y="58802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F17CF2-CB22-4337-A74E-DDE9BFDBAA2D}"/>
              </a:ext>
            </a:extLst>
          </p:cNvPr>
          <p:cNvSpPr/>
          <p:nvPr/>
        </p:nvSpPr>
        <p:spPr>
          <a:xfrm>
            <a:off x="827641" y="4754881"/>
            <a:ext cx="1337875" cy="11000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F898148-7522-4730-BB2D-0C0EA9A8D2E1}"/>
              </a:ext>
            </a:extLst>
          </p:cNvPr>
          <p:cNvSpPr/>
          <p:nvPr/>
        </p:nvSpPr>
        <p:spPr>
          <a:xfrm>
            <a:off x="814604" y="402336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8AF5C02-02F1-4CC6-9BF4-BA4FDD9A9465}"/>
              </a:ext>
            </a:extLst>
          </p:cNvPr>
          <p:cNvSpPr/>
          <p:nvPr/>
        </p:nvSpPr>
        <p:spPr>
          <a:xfrm>
            <a:off x="814604" y="363841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DC37CC-8C8C-4FDB-A7C0-0A1C47FBCA7C}"/>
              </a:ext>
            </a:extLst>
          </p:cNvPr>
          <p:cNvSpPr/>
          <p:nvPr/>
        </p:nvSpPr>
        <p:spPr>
          <a:xfrm>
            <a:off x="827641" y="32487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46B4EE2-AD3E-4D14-A62C-BA5D2090DA84}"/>
              </a:ext>
            </a:extLst>
          </p:cNvPr>
          <p:cNvSpPr/>
          <p:nvPr/>
        </p:nvSpPr>
        <p:spPr>
          <a:xfrm>
            <a:off x="837801" y="1293594"/>
            <a:ext cx="1337875" cy="190980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27EEC-00E5-4129-BD40-587F64E53790}"/>
              </a:ext>
            </a:extLst>
          </p:cNvPr>
          <p:cNvSpPr txBox="1"/>
          <p:nvPr/>
        </p:nvSpPr>
        <p:spPr>
          <a:xfrm>
            <a:off x="111107" y="197068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D2BBD-C365-490A-A589-04599CFCF3F7}"/>
              </a:ext>
            </a:extLst>
          </p:cNvPr>
          <p:cNvSpPr txBox="1"/>
          <p:nvPr/>
        </p:nvSpPr>
        <p:spPr>
          <a:xfrm>
            <a:off x="142240" y="359793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4B907C-6743-4C26-BCBA-08210D2AE6C2}"/>
              </a:ext>
            </a:extLst>
          </p:cNvPr>
          <p:cNvSpPr txBox="1"/>
          <p:nvPr/>
        </p:nvSpPr>
        <p:spPr>
          <a:xfrm>
            <a:off x="129125" y="417390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9B7798-FE2F-4252-B114-C88E6562C467}"/>
              </a:ext>
            </a:extLst>
          </p:cNvPr>
          <p:cNvSpPr txBox="1"/>
          <p:nvPr/>
        </p:nvSpPr>
        <p:spPr>
          <a:xfrm>
            <a:off x="130354" y="503838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FB9EB0-3F85-4347-99AE-24996F2611EB}"/>
              </a:ext>
            </a:extLst>
          </p:cNvPr>
          <p:cNvSpPr txBox="1"/>
          <p:nvPr/>
        </p:nvSpPr>
        <p:spPr>
          <a:xfrm>
            <a:off x="121594" y="588020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F68A2D-DD04-4A84-8CAA-EE94665F7E70}"/>
              </a:ext>
            </a:extLst>
          </p:cNvPr>
          <p:cNvSpPr txBox="1"/>
          <p:nvPr/>
        </p:nvSpPr>
        <p:spPr>
          <a:xfrm>
            <a:off x="129125" y="623661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37A1B4-F88D-4A83-97F2-0AFCCF4A144C}"/>
              </a:ext>
            </a:extLst>
          </p:cNvPr>
          <p:cNvSpPr txBox="1"/>
          <p:nvPr/>
        </p:nvSpPr>
        <p:spPr>
          <a:xfrm>
            <a:off x="2229353" y="6254761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N, N = MB6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B7E9F0-476E-418D-A072-BA3AD7CFC6EF}"/>
              </a:ext>
            </a:extLst>
          </p:cNvPr>
          <p:cNvSpPr txBox="1"/>
          <p:nvPr/>
        </p:nvSpPr>
        <p:spPr>
          <a:xfrm>
            <a:off x="2229353" y="594116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MB7, N = MB5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C8FF15A-1F48-4511-83BB-D0AA21CB2FAC}"/>
              </a:ext>
            </a:extLst>
          </p:cNvPr>
          <p:cNvSpPr txBox="1"/>
          <p:nvPr/>
        </p:nvSpPr>
        <p:spPr>
          <a:xfrm>
            <a:off x="2253889" y="5218120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MB6, N = MB4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8E71BC-2064-4AE5-9830-56B3CDFB17A4}"/>
              </a:ext>
            </a:extLst>
          </p:cNvPr>
          <p:cNvSpPr txBox="1"/>
          <p:nvPr/>
        </p:nvSpPr>
        <p:spPr>
          <a:xfrm>
            <a:off x="2237574" y="4142361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MB5, N = MB3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73BDB4-B260-470E-9B3D-B91250885BEB}"/>
              </a:ext>
            </a:extLst>
          </p:cNvPr>
          <p:cNvSpPr txBox="1"/>
          <p:nvPr/>
        </p:nvSpPr>
        <p:spPr>
          <a:xfrm>
            <a:off x="2253888" y="3701606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MB4, N = MB2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4C0414-1224-4D6F-A4AF-E18F6B872EAB}"/>
              </a:ext>
            </a:extLst>
          </p:cNvPr>
          <p:cNvSpPr txBox="1"/>
          <p:nvPr/>
        </p:nvSpPr>
        <p:spPr>
          <a:xfrm>
            <a:off x="2241579" y="329580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MB3, N = MB1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400961-CF1F-410A-AB20-1363CC8B42E3}"/>
              </a:ext>
            </a:extLst>
          </p:cNvPr>
          <p:cNvSpPr txBox="1"/>
          <p:nvPr/>
        </p:nvSpPr>
        <p:spPr>
          <a:xfrm>
            <a:off x="2253888" y="2129325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MB2, N = N</a:t>
            </a: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8AD6F62-50F2-4BA0-A32E-B7E267200469}"/>
              </a:ext>
            </a:extLst>
          </p:cNvPr>
          <p:cNvSpPr/>
          <p:nvPr/>
        </p:nvSpPr>
        <p:spPr>
          <a:xfrm>
            <a:off x="4708667" y="3745040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6295FD-5D34-409A-BB89-14B19D374507}"/>
              </a:ext>
            </a:extLst>
          </p:cNvPr>
          <p:cNvSpPr txBox="1"/>
          <p:nvPr/>
        </p:nvSpPr>
        <p:spPr>
          <a:xfrm>
            <a:off x="4705146" y="3516940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41A56C0-7F99-410A-B33D-39B3D3811F5B}"/>
              </a:ext>
            </a:extLst>
          </p:cNvPr>
          <p:cNvSpPr/>
          <p:nvPr/>
        </p:nvSpPr>
        <p:spPr>
          <a:xfrm>
            <a:off x="7618561" y="129359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EC41832-0195-4DCE-8C7B-D6B5C157E327}"/>
              </a:ext>
            </a:extLst>
          </p:cNvPr>
          <p:cNvSpPr/>
          <p:nvPr/>
        </p:nvSpPr>
        <p:spPr>
          <a:xfrm>
            <a:off x="7631598" y="625476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EE0AA1-1506-441F-A4DD-A7F9D93EABD4}"/>
              </a:ext>
            </a:extLst>
          </p:cNvPr>
          <p:cNvSpPr/>
          <p:nvPr/>
        </p:nvSpPr>
        <p:spPr>
          <a:xfrm>
            <a:off x="7628721" y="58802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3038726-6816-4C52-B9AE-DE16AFBA7150}"/>
              </a:ext>
            </a:extLst>
          </p:cNvPr>
          <p:cNvSpPr/>
          <p:nvPr/>
        </p:nvSpPr>
        <p:spPr>
          <a:xfrm>
            <a:off x="7631598" y="4754881"/>
            <a:ext cx="1337875" cy="70032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AF09B3-C49A-4569-BCDC-89BA73C69257}"/>
              </a:ext>
            </a:extLst>
          </p:cNvPr>
          <p:cNvSpPr/>
          <p:nvPr/>
        </p:nvSpPr>
        <p:spPr>
          <a:xfrm>
            <a:off x="7618561" y="402336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DA1A1CF-B22E-413A-B32F-759FB3095D8C}"/>
              </a:ext>
            </a:extLst>
          </p:cNvPr>
          <p:cNvSpPr/>
          <p:nvPr/>
        </p:nvSpPr>
        <p:spPr>
          <a:xfrm>
            <a:off x="7618561" y="363841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A2BBEB3-6A0D-4D5A-A279-2C44233248F6}"/>
              </a:ext>
            </a:extLst>
          </p:cNvPr>
          <p:cNvSpPr/>
          <p:nvPr/>
        </p:nvSpPr>
        <p:spPr>
          <a:xfrm>
            <a:off x="7631598" y="32487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B95BE7-024A-430C-BAEB-9ACF730F1CFF}"/>
              </a:ext>
            </a:extLst>
          </p:cNvPr>
          <p:cNvSpPr/>
          <p:nvPr/>
        </p:nvSpPr>
        <p:spPr>
          <a:xfrm>
            <a:off x="7641758" y="1293594"/>
            <a:ext cx="1337875" cy="190980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5B027F-EA7D-4A78-A02B-016BCE001051}"/>
              </a:ext>
            </a:extLst>
          </p:cNvPr>
          <p:cNvSpPr txBox="1"/>
          <p:nvPr/>
        </p:nvSpPr>
        <p:spPr>
          <a:xfrm>
            <a:off x="6915064" y="197068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D1A911-2497-4B87-95C1-2C180BAF57B8}"/>
              </a:ext>
            </a:extLst>
          </p:cNvPr>
          <p:cNvSpPr txBox="1"/>
          <p:nvPr/>
        </p:nvSpPr>
        <p:spPr>
          <a:xfrm>
            <a:off x="6946197" y="359793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676512-2625-42C2-9AF7-CA15E84478E8}"/>
              </a:ext>
            </a:extLst>
          </p:cNvPr>
          <p:cNvSpPr txBox="1"/>
          <p:nvPr/>
        </p:nvSpPr>
        <p:spPr>
          <a:xfrm>
            <a:off x="6933082" y="417390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E2956E-C338-4DB4-8CDC-E629DD0262DC}"/>
              </a:ext>
            </a:extLst>
          </p:cNvPr>
          <p:cNvSpPr txBox="1"/>
          <p:nvPr/>
        </p:nvSpPr>
        <p:spPr>
          <a:xfrm>
            <a:off x="6834466" y="4956597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066213-2102-4998-814B-3F51268A87E5}"/>
              </a:ext>
            </a:extLst>
          </p:cNvPr>
          <p:cNvSpPr txBox="1"/>
          <p:nvPr/>
        </p:nvSpPr>
        <p:spPr>
          <a:xfrm>
            <a:off x="6925551" y="588020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A35392-444B-4772-B8A7-A3C986771869}"/>
              </a:ext>
            </a:extLst>
          </p:cNvPr>
          <p:cNvSpPr txBox="1"/>
          <p:nvPr/>
        </p:nvSpPr>
        <p:spPr>
          <a:xfrm>
            <a:off x="6933082" y="623661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84D400-D697-4CE8-BA3E-609369399C72}"/>
              </a:ext>
            </a:extLst>
          </p:cNvPr>
          <p:cNvSpPr txBox="1"/>
          <p:nvPr/>
        </p:nvSpPr>
        <p:spPr>
          <a:xfrm>
            <a:off x="9033310" y="6254761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N, N = MB6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9D140A7-AEE4-4802-BD95-67EEC589D042}"/>
              </a:ext>
            </a:extLst>
          </p:cNvPr>
          <p:cNvSpPr txBox="1"/>
          <p:nvPr/>
        </p:nvSpPr>
        <p:spPr>
          <a:xfrm>
            <a:off x="9033310" y="5920847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MB7, </a:t>
            </a:r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N = MB52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9C3294-4FF9-4D76-96B2-DFA73FD70E24}"/>
              </a:ext>
            </a:extLst>
          </p:cNvPr>
          <p:cNvSpPr txBox="1"/>
          <p:nvPr/>
        </p:nvSpPr>
        <p:spPr>
          <a:xfrm>
            <a:off x="9057845" y="5498613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 = MB6, N = MB51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714C307-399C-44E8-AFE5-BC421388933C}"/>
              </a:ext>
            </a:extLst>
          </p:cNvPr>
          <p:cNvSpPr txBox="1"/>
          <p:nvPr/>
        </p:nvSpPr>
        <p:spPr>
          <a:xfrm>
            <a:off x="9041531" y="4142361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 = MB51</a:t>
            </a:r>
            <a:r>
              <a:rPr lang="en-US" sz="1600" dirty="0">
                <a:latin typeface="Baskerville Old Face" panose="02020602080505020303" pitchFamily="18" charset="0"/>
              </a:rPr>
              <a:t>, N = MB3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F9880BE-DAA9-411C-A65B-C79EFEA3CF74}"/>
              </a:ext>
            </a:extLst>
          </p:cNvPr>
          <p:cNvSpPr txBox="1"/>
          <p:nvPr/>
        </p:nvSpPr>
        <p:spPr>
          <a:xfrm>
            <a:off x="9057845" y="3701606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MB4, N = MB2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8E1143-F747-4710-9798-B67E9FAD13C7}"/>
              </a:ext>
            </a:extLst>
          </p:cNvPr>
          <p:cNvSpPr txBox="1"/>
          <p:nvPr/>
        </p:nvSpPr>
        <p:spPr>
          <a:xfrm>
            <a:off x="9045536" y="329580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MB3, N = MB1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1F4DD9A-77E6-4640-A5ED-0F3BDEB5FD40}"/>
              </a:ext>
            </a:extLst>
          </p:cNvPr>
          <p:cNvSpPr txBox="1"/>
          <p:nvPr/>
        </p:nvSpPr>
        <p:spPr>
          <a:xfrm>
            <a:off x="9057845" y="2129325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MB2, N = 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F0AC9AD-7343-48ED-9715-1919241C4055}"/>
              </a:ext>
            </a:extLst>
          </p:cNvPr>
          <p:cNvSpPr/>
          <p:nvPr/>
        </p:nvSpPr>
        <p:spPr>
          <a:xfrm>
            <a:off x="7638881" y="548413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6355E7E-B0D7-4140-A32D-05A4C9EAFB6D}"/>
              </a:ext>
            </a:extLst>
          </p:cNvPr>
          <p:cNvSpPr txBox="1"/>
          <p:nvPr/>
        </p:nvSpPr>
        <p:spPr>
          <a:xfrm>
            <a:off x="6844271" y="5476009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MB52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D652BE1-1C5D-4A4C-93D0-606B79290187}"/>
              </a:ext>
            </a:extLst>
          </p:cNvPr>
          <p:cNvSpPr txBox="1"/>
          <p:nvPr/>
        </p:nvSpPr>
        <p:spPr>
          <a:xfrm>
            <a:off x="9057845" y="4923537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 = MB52, N = MB4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72CD4-359D-4ABD-BB2E-59907E42AAC5}"/>
              </a:ext>
            </a:extLst>
          </p:cNvPr>
          <p:cNvSpPr txBox="1"/>
          <p:nvPr/>
        </p:nvSpPr>
        <p:spPr>
          <a:xfrm>
            <a:off x="4453539" y="1316052"/>
            <a:ext cx="1779654" cy="9541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Assumption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Size of </a:t>
            </a:r>
            <a:r>
              <a:rPr lang="en-US" sz="1400" dirty="0" err="1">
                <a:latin typeface="Baskerville Old Face" panose="02020602080505020303" pitchFamily="18" charset="0"/>
              </a:rPr>
              <a:t>Metablock</a:t>
            </a:r>
            <a:r>
              <a:rPr lang="en-US" sz="1400" dirty="0">
                <a:latin typeface="Baskerville Old Face" panose="02020602080505020303" pitchFamily="18" charset="0"/>
              </a:rPr>
              <a:t> is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Zero for simplification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Of example.</a:t>
            </a:r>
          </a:p>
        </p:txBody>
      </p:sp>
    </p:spTree>
    <p:extLst>
      <p:ext uri="{BB962C8B-B14F-4D97-AF65-F5344CB8AC3E}">
        <p14:creationId xmlns:p14="http://schemas.microsoft.com/office/powerpoint/2010/main" val="331106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 animBg="1"/>
      <p:bldP spid="107" grpId="0"/>
      <p:bldP spid="10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A90E2-01D9-44B4-BEB4-D0CF8883F8F4}"/>
              </a:ext>
            </a:extLst>
          </p:cNvPr>
          <p:cNvSpPr txBox="1"/>
          <p:nvPr/>
        </p:nvSpPr>
        <p:spPr>
          <a:xfrm>
            <a:off x="2494782" y="935598"/>
            <a:ext cx="988764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Given that the starting Address of VP is 2000. Assume the size of </a:t>
            </a:r>
            <a:r>
              <a:rPr lang="en-US" sz="2000" dirty="0" err="1">
                <a:latin typeface="Baskerville Old Face" panose="02020602080505020303" pitchFamily="18" charset="0"/>
              </a:rPr>
              <a:t>Metablock</a:t>
            </a:r>
            <a:r>
              <a:rPr lang="en-US" sz="2000" dirty="0">
                <a:latin typeface="Baskerville Old Face" panose="02020602080505020303" pitchFamily="18" charset="0"/>
              </a:rPr>
              <a:t> is 28B and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Page size is 4096B.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Q. What is the address of highest Byte in the VM page ?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Q. Find the new addresses of all P &amp; N pointers for all meta blocks.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Q. Application invoke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(2,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  <a:r>
              <a:rPr lang="en-US" sz="2000" dirty="0">
                <a:latin typeface="Baskerville Old Face" panose="02020602080505020303" pitchFamily="18" charset="0"/>
              </a:rPr>
              <a:t> , where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sizeof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is 20B. </a:t>
            </a:r>
            <a:r>
              <a:rPr lang="en-US" sz="2000" dirty="0">
                <a:latin typeface="Baskerville Old Face" panose="02020602080505020303" pitchFamily="18" charset="0"/>
              </a:rPr>
              <a:t>Let the data block MB2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Is chosen for Memory allocation. Find the new addresses of all P &amp; N pointers for all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meta blocks in VM page after allocation. Assume MB2 is split into MN21 (higher residual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free block in Memory) and MB22 (lower allocated block in Memory).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Q. Tally your Answer against the answer given. </a:t>
            </a:r>
          </a:p>
          <a:p>
            <a:r>
              <a:rPr lang="en-US" sz="2000" dirty="0">
                <a:latin typeface="Baskerville Old Face" panose="02020602080505020303" pitchFamily="18" charset="0"/>
              </a:rPr>
              <a:t>You will be going to write code for block splitting.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61AAF-CA0E-4981-A2F0-1D749938B2E8}"/>
              </a:ext>
            </a:extLst>
          </p:cNvPr>
          <p:cNvSpPr/>
          <p:nvPr/>
        </p:nvSpPr>
        <p:spPr>
          <a:xfrm>
            <a:off x="567517" y="1042815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B2B1B-309F-4A65-9C8F-5688716A5260}"/>
              </a:ext>
            </a:extLst>
          </p:cNvPr>
          <p:cNvSpPr txBox="1"/>
          <p:nvPr/>
        </p:nvSpPr>
        <p:spPr>
          <a:xfrm>
            <a:off x="1890167" y="985818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A0D919-EEBF-4980-AD40-3B868A21CDDB}"/>
              </a:ext>
            </a:extLst>
          </p:cNvPr>
          <p:cNvSpPr/>
          <p:nvPr/>
        </p:nvSpPr>
        <p:spPr>
          <a:xfrm>
            <a:off x="569398" y="1039771"/>
            <a:ext cx="1320768" cy="1560721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3592B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317B24-398E-464F-AD76-5BAFBFBD8B96}"/>
              </a:ext>
            </a:extLst>
          </p:cNvPr>
          <p:cNvSpPr/>
          <p:nvPr/>
        </p:nvSpPr>
        <p:spPr>
          <a:xfrm>
            <a:off x="552293" y="5664416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=?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B06E4A3-9E0B-430B-B146-5FD28D64E32C}"/>
              </a:ext>
            </a:extLst>
          </p:cNvPr>
          <p:cNvSpPr/>
          <p:nvPr/>
        </p:nvSpPr>
        <p:spPr>
          <a:xfrm>
            <a:off x="552291" y="5291544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CC5F14-4F76-4FAB-A0B9-48E469788E79}"/>
              </a:ext>
            </a:extLst>
          </p:cNvPr>
          <p:cNvSpPr/>
          <p:nvPr/>
        </p:nvSpPr>
        <p:spPr>
          <a:xfrm>
            <a:off x="540692" y="439797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02AD8B-CB4E-4A34-AE2B-4D24AB325FA8}"/>
              </a:ext>
            </a:extLst>
          </p:cNvPr>
          <p:cNvSpPr txBox="1"/>
          <p:nvPr/>
        </p:nvSpPr>
        <p:spPr>
          <a:xfrm>
            <a:off x="121920" y="582655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FF1D20-0CB9-4A64-A9B0-6AD657C51711}"/>
              </a:ext>
            </a:extLst>
          </p:cNvPr>
          <p:cNvSpPr/>
          <p:nvPr/>
        </p:nvSpPr>
        <p:spPr>
          <a:xfrm>
            <a:off x="552289" y="262899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3592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DADB3F-72E5-44C3-9AEE-E0AF649DFF47}"/>
              </a:ext>
            </a:extLst>
          </p:cNvPr>
          <p:cNvSpPr/>
          <p:nvPr/>
        </p:nvSpPr>
        <p:spPr>
          <a:xfrm>
            <a:off x="563888" y="3498670"/>
            <a:ext cx="1337875" cy="87654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0EFB5D-70BB-40F4-BE0D-1AFC2C757940}"/>
              </a:ext>
            </a:extLst>
          </p:cNvPr>
          <p:cNvSpPr txBox="1"/>
          <p:nvPr/>
        </p:nvSpPr>
        <p:spPr>
          <a:xfrm>
            <a:off x="121919" y="477589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14606E-A3F2-41F7-A7E7-065E99B6F49E}"/>
              </a:ext>
            </a:extLst>
          </p:cNvPr>
          <p:cNvSpPr txBox="1"/>
          <p:nvPr/>
        </p:nvSpPr>
        <p:spPr>
          <a:xfrm>
            <a:off x="53231" y="293302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C8C8BBC-FE18-4F32-A006-154B717569FA}"/>
              </a:ext>
            </a:extLst>
          </p:cNvPr>
          <p:cNvSpPr/>
          <p:nvPr/>
        </p:nvSpPr>
        <p:spPr>
          <a:xfrm>
            <a:off x="1928589" y="6490133"/>
            <a:ext cx="753651" cy="12617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7CD658-6EAF-4372-9420-638D4B954849}"/>
              </a:ext>
            </a:extLst>
          </p:cNvPr>
          <p:cNvSpPr txBox="1"/>
          <p:nvPr/>
        </p:nvSpPr>
        <p:spPr>
          <a:xfrm>
            <a:off x="1890167" y="6375021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893149-1FCC-4C99-961A-00939CDCF635}"/>
              </a:ext>
            </a:extLst>
          </p:cNvPr>
          <p:cNvSpPr txBox="1"/>
          <p:nvPr/>
        </p:nvSpPr>
        <p:spPr>
          <a:xfrm>
            <a:off x="2648933" y="6396616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2000</a:t>
            </a:r>
          </a:p>
        </p:txBody>
      </p:sp>
    </p:spTree>
    <p:extLst>
      <p:ext uri="{BB962C8B-B14F-4D97-AF65-F5344CB8AC3E}">
        <p14:creationId xmlns:p14="http://schemas.microsoft.com/office/powerpoint/2010/main" val="2131444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61AAF-CA0E-4981-A2F0-1D749938B2E8}"/>
              </a:ext>
            </a:extLst>
          </p:cNvPr>
          <p:cNvSpPr/>
          <p:nvPr/>
        </p:nvSpPr>
        <p:spPr>
          <a:xfrm>
            <a:off x="567517" y="1042815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B2B1B-309F-4A65-9C8F-5688716A5260}"/>
              </a:ext>
            </a:extLst>
          </p:cNvPr>
          <p:cNvSpPr txBox="1"/>
          <p:nvPr/>
        </p:nvSpPr>
        <p:spPr>
          <a:xfrm>
            <a:off x="1890167" y="985818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A0D919-EEBF-4980-AD40-3B868A21CDDB}"/>
              </a:ext>
            </a:extLst>
          </p:cNvPr>
          <p:cNvSpPr/>
          <p:nvPr/>
        </p:nvSpPr>
        <p:spPr>
          <a:xfrm>
            <a:off x="569398" y="1039771"/>
            <a:ext cx="1320768" cy="1560721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3592B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317B24-398E-464F-AD76-5BAFBFBD8B96}"/>
              </a:ext>
            </a:extLst>
          </p:cNvPr>
          <p:cNvSpPr/>
          <p:nvPr/>
        </p:nvSpPr>
        <p:spPr>
          <a:xfrm>
            <a:off x="552293" y="5664416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=?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B06E4A3-9E0B-430B-B146-5FD28D64E32C}"/>
              </a:ext>
            </a:extLst>
          </p:cNvPr>
          <p:cNvSpPr/>
          <p:nvPr/>
        </p:nvSpPr>
        <p:spPr>
          <a:xfrm>
            <a:off x="552291" y="5291544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CC5F14-4F76-4FAB-A0B9-48E469788E79}"/>
              </a:ext>
            </a:extLst>
          </p:cNvPr>
          <p:cNvSpPr/>
          <p:nvPr/>
        </p:nvSpPr>
        <p:spPr>
          <a:xfrm>
            <a:off x="540692" y="439797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02AD8B-CB4E-4A34-AE2B-4D24AB325FA8}"/>
              </a:ext>
            </a:extLst>
          </p:cNvPr>
          <p:cNvSpPr txBox="1"/>
          <p:nvPr/>
        </p:nvSpPr>
        <p:spPr>
          <a:xfrm>
            <a:off x="121920" y="582655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FF1D20-0CB9-4A64-A9B0-6AD657C51711}"/>
              </a:ext>
            </a:extLst>
          </p:cNvPr>
          <p:cNvSpPr/>
          <p:nvPr/>
        </p:nvSpPr>
        <p:spPr>
          <a:xfrm>
            <a:off x="552289" y="262899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3592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?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DADB3F-72E5-44C3-9AEE-E0AF649DFF47}"/>
              </a:ext>
            </a:extLst>
          </p:cNvPr>
          <p:cNvSpPr/>
          <p:nvPr/>
        </p:nvSpPr>
        <p:spPr>
          <a:xfrm>
            <a:off x="563888" y="3498670"/>
            <a:ext cx="1337875" cy="87654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0EFB5D-70BB-40F4-BE0D-1AFC2C757940}"/>
              </a:ext>
            </a:extLst>
          </p:cNvPr>
          <p:cNvSpPr txBox="1"/>
          <p:nvPr/>
        </p:nvSpPr>
        <p:spPr>
          <a:xfrm>
            <a:off x="121919" y="477589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14606E-A3F2-41F7-A7E7-065E99B6F49E}"/>
              </a:ext>
            </a:extLst>
          </p:cNvPr>
          <p:cNvSpPr txBox="1"/>
          <p:nvPr/>
        </p:nvSpPr>
        <p:spPr>
          <a:xfrm>
            <a:off x="121196" y="378385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C8C8BBC-FE18-4F32-A006-154B717569FA}"/>
              </a:ext>
            </a:extLst>
          </p:cNvPr>
          <p:cNvSpPr/>
          <p:nvPr/>
        </p:nvSpPr>
        <p:spPr>
          <a:xfrm>
            <a:off x="1928589" y="6490133"/>
            <a:ext cx="753651" cy="12617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7CD658-6EAF-4372-9420-638D4B954849}"/>
              </a:ext>
            </a:extLst>
          </p:cNvPr>
          <p:cNvSpPr txBox="1"/>
          <p:nvPr/>
        </p:nvSpPr>
        <p:spPr>
          <a:xfrm>
            <a:off x="1890167" y="6375021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893149-1FCC-4C99-961A-00939CDCF635}"/>
              </a:ext>
            </a:extLst>
          </p:cNvPr>
          <p:cNvSpPr txBox="1"/>
          <p:nvPr/>
        </p:nvSpPr>
        <p:spPr>
          <a:xfrm>
            <a:off x="2648933" y="6396616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8B48B-19A7-4F2C-8DE5-4149D81E0004}"/>
              </a:ext>
            </a:extLst>
          </p:cNvPr>
          <p:cNvSpPr txBox="1"/>
          <p:nvPr/>
        </p:nvSpPr>
        <p:spPr>
          <a:xfrm>
            <a:off x="2648933" y="1577700"/>
            <a:ext cx="87206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</a:t>
            </a:r>
            <a:r>
              <a:rPr lang="en-US" sz="20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mm_bind_blocks_for_allocation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allocated_meta_block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0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free_meta_block</a:t>
            </a:r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\</a:t>
            </a:r>
          </a:p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sz="20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739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A90E2-01D9-44B4-BEB4-D0CF8883F8F4}"/>
              </a:ext>
            </a:extLst>
          </p:cNvPr>
          <p:cNvSpPr txBox="1"/>
          <p:nvPr/>
        </p:nvSpPr>
        <p:spPr>
          <a:xfrm>
            <a:off x="172720" y="477520"/>
            <a:ext cx="1034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Q. Whenever a free block is split into allocated and smaller free bock, how many 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2000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and	</a:t>
            </a:r>
          </a:p>
          <a:p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2000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2000" i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2000" dirty="0">
                <a:latin typeface="Baskerville Old Face" panose="02020602080505020303" pitchFamily="18" charset="0"/>
              </a:rPr>
              <a:t>pointers needs to be adjusted ? Discuss all possible cases.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0C649C-7E3E-45BF-BD23-51DC8934597F}"/>
              </a:ext>
            </a:extLst>
          </p:cNvPr>
          <p:cNvSpPr/>
          <p:nvPr/>
        </p:nvSpPr>
        <p:spPr>
          <a:xfrm>
            <a:off x="814604" y="129359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3BC003-55DA-4E5C-9C8D-67CDD7D4A5A5}"/>
              </a:ext>
            </a:extLst>
          </p:cNvPr>
          <p:cNvSpPr/>
          <p:nvPr/>
        </p:nvSpPr>
        <p:spPr>
          <a:xfrm>
            <a:off x="827641" y="625476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1D18C8-14CD-49C0-9D70-009ABD8234E8}"/>
              </a:ext>
            </a:extLst>
          </p:cNvPr>
          <p:cNvSpPr/>
          <p:nvPr/>
        </p:nvSpPr>
        <p:spPr>
          <a:xfrm>
            <a:off x="824764" y="58802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F17CF2-CB22-4337-A74E-DDE9BFDBAA2D}"/>
              </a:ext>
            </a:extLst>
          </p:cNvPr>
          <p:cNvSpPr/>
          <p:nvPr/>
        </p:nvSpPr>
        <p:spPr>
          <a:xfrm>
            <a:off x="827641" y="4754881"/>
            <a:ext cx="1337875" cy="11000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F898148-7522-4730-BB2D-0C0EA9A8D2E1}"/>
              </a:ext>
            </a:extLst>
          </p:cNvPr>
          <p:cNvSpPr/>
          <p:nvPr/>
        </p:nvSpPr>
        <p:spPr>
          <a:xfrm>
            <a:off x="814604" y="402336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8AF5C02-02F1-4CC6-9BF4-BA4FDD9A9465}"/>
              </a:ext>
            </a:extLst>
          </p:cNvPr>
          <p:cNvSpPr/>
          <p:nvPr/>
        </p:nvSpPr>
        <p:spPr>
          <a:xfrm>
            <a:off x="814604" y="363841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DC37CC-8C8C-4FDB-A7C0-0A1C47FBCA7C}"/>
              </a:ext>
            </a:extLst>
          </p:cNvPr>
          <p:cNvSpPr/>
          <p:nvPr/>
        </p:nvSpPr>
        <p:spPr>
          <a:xfrm>
            <a:off x="827641" y="32487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46B4EE2-AD3E-4D14-A62C-BA5D2090DA84}"/>
              </a:ext>
            </a:extLst>
          </p:cNvPr>
          <p:cNvSpPr/>
          <p:nvPr/>
        </p:nvSpPr>
        <p:spPr>
          <a:xfrm>
            <a:off x="837801" y="1293594"/>
            <a:ext cx="1337875" cy="190980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27EEC-00E5-4129-BD40-587F64E53790}"/>
              </a:ext>
            </a:extLst>
          </p:cNvPr>
          <p:cNvSpPr txBox="1"/>
          <p:nvPr/>
        </p:nvSpPr>
        <p:spPr>
          <a:xfrm>
            <a:off x="111107" y="197068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D2BBD-C365-490A-A589-04599CFCF3F7}"/>
              </a:ext>
            </a:extLst>
          </p:cNvPr>
          <p:cNvSpPr txBox="1"/>
          <p:nvPr/>
        </p:nvSpPr>
        <p:spPr>
          <a:xfrm>
            <a:off x="142240" y="359793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4B907C-6743-4C26-BCBA-08210D2AE6C2}"/>
              </a:ext>
            </a:extLst>
          </p:cNvPr>
          <p:cNvSpPr txBox="1"/>
          <p:nvPr/>
        </p:nvSpPr>
        <p:spPr>
          <a:xfrm>
            <a:off x="129125" y="417390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9B7798-FE2F-4252-B114-C88E6562C467}"/>
              </a:ext>
            </a:extLst>
          </p:cNvPr>
          <p:cNvSpPr txBox="1"/>
          <p:nvPr/>
        </p:nvSpPr>
        <p:spPr>
          <a:xfrm>
            <a:off x="130354" y="503838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FB9EB0-3F85-4347-99AE-24996F2611EB}"/>
              </a:ext>
            </a:extLst>
          </p:cNvPr>
          <p:cNvSpPr txBox="1"/>
          <p:nvPr/>
        </p:nvSpPr>
        <p:spPr>
          <a:xfrm>
            <a:off x="121594" y="588020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F68A2D-DD04-4A84-8CAA-EE94665F7E70}"/>
              </a:ext>
            </a:extLst>
          </p:cNvPr>
          <p:cNvSpPr txBox="1"/>
          <p:nvPr/>
        </p:nvSpPr>
        <p:spPr>
          <a:xfrm>
            <a:off x="129125" y="623661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37A1B4-F88D-4A83-97F2-0AFCCF4A144C}"/>
              </a:ext>
            </a:extLst>
          </p:cNvPr>
          <p:cNvSpPr txBox="1"/>
          <p:nvPr/>
        </p:nvSpPr>
        <p:spPr>
          <a:xfrm>
            <a:off x="2229353" y="6254761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N, N = MB6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B7E9F0-476E-418D-A072-BA3AD7CFC6EF}"/>
              </a:ext>
            </a:extLst>
          </p:cNvPr>
          <p:cNvSpPr txBox="1"/>
          <p:nvPr/>
        </p:nvSpPr>
        <p:spPr>
          <a:xfrm>
            <a:off x="2229353" y="594116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MB7, N = MB5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C8FF15A-1F48-4511-83BB-D0AA21CB2FAC}"/>
              </a:ext>
            </a:extLst>
          </p:cNvPr>
          <p:cNvSpPr txBox="1"/>
          <p:nvPr/>
        </p:nvSpPr>
        <p:spPr>
          <a:xfrm>
            <a:off x="2253889" y="5218120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MB6, N = MB4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8E71BC-2064-4AE5-9830-56B3CDFB17A4}"/>
              </a:ext>
            </a:extLst>
          </p:cNvPr>
          <p:cNvSpPr txBox="1"/>
          <p:nvPr/>
        </p:nvSpPr>
        <p:spPr>
          <a:xfrm>
            <a:off x="2237574" y="4142361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MB5, N = MB3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73BDB4-B260-470E-9B3D-B91250885BEB}"/>
              </a:ext>
            </a:extLst>
          </p:cNvPr>
          <p:cNvSpPr txBox="1"/>
          <p:nvPr/>
        </p:nvSpPr>
        <p:spPr>
          <a:xfrm>
            <a:off x="2253888" y="3701606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MB4, N = MB2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4C0414-1224-4D6F-A4AF-E18F6B872EAB}"/>
              </a:ext>
            </a:extLst>
          </p:cNvPr>
          <p:cNvSpPr txBox="1"/>
          <p:nvPr/>
        </p:nvSpPr>
        <p:spPr>
          <a:xfrm>
            <a:off x="2241579" y="329580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MB3, N = MB1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400961-CF1F-410A-AB20-1363CC8B42E3}"/>
              </a:ext>
            </a:extLst>
          </p:cNvPr>
          <p:cNvSpPr txBox="1"/>
          <p:nvPr/>
        </p:nvSpPr>
        <p:spPr>
          <a:xfrm>
            <a:off x="2253888" y="2129325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MB2, N = N</a:t>
            </a: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8AD6F62-50F2-4BA0-A32E-B7E267200469}"/>
              </a:ext>
            </a:extLst>
          </p:cNvPr>
          <p:cNvSpPr/>
          <p:nvPr/>
        </p:nvSpPr>
        <p:spPr>
          <a:xfrm>
            <a:off x="4708667" y="3745040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6295FD-5D34-409A-BB89-14B19D374507}"/>
              </a:ext>
            </a:extLst>
          </p:cNvPr>
          <p:cNvSpPr txBox="1"/>
          <p:nvPr/>
        </p:nvSpPr>
        <p:spPr>
          <a:xfrm>
            <a:off x="4705146" y="3516940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41A56C0-7F99-410A-B33D-39B3D3811F5B}"/>
              </a:ext>
            </a:extLst>
          </p:cNvPr>
          <p:cNvSpPr/>
          <p:nvPr/>
        </p:nvSpPr>
        <p:spPr>
          <a:xfrm>
            <a:off x="7618561" y="1293594"/>
            <a:ext cx="1361072" cy="538016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EC41832-0195-4DCE-8C7B-D6B5C157E327}"/>
              </a:ext>
            </a:extLst>
          </p:cNvPr>
          <p:cNvSpPr/>
          <p:nvPr/>
        </p:nvSpPr>
        <p:spPr>
          <a:xfrm>
            <a:off x="7631598" y="625476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EE0AA1-1506-441F-A4DD-A7F9D93EABD4}"/>
              </a:ext>
            </a:extLst>
          </p:cNvPr>
          <p:cNvSpPr/>
          <p:nvPr/>
        </p:nvSpPr>
        <p:spPr>
          <a:xfrm>
            <a:off x="7628721" y="58802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3038726-6816-4C52-B9AE-DE16AFBA7150}"/>
              </a:ext>
            </a:extLst>
          </p:cNvPr>
          <p:cNvSpPr/>
          <p:nvPr/>
        </p:nvSpPr>
        <p:spPr>
          <a:xfrm>
            <a:off x="7631598" y="4754881"/>
            <a:ext cx="1337875" cy="70032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AF09B3-C49A-4569-BCDC-89BA73C69257}"/>
              </a:ext>
            </a:extLst>
          </p:cNvPr>
          <p:cNvSpPr/>
          <p:nvPr/>
        </p:nvSpPr>
        <p:spPr>
          <a:xfrm>
            <a:off x="7618561" y="402336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DA1A1CF-B22E-413A-B32F-759FB3095D8C}"/>
              </a:ext>
            </a:extLst>
          </p:cNvPr>
          <p:cNvSpPr/>
          <p:nvPr/>
        </p:nvSpPr>
        <p:spPr>
          <a:xfrm>
            <a:off x="7618561" y="363841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A2BBEB3-6A0D-4D5A-A279-2C44233248F6}"/>
              </a:ext>
            </a:extLst>
          </p:cNvPr>
          <p:cNvSpPr/>
          <p:nvPr/>
        </p:nvSpPr>
        <p:spPr>
          <a:xfrm>
            <a:off x="7631598" y="324870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B95BE7-024A-430C-BAEB-9ACF730F1CFF}"/>
              </a:ext>
            </a:extLst>
          </p:cNvPr>
          <p:cNvSpPr/>
          <p:nvPr/>
        </p:nvSpPr>
        <p:spPr>
          <a:xfrm>
            <a:off x="7641758" y="1293594"/>
            <a:ext cx="1337875" cy="190980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5B027F-EA7D-4A78-A02B-016BCE001051}"/>
              </a:ext>
            </a:extLst>
          </p:cNvPr>
          <p:cNvSpPr txBox="1"/>
          <p:nvPr/>
        </p:nvSpPr>
        <p:spPr>
          <a:xfrm>
            <a:off x="6915064" y="197068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D1A911-2497-4B87-95C1-2C180BAF57B8}"/>
              </a:ext>
            </a:extLst>
          </p:cNvPr>
          <p:cNvSpPr txBox="1"/>
          <p:nvPr/>
        </p:nvSpPr>
        <p:spPr>
          <a:xfrm>
            <a:off x="6946197" y="359793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676512-2625-42C2-9AF7-CA15E84478E8}"/>
              </a:ext>
            </a:extLst>
          </p:cNvPr>
          <p:cNvSpPr txBox="1"/>
          <p:nvPr/>
        </p:nvSpPr>
        <p:spPr>
          <a:xfrm>
            <a:off x="6933082" y="417390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E2956E-C338-4DB4-8CDC-E629DD0262DC}"/>
              </a:ext>
            </a:extLst>
          </p:cNvPr>
          <p:cNvSpPr txBox="1"/>
          <p:nvPr/>
        </p:nvSpPr>
        <p:spPr>
          <a:xfrm>
            <a:off x="6834466" y="4956597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066213-2102-4998-814B-3F51268A87E5}"/>
              </a:ext>
            </a:extLst>
          </p:cNvPr>
          <p:cNvSpPr txBox="1"/>
          <p:nvPr/>
        </p:nvSpPr>
        <p:spPr>
          <a:xfrm>
            <a:off x="6925551" y="588020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A35392-444B-4772-B8A7-A3C986771869}"/>
              </a:ext>
            </a:extLst>
          </p:cNvPr>
          <p:cNvSpPr txBox="1"/>
          <p:nvPr/>
        </p:nvSpPr>
        <p:spPr>
          <a:xfrm>
            <a:off x="6933082" y="623661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84D400-D697-4CE8-BA3E-609369399C72}"/>
              </a:ext>
            </a:extLst>
          </p:cNvPr>
          <p:cNvSpPr txBox="1"/>
          <p:nvPr/>
        </p:nvSpPr>
        <p:spPr>
          <a:xfrm>
            <a:off x="9033310" y="6254761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N, N = MB6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9D140A7-AEE4-4802-BD95-67EEC589D042}"/>
              </a:ext>
            </a:extLst>
          </p:cNvPr>
          <p:cNvSpPr txBox="1"/>
          <p:nvPr/>
        </p:nvSpPr>
        <p:spPr>
          <a:xfrm>
            <a:off x="9033310" y="5920847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MB7, </a:t>
            </a:r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N = MB52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9C3294-4FF9-4D76-96B2-DFA73FD70E24}"/>
              </a:ext>
            </a:extLst>
          </p:cNvPr>
          <p:cNvSpPr txBox="1"/>
          <p:nvPr/>
        </p:nvSpPr>
        <p:spPr>
          <a:xfrm>
            <a:off x="9057845" y="5498613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P = MB6, </a:t>
            </a:r>
            <a:r>
              <a:rPr lang="en-US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N = MB51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714C307-399C-44E8-AFE5-BC421388933C}"/>
              </a:ext>
            </a:extLst>
          </p:cNvPr>
          <p:cNvSpPr txBox="1"/>
          <p:nvPr/>
        </p:nvSpPr>
        <p:spPr>
          <a:xfrm>
            <a:off x="9041531" y="4142361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P = MB51</a:t>
            </a:r>
            <a:r>
              <a:rPr lang="en-US" sz="1600" dirty="0">
                <a:latin typeface="Baskerville Old Face" panose="02020602080505020303" pitchFamily="18" charset="0"/>
              </a:rPr>
              <a:t>, N = MB3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F9880BE-DAA9-411C-A65B-C79EFEA3CF74}"/>
              </a:ext>
            </a:extLst>
          </p:cNvPr>
          <p:cNvSpPr txBox="1"/>
          <p:nvPr/>
        </p:nvSpPr>
        <p:spPr>
          <a:xfrm>
            <a:off x="9057845" y="3701606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MB4, N = MB2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8E1143-F747-4710-9798-B67E9FAD13C7}"/>
              </a:ext>
            </a:extLst>
          </p:cNvPr>
          <p:cNvSpPr txBox="1"/>
          <p:nvPr/>
        </p:nvSpPr>
        <p:spPr>
          <a:xfrm>
            <a:off x="9045536" y="3295807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MB3, N = MB1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1F4DD9A-77E6-4640-A5ED-0F3BDEB5FD40}"/>
              </a:ext>
            </a:extLst>
          </p:cNvPr>
          <p:cNvSpPr txBox="1"/>
          <p:nvPr/>
        </p:nvSpPr>
        <p:spPr>
          <a:xfrm>
            <a:off x="9057845" y="2129325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P = MB2, N = 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F0AC9AD-7343-48ED-9715-1919241C4055}"/>
              </a:ext>
            </a:extLst>
          </p:cNvPr>
          <p:cNvSpPr/>
          <p:nvPr/>
        </p:nvSpPr>
        <p:spPr>
          <a:xfrm>
            <a:off x="7638881" y="548413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6355E7E-B0D7-4140-A32D-05A4C9EAFB6D}"/>
              </a:ext>
            </a:extLst>
          </p:cNvPr>
          <p:cNvSpPr txBox="1"/>
          <p:nvPr/>
        </p:nvSpPr>
        <p:spPr>
          <a:xfrm>
            <a:off x="6844271" y="5476009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99FF"/>
                </a:solidFill>
                <a:latin typeface="Baskerville Old Face" panose="02020602080505020303" pitchFamily="18" charset="0"/>
              </a:rPr>
              <a:t>MB52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D652BE1-1C5D-4A4C-93D0-606B79290187}"/>
              </a:ext>
            </a:extLst>
          </p:cNvPr>
          <p:cNvSpPr txBox="1"/>
          <p:nvPr/>
        </p:nvSpPr>
        <p:spPr>
          <a:xfrm>
            <a:off x="9057845" y="4923537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P = MB52, N = MB4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72CD4-359D-4ABD-BB2E-59907E42AAC5}"/>
              </a:ext>
            </a:extLst>
          </p:cNvPr>
          <p:cNvSpPr txBox="1"/>
          <p:nvPr/>
        </p:nvSpPr>
        <p:spPr>
          <a:xfrm>
            <a:off x="4453539" y="1316052"/>
            <a:ext cx="1779654" cy="9541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Assumption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Size of </a:t>
            </a:r>
            <a:r>
              <a:rPr lang="en-US" sz="1400" dirty="0" err="1">
                <a:latin typeface="Baskerville Old Face" panose="02020602080505020303" pitchFamily="18" charset="0"/>
              </a:rPr>
              <a:t>Metablock</a:t>
            </a:r>
            <a:r>
              <a:rPr lang="en-US" sz="1400" dirty="0">
                <a:latin typeface="Baskerville Old Face" panose="02020602080505020303" pitchFamily="18" charset="0"/>
              </a:rPr>
              <a:t> is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Zero for simplification</a:t>
            </a:r>
          </a:p>
          <a:p>
            <a:pPr algn="ctr"/>
            <a:r>
              <a:rPr lang="en-US" sz="1400" dirty="0">
                <a:latin typeface="Baskerville Old Face" panose="02020602080505020303" pitchFamily="18" charset="0"/>
              </a:rPr>
              <a:t>Of example.</a:t>
            </a:r>
          </a:p>
        </p:txBody>
      </p:sp>
    </p:spTree>
    <p:extLst>
      <p:ext uri="{BB962C8B-B14F-4D97-AF65-F5344CB8AC3E}">
        <p14:creationId xmlns:p14="http://schemas.microsoft.com/office/powerpoint/2010/main" val="3602406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B2B449-E51A-476A-B83C-B702F84ABD48}"/>
              </a:ext>
            </a:extLst>
          </p:cNvPr>
          <p:cNvSpPr txBox="1"/>
          <p:nvPr/>
        </p:nvSpPr>
        <p:spPr>
          <a:xfrm>
            <a:off x="72633" y="454449"/>
            <a:ext cx="1928887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Merging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BBC1B-F547-4154-943D-4A9D6CF45A38}"/>
              </a:ext>
            </a:extLst>
          </p:cNvPr>
          <p:cNvSpPr txBox="1"/>
          <p:nvPr/>
        </p:nvSpPr>
        <p:spPr>
          <a:xfrm>
            <a:off x="72633" y="965334"/>
            <a:ext cx="10745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Whenever the application release the block of memory, LMM </a:t>
            </a:r>
            <a:r>
              <a:rPr lang="en-US" sz="2000" i="1" dirty="0">
                <a:latin typeface="Baskerville Old Face" panose="02020602080505020303" pitchFamily="18" charset="0"/>
              </a:rPr>
              <a:t>May </a:t>
            </a:r>
            <a:r>
              <a:rPr lang="en-US" sz="2000" dirty="0">
                <a:latin typeface="Baskerville Old Face" panose="02020602080505020303" pitchFamily="18" charset="0"/>
              </a:rPr>
              <a:t> need to perform Block Merging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27D793-2C81-4D17-AE15-85EB0A2C4082}"/>
              </a:ext>
            </a:extLst>
          </p:cNvPr>
          <p:cNvSpPr/>
          <p:nvPr/>
        </p:nvSpPr>
        <p:spPr>
          <a:xfrm>
            <a:off x="865404" y="1574800"/>
            <a:ext cx="1361072" cy="518755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6A8F3A-FD3B-4AF6-A70B-10BE104CF43A}"/>
              </a:ext>
            </a:extLst>
          </p:cNvPr>
          <p:cNvSpPr/>
          <p:nvPr/>
        </p:nvSpPr>
        <p:spPr>
          <a:xfrm>
            <a:off x="868281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802D0F-558E-46C1-9A39-17C46FDD3241}"/>
              </a:ext>
            </a:extLst>
          </p:cNvPr>
          <p:cNvSpPr/>
          <p:nvPr/>
        </p:nvSpPr>
        <p:spPr>
          <a:xfrm>
            <a:off x="865404" y="59586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51F19A2-8921-41BD-97AE-6BE61FF83881}"/>
              </a:ext>
            </a:extLst>
          </p:cNvPr>
          <p:cNvSpPr/>
          <p:nvPr/>
        </p:nvSpPr>
        <p:spPr>
          <a:xfrm>
            <a:off x="868281" y="4833321"/>
            <a:ext cx="1337875" cy="110001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D886D5-D33D-4737-A6AB-BF633664AF7A}"/>
              </a:ext>
            </a:extLst>
          </p:cNvPr>
          <p:cNvSpPr/>
          <p:nvPr/>
        </p:nvSpPr>
        <p:spPr>
          <a:xfrm>
            <a:off x="855244" y="410180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EFD5305-613F-4522-840B-A89FD93CBF8A}"/>
              </a:ext>
            </a:extLst>
          </p:cNvPr>
          <p:cNvSpPr/>
          <p:nvPr/>
        </p:nvSpPr>
        <p:spPr>
          <a:xfrm>
            <a:off x="855244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658C6B4-FC85-49CE-9022-178049AF2856}"/>
              </a:ext>
            </a:extLst>
          </p:cNvPr>
          <p:cNvSpPr/>
          <p:nvPr/>
        </p:nvSpPr>
        <p:spPr>
          <a:xfrm>
            <a:off x="868281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CDE19D-8099-47D8-A7D1-6244E9B79B65}"/>
              </a:ext>
            </a:extLst>
          </p:cNvPr>
          <p:cNvSpPr/>
          <p:nvPr/>
        </p:nvSpPr>
        <p:spPr>
          <a:xfrm>
            <a:off x="878441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0DEEBB-B996-4380-9D9B-2B8D6CEC1C28}"/>
              </a:ext>
            </a:extLst>
          </p:cNvPr>
          <p:cNvSpPr txBox="1"/>
          <p:nvPr/>
        </p:nvSpPr>
        <p:spPr>
          <a:xfrm>
            <a:off x="151747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43D65D-460C-489F-B6CC-39354BCDB31E}"/>
              </a:ext>
            </a:extLst>
          </p:cNvPr>
          <p:cNvSpPr txBox="1"/>
          <p:nvPr/>
        </p:nvSpPr>
        <p:spPr>
          <a:xfrm>
            <a:off x="182880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01D80E-BE67-4FE4-ADB3-93D5235C4B55}"/>
              </a:ext>
            </a:extLst>
          </p:cNvPr>
          <p:cNvSpPr txBox="1"/>
          <p:nvPr/>
        </p:nvSpPr>
        <p:spPr>
          <a:xfrm>
            <a:off x="169765" y="425234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AAF264-268F-4E26-AB21-CAAA5B7092EC}"/>
              </a:ext>
            </a:extLst>
          </p:cNvPr>
          <p:cNvSpPr txBox="1"/>
          <p:nvPr/>
        </p:nvSpPr>
        <p:spPr>
          <a:xfrm>
            <a:off x="170994" y="511682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0AFC92-2925-4C6D-8AB4-8B6416CA09F1}"/>
              </a:ext>
            </a:extLst>
          </p:cNvPr>
          <p:cNvSpPr txBox="1"/>
          <p:nvPr/>
        </p:nvSpPr>
        <p:spPr>
          <a:xfrm>
            <a:off x="162234" y="595864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3CE808-8545-4CB7-9DEB-1E13A05CE56B}"/>
              </a:ext>
            </a:extLst>
          </p:cNvPr>
          <p:cNvSpPr txBox="1"/>
          <p:nvPr/>
        </p:nvSpPr>
        <p:spPr>
          <a:xfrm>
            <a:off x="169765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F7CCECF-1AC4-4C8F-8BC0-CB604BD9A69A}"/>
              </a:ext>
            </a:extLst>
          </p:cNvPr>
          <p:cNvSpPr/>
          <p:nvPr/>
        </p:nvSpPr>
        <p:spPr>
          <a:xfrm>
            <a:off x="2676667" y="3281841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2E57AA-693D-4366-BB79-11E3BA0B2DCB}"/>
              </a:ext>
            </a:extLst>
          </p:cNvPr>
          <p:cNvSpPr txBox="1"/>
          <p:nvPr/>
        </p:nvSpPr>
        <p:spPr>
          <a:xfrm>
            <a:off x="2673146" y="305374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xfree</a:t>
            </a:r>
            <a:r>
              <a:rPr lang="en-US" dirty="0">
                <a:latin typeface="Baskerville Old Face" panose="02020602080505020303" pitchFamily="18" charset="0"/>
              </a:rPr>
              <a:t>(MB5)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5441EA5-7AAE-4E2E-9B7B-7321857BA746}"/>
              </a:ext>
            </a:extLst>
          </p:cNvPr>
          <p:cNvSpPr/>
          <p:nvPr/>
        </p:nvSpPr>
        <p:spPr>
          <a:xfrm>
            <a:off x="5287699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DF0BDF-89E1-4288-A3FA-86B3C8451F17}"/>
              </a:ext>
            </a:extLst>
          </p:cNvPr>
          <p:cNvSpPr/>
          <p:nvPr/>
        </p:nvSpPr>
        <p:spPr>
          <a:xfrm>
            <a:off x="5284822" y="59586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4735EC-D4B8-4768-846E-8E0B894CC861}"/>
              </a:ext>
            </a:extLst>
          </p:cNvPr>
          <p:cNvSpPr/>
          <p:nvPr/>
        </p:nvSpPr>
        <p:spPr>
          <a:xfrm>
            <a:off x="5287699" y="4833321"/>
            <a:ext cx="1337875" cy="11000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02813B2-60B9-4E25-9262-1DDF17C8C023}"/>
              </a:ext>
            </a:extLst>
          </p:cNvPr>
          <p:cNvSpPr/>
          <p:nvPr/>
        </p:nvSpPr>
        <p:spPr>
          <a:xfrm>
            <a:off x="5274662" y="410180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B11110F-AE87-4B75-BE63-AA8F64B266A3}"/>
              </a:ext>
            </a:extLst>
          </p:cNvPr>
          <p:cNvSpPr/>
          <p:nvPr/>
        </p:nvSpPr>
        <p:spPr>
          <a:xfrm>
            <a:off x="5274662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819F874-CA04-4C52-A24F-9E7138677931}"/>
              </a:ext>
            </a:extLst>
          </p:cNvPr>
          <p:cNvSpPr/>
          <p:nvPr/>
        </p:nvSpPr>
        <p:spPr>
          <a:xfrm>
            <a:off x="5287699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24678E1-9244-4EAF-8141-7DE4E99DE6ED}"/>
              </a:ext>
            </a:extLst>
          </p:cNvPr>
          <p:cNvSpPr/>
          <p:nvPr/>
        </p:nvSpPr>
        <p:spPr>
          <a:xfrm>
            <a:off x="5297859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321A2E-0667-41F0-9890-F2DD76F9FA14}"/>
              </a:ext>
            </a:extLst>
          </p:cNvPr>
          <p:cNvSpPr txBox="1"/>
          <p:nvPr/>
        </p:nvSpPr>
        <p:spPr>
          <a:xfrm>
            <a:off x="4571165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D72C03-E046-4872-8CEB-055495E6192B}"/>
              </a:ext>
            </a:extLst>
          </p:cNvPr>
          <p:cNvSpPr txBox="1"/>
          <p:nvPr/>
        </p:nvSpPr>
        <p:spPr>
          <a:xfrm>
            <a:off x="4602298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A5DA4F-237C-4429-A83B-810AEDEA4C06}"/>
              </a:ext>
            </a:extLst>
          </p:cNvPr>
          <p:cNvSpPr txBox="1"/>
          <p:nvPr/>
        </p:nvSpPr>
        <p:spPr>
          <a:xfrm>
            <a:off x="4589183" y="425234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AB0B4F-8B3D-4C39-9E2C-AABC8C45BEC1}"/>
              </a:ext>
            </a:extLst>
          </p:cNvPr>
          <p:cNvSpPr txBox="1"/>
          <p:nvPr/>
        </p:nvSpPr>
        <p:spPr>
          <a:xfrm>
            <a:off x="4590412" y="511682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05E05C-79F4-476C-AE6F-6A60F025B6AA}"/>
              </a:ext>
            </a:extLst>
          </p:cNvPr>
          <p:cNvSpPr txBox="1"/>
          <p:nvPr/>
        </p:nvSpPr>
        <p:spPr>
          <a:xfrm>
            <a:off x="4581652" y="595864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DFC347-12A1-4297-9DCB-F89E24E163CC}"/>
              </a:ext>
            </a:extLst>
          </p:cNvPr>
          <p:cNvSpPr txBox="1"/>
          <p:nvPr/>
        </p:nvSpPr>
        <p:spPr>
          <a:xfrm>
            <a:off x="4589183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34534F82-A536-4F58-BBBC-9EEE00499CEB}"/>
              </a:ext>
            </a:extLst>
          </p:cNvPr>
          <p:cNvSpPr/>
          <p:nvPr/>
        </p:nvSpPr>
        <p:spPr>
          <a:xfrm>
            <a:off x="7145989" y="3238407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24F801C-BE1D-4A1F-8946-1550775AD080}"/>
              </a:ext>
            </a:extLst>
          </p:cNvPr>
          <p:cNvSpPr/>
          <p:nvPr/>
        </p:nvSpPr>
        <p:spPr>
          <a:xfrm>
            <a:off x="10086614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3AFF769-58BC-4C37-9189-111C66A74EF2}"/>
              </a:ext>
            </a:extLst>
          </p:cNvPr>
          <p:cNvSpPr/>
          <p:nvPr/>
        </p:nvSpPr>
        <p:spPr>
          <a:xfrm>
            <a:off x="10083737" y="59586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BF0D433-E4BC-4D4A-97D5-B1F5FCA5EE51}"/>
              </a:ext>
            </a:extLst>
          </p:cNvPr>
          <p:cNvSpPr/>
          <p:nvPr/>
        </p:nvSpPr>
        <p:spPr>
          <a:xfrm>
            <a:off x="10086614" y="4069894"/>
            <a:ext cx="1337875" cy="186343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9698A46-09CE-4241-91B2-C3A501E58F62}"/>
              </a:ext>
            </a:extLst>
          </p:cNvPr>
          <p:cNvSpPr/>
          <p:nvPr/>
        </p:nvSpPr>
        <p:spPr>
          <a:xfrm>
            <a:off x="10073577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281A8B-6DBA-44AF-8E45-84C05843D4A4}"/>
              </a:ext>
            </a:extLst>
          </p:cNvPr>
          <p:cNvSpPr/>
          <p:nvPr/>
        </p:nvSpPr>
        <p:spPr>
          <a:xfrm>
            <a:off x="10086614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4100B07-BA63-4D8B-96D0-BD369B4BF027}"/>
              </a:ext>
            </a:extLst>
          </p:cNvPr>
          <p:cNvSpPr/>
          <p:nvPr/>
        </p:nvSpPr>
        <p:spPr>
          <a:xfrm>
            <a:off x="10096774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855A969-DE9F-4051-8DF2-4F4E50C95EE3}"/>
              </a:ext>
            </a:extLst>
          </p:cNvPr>
          <p:cNvSpPr txBox="1"/>
          <p:nvPr/>
        </p:nvSpPr>
        <p:spPr>
          <a:xfrm>
            <a:off x="9370080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C02EEE-B864-4522-9E25-8FF0B30AC999}"/>
              </a:ext>
            </a:extLst>
          </p:cNvPr>
          <p:cNvSpPr txBox="1"/>
          <p:nvPr/>
        </p:nvSpPr>
        <p:spPr>
          <a:xfrm>
            <a:off x="9401213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35746D-17B4-4239-B61E-589BD7AC2697}"/>
              </a:ext>
            </a:extLst>
          </p:cNvPr>
          <p:cNvSpPr txBox="1"/>
          <p:nvPr/>
        </p:nvSpPr>
        <p:spPr>
          <a:xfrm>
            <a:off x="9309120" y="4739657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A21A9F2-F338-4D59-B685-D15096541436}"/>
              </a:ext>
            </a:extLst>
          </p:cNvPr>
          <p:cNvSpPr txBox="1"/>
          <p:nvPr/>
        </p:nvSpPr>
        <p:spPr>
          <a:xfrm>
            <a:off x="9380567" y="595864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4340812-9990-40DE-BD48-1A0038200B1E}"/>
              </a:ext>
            </a:extLst>
          </p:cNvPr>
          <p:cNvSpPr txBox="1"/>
          <p:nvPr/>
        </p:nvSpPr>
        <p:spPr>
          <a:xfrm>
            <a:off x="9388098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E51137C-112F-4CCA-AB8A-4A51374F2ED3}"/>
              </a:ext>
            </a:extLst>
          </p:cNvPr>
          <p:cNvSpPr txBox="1"/>
          <p:nvPr/>
        </p:nvSpPr>
        <p:spPr>
          <a:xfrm>
            <a:off x="7309781" y="3530101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Merging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B8D05-1002-4485-BB3C-841E9B409040}"/>
              </a:ext>
            </a:extLst>
          </p:cNvPr>
          <p:cNvSpPr txBox="1"/>
          <p:nvPr/>
        </p:nvSpPr>
        <p:spPr>
          <a:xfrm>
            <a:off x="6859686" y="4430890"/>
            <a:ext cx="2348720" cy="9233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No two Adjacent data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Free Blocks can exist in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VM page</a:t>
            </a:r>
          </a:p>
        </p:txBody>
      </p:sp>
    </p:spTree>
    <p:extLst>
      <p:ext uri="{BB962C8B-B14F-4D97-AF65-F5344CB8AC3E}">
        <p14:creationId xmlns:p14="http://schemas.microsoft.com/office/powerpoint/2010/main" val="69948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 animBg="1"/>
      <p:bldP spid="77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90" grpId="0"/>
      <p:bldP spid="91" grpId="0" animBg="1"/>
      <p:bldP spid="95" grpId="0" animBg="1"/>
      <p:bldP spid="96" grpId="0" animBg="1"/>
      <p:bldP spid="97" grpId="0" animBg="1"/>
      <p:bldP spid="99" grpId="0" animBg="1"/>
      <p:bldP spid="100" grpId="0" animBg="1"/>
      <p:bldP spid="101" grpId="0" animBg="1"/>
      <p:bldP spid="102" grpId="0"/>
      <p:bldP spid="103" grpId="0"/>
      <p:bldP spid="105" grpId="0"/>
      <p:bldP spid="106" grpId="0"/>
      <p:bldP spid="107" grpId="0"/>
      <p:bldP spid="108" grpId="0"/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B2B449-E51A-476A-B83C-B702F84ABD48}"/>
              </a:ext>
            </a:extLst>
          </p:cNvPr>
          <p:cNvSpPr txBox="1"/>
          <p:nvPr/>
        </p:nvSpPr>
        <p:spPr>
          <a:xfrm>
            <a:off x="72633" y="454449"/>
            <a:ext cx="1928887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Merging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BBC1B-F547-4154-943D-4A9D6CF45A38}"/>
              </a:ext>
            </a:extLst>
          </p:cNvPr>
          <p:cNvSpPr txBox="1"/>
          <p:nvPr/>
        </p:nvSpPr>
        <p:spPr>
          <a:xfrm>
            <a:off x="72633" y="965334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Example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27D793-2C81-4D17-AE15-85EB0A2C4082}"/>
              </a:ext>
            </a:extLst>
          </p:cNvPr>
          <p:cNvSpPr/>
          <p:nvPr/>
        </p:nvSpPr>
        <p:spPr>
          <a:xfrm>
            <a:off x="865404" y="1574800"/>
            <a:ext cx="1361072" cy="518755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6A8F3A-FD3B-4AF6-A70B-10BE104CF43A}"/>
              </a:ext>
            </a:extLst>
          </p:cNvPr>
          <p:cNvSpPr/>
          <p:nvPr/>
        </p:nvSpPr>
        <p:spPr>
          <a:xfrm>
            <a:off x="868281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802D0F-558E-46C1-9A39-17C46FDD3241}"/>
              </a:ext>
            </a:extLst>
          </p:cNvPr>
          <p:cNvSpPr/>
          <p:nvPr/>
        </p:nvSpPr>
        <p:spPr>
          <a:xfrm>
            <a:off x="865404" y="5958647"/>
            <a:ext cx="1337875" cy="35303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51F19A2-8921-41BD-97AE-6BE61FF83881}"/>
              </a:ext>
            </a:extLst>
          </p:cNvPr>
          <p:cNvSpPr/>
          <p:nvPr/>
        </p:nvSpPr>
        <p:spPr>
          <a:xfrm>
            <a:off x="868281" y="4833321"/>
            <a:ext cx="1337875" cy="110001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D886D5-D33D-4737-A6AB-BF633664AF7A}"/>
              </a:ext>
            </a:extLst>
          </p:cNvPr>
          <p:cNvSpPr/>
          <p:nvPr/>
        </p:nvSpPr>
        <p:spPr>
          <a:xfrm>
            <a:off x="855244" y="410180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EFD5305-613F-4522-840B-A89FD93CBF8A}"/>
              </a:ext>
            </a:extLst>
          </p:cNvPr>
          <p:cNvSpPr/>
          <p:nvPr/>
        </p:nvSpPr>
        <p:spPr>
          <a:xfrm>
            <a:off x="855244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658C6B4-FC85-49CE-9022-178049AF2856}"/>
              </a:ext>
            </a:extLst>
          </p:cNvPr>
          <p:cNvSpPr/>
          <p:nvPr/>
        </p:nvSpPr>
        <p:spPr>
          <a:xfrm>
            <a:off x="868281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CDE19D-8099-47D8-A7D1-6244E9B79B65}"/>
              </a:ext>
            </a:extLst>
          </p:cNvPr>
          <p:cNvSpPr/>
          <p:nvPr/>
        </p:nvSpPr>
        <p:spPr>
          <a:xfrm>
            <a:off x="878441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0DEEBB-B996-4380-9D9B-2B8D6CEC1C28}"/>
              </a:ext>
            </a:extLst>
          </p:cNvPr>
          <p:cNvSpPr txBox="1"/>
          <p:nvPr/>
        </p:nvSpPr>
        <p:spPr>
          <a:xfrm>
            <a:off x="151747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43D65D-460C-489F-B6CC-39354BCDB31E}"/>
              </a:ext>
            </a:extLst>
          </p:cNvPr>
          <p:cNvSpPr txBox="1"/>
          <p:nvPr/>
        </p:nvSpPr>
        <p:spPr>
          <a:xfrm>
            <a:off x="182880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01D80E-BE67-4FE4-ADB3-93D5235C4B55}"/>
              </a:ext>
            </a:extLst>
          </p:cNvPr>
          <p:cNvSpPr txBox="1"/>
          <p:nvPr/>
        </p:nvSpPr>
        <p:spPr>
          <a:xfrm>
            <a:off x="169765" y="425234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AAF264-268F-4E26-AB21-CAAA5B7092EC}"/>
              </a:ext>
            </a:extLst>
          </p:cNvPr>
          <p:cNvSpPr txBox="1"/>
          <p:nvPr/>
        </p:nvSpPr>
        <p:spPr>
          <a:xfrm>
            <a:off x="170994" y="511682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0AFC92-2925-4C6D-8AB4-8B6416CA09F1}"/>
              </a:ext>
            </a:extLst>
          </p:cNvPr>
          <p:cNvSpPr txBox="1"/>
          <p:nvPr/>
        </p:nvSpPr>
        <p:spPr>
          <a:xfrm>
            <a:off x="162234" y="595864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3CE808-8545-4CB7-9DEB-1E13A05CE56B}"/>
              </a:ext>
            </a:extLst>
          </p:cNvPr>
          <p:cNvSpPr txBox="1"/>
          <p:nvPr/>
        </p:nvSpPr>
        <p:spPr>
          <a:xfrm>
            <a:off x="169765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F7CCECF-1AC4-4C8F-8BC0-CB604BD9A69A}"/>
              </a:ext>
            </a:extLst>
          </p:cNvPr>
          <p:cNvSpPr/>
          <p:nvPr/>
        </p:nvSpPr>
        <p:spPr>
          <a:xfrm>
            <a:off x="2676667" y="3281841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2E57AA-693D-4366-BB79-11E3BA0B2DCB}"/>
              </a:ext>
            </a:extLst>
          </p:cNvPr>
          <p:cNvSpPr txBox="1"/>
          <p:nvPr/>
        </p:nvSpPr>
        <p:spPr>
          <a:xfrm>
            <a:off x="2673146" y="305374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xfree</a:t>
            </a:r>
            <a:r>
              <a:rPr lang="en-US" dirty="0">
                <a:latin typeface="Baskerville Old Face" panose="02020602080505020303" pitchFamily="18" charset="0"/>
              </a:rPr>
              <a:t>(MB5)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5441EA5-7AAE-4E2E-9B7B-7321857BA746}"/>
              </a:ext>
            </a:extLst>
          </p:cNvPr>
          <p:cNvSpPr/>
          <p:nvPr/>
        </p:nvSpPr>
        <p:spPr>
          <a:xfrm>
            <a:off x="5287699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DF0BDF-89E1-4288-A3FA-86B3C8451F17}"/>
              </a:ext>
            </a:extLst>
          </p:cNvPr>
          <p:cNvSpPr/>
          <p:nvPr/>
        </p:nvSpPr>
        <p:spPr>
          <a:xfrm>
            <a:off x="5284822" y="5958647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4735EC-D4B8-4768-846E-8E0B894CC861}"/>
              </a:ext>
            </a:extLst>
          </p:cNvPr>
          <p:cNvSpPr/>
          <p:nvPr/>
        </p:nvSpPr>
        <p:spPr>
          <a:xfrm>
            <a:off x="5287699" y="4833321"/>
            <a:ext cx="1337875" cy="11000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02813B2-60B9-4E25-9262-1DDF17C8C023}"/>
              </a:ext>
            </a:extLst>
          </p:cNvPr>
          <p:cNvSpPr/>
          <p:nvPr/>
        </p:nvSpPr>
        <p:spPr>
          <a:xfrm>
            <a:off x="5274662" y="4101800"/>
            <a:ext cx="1337875" cy="70120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B11110F-AE87-4B75-BE63-AA8F64B266A3}"/>
              </a:ext>
            </a:extLst>
          </p:cNvPr>
          <p:cNvSpPr/>
          <p:nvPr/>
        </p:nvSpPr>
        <p:spPr>
          <a:xfrm>
            <a:off x="5274662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819F874-CA04-4C52-A24F-9E7138677931}"/>
              </a:ext>
            </a:extLst>
          </p:cNvPr>
          <p:cNvSpPr/>
          <p:nvPr/>
        </p:nvSpPr>
        <p:spPr>
          <a:xfrm>
            <a:off x="5287699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24678E1-9244-4EAF-8141-7DE4E99DE6ED}"/>
              </a:ext>
            </a:extLst>
          </p:cNvPr>
          <p:cNvSpPr/>
          <p:nvPr/>
        </p:nvSpPr>
        <p:spPr>
          <a:xfrm>
            <a:off x="5297859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321A2E-0667-41F0-9890-F2DD76F9FA14}"/>
              </a:ext>
            </a:extLst>
          </p:cNvPr>
          <p:cNvSpPr txBox="1"/>
          <p:nvPr/>
        </p:nvSpPr>
        <p:spPr>
          <a:xfrm>
            <a:off x="4571165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D72C03-E046-4872-8CEB-055495E6192B}"/>
              </a:ext>
            </a:extLst>
          </p:cNvPr>
          <p:cNvSpPr txBox="1"/>
          <p:nvPr/>
        </p:nvSpPr>
        <p:spPr>
          <a:xfrm>
            <a:off x="4602298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A5DA4F-237C-4429-A83B-810AEDEA4C06}"/>
              </a:ext>
            </a:extLst>
          </p:cNvPr>
          <p:cNvSpPr txBox="1"/>
          <p:nvPr/>
        </p:nvSpPr>
        <p:spPr>
          <a:xfrm>
            <a:off x="4589183" y="425234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AB0B4F-8B3D-4C39-9E2C-AABC8C45BEC1}"/>
              </a:ext>
            </a:extLst>
          </p:cNvPr>
          <p:cNvSpPr txBox="1"/>
          <p:nvPr/>
        </p:nvSpPr>
        <p:spPr>
          <a:xfrm>
            <a:off x="4590412" y="511682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05E05C-79F4-476C-AE6F-6A60F025B6AA}"/>
              </a:ext>
            </a:extLst>
          </p:cNvPr>
          <p:cNvSpPr txBox="1"/>
          <p:nvPr/>
        </p:nvSpPr>
        <p:spPr>
          <a:xfrm>
            <a:off x="4581652" y="5958647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DFC347-12A1-4297-9DCB-F89E24E163CC}"/>
              </a:ext>
            </a:extLst>
          </p:cNvPr>
          <p:cNvSpPr txBox="1"/>
          <p:nvPr/>
        </p:nvSpPr>
        <p:spPr>
          <a:xfrm>
            <a:off x="4589183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34534F82-A536-4F58-BBBC-9EEE00499CEB}"/>
              </a:ext>
            </a:extLst>
          </p:cNvPr>
          <p:cNvSpPr/>
          <p:nvPr/>
        </p:nvSpPr>
        <p:spPr>
          <a:xfrm>
            <a:off x="7145989" y="3238407"/>
            <a:ext cx="17379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24F801C-BE1D-4A1F-8946-1550775AD080}"/>
              </a:ext>
            </a:extLst>
          </p:cNvPr>
          <p:cNvSpPr/>
          <p:nvPr/>
        </p:nvSpPr>
        <p:spPr>
          <a:xfrm>
            <a:off x="10086614" y="633320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BF0D433-E4BC-4D4A-97D5-B1F5FCA5EE51}"/>
              </a:ext>
            </a:extLst>
          </p:cNvPr>
          <p:cNvSpPr/>
          <p:nvPr/>
        </p:nvSpPr>
        <p:spPr>
          <a:xfrm>
            <a:off x="10086614" y="4069894"/>
            <a:ext cx="1337875" cy="2241788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9698A46-09CE-4241-91B2-C3A501E58F62}"/>
              </a:ext>
            </a:extLst>
          </p:cNvPr>
          <p:cNvSpPr/>
          <p:nvPr/>
        </p:nvSpPr>
        <p:spPr>
          <a:xfrm>
            <a:off x="10073577" y="371685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281A8B-6DBA-44AF-8E45-84C05843D4A4}"/>
              </a:ext>
            </a:extLst>
          </p:cNvPr>
          <p:cNvSpPr/>
          <p:nvPr/>
        </p:nvSpPr>
        <p:spPr>
          <a:xfrm>
            <a:off x="10086614" y="33271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4100B07-BA63-4D8B-96D0-BD369B4BF027}"/>
              </a:ext>
            </a:extLst>
          </p:cNvPr>
          <p:cNvSpPr/>
          <p:nvPr/>
        </p:nvSpPr>
        <p:spPr>
          <a:xfrm>
            <a:off x="10096774" y="1675520"/>
            <a:ext cx="1337875" cy="1606321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Rest…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855A969-DE9F-4051-8DF2-4F4E50C95EE3}"/>
              </a:ext>
            </a:extLst>
          </p:cNvPr>
          <p:cNvSpPr txBox="1"/>
          <p:nvPr/>
        </p:nvSpPr>
        <p:spPr>
          <a:xfrm>
            <a:off x="9370080" y="2049126"/>
            <a:ext cx="7136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MB1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latin typeface="Baskerville Old Face" panose="02020602080505020303" pitchFamily="18" charset="0"/>
              </a:rPr>
              <a:t>MB2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C02EEE-B864-4522-9E25-8FF0B30AC999}"/>
              </a:ext>
            </a:extLst>
          </p:cNvPr>
          <p:cNvSpPr txBox="1"/>
          <p:nvPr/>
        </p:nvSpPr>
        <p:spPr>
          <a:xfrm>
            <a:off x="9401213" y="367637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35746D-17B4-4239-B61E-589BD7AC2697}"/>
              </a:ext>
            </a:extLst>
          </p:cNvPr>
          <p:cNvSpPr txBox="1"/>
          <p:nvPr/>
        </p:nvSpPr>
        <p:spPr>
          <a:xfrm>
            <a:off x="9309120" y="4739657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MB456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4340812-9990-40DE-BD48-1A0038200B1E}"/>
              </a:ext>
            </a:extLst>
          </p:cNvPr>
          <p:cNvSpPr txBox="1"/>
          <p:nvPr/>
        </p:nvSpPr>
        <p:spPr>
          <a:xfrm>
            <a:off x="9388098" y="6315050"/>
            <a:ext cx="713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MB7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E51137C-112F-4CCA-AB8A-4A51374F2ED3}"/>
              </a:ext>
            </a:extLst>
          </p:cNvPr>
          <p:cNvSpPr txBox="1"/>
          <p:nvPr/>
        </p:nvSpPr>
        <p:spPr>
          <a:xfrm>
            <a:off x="7309781" y="3530101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Merging </a:t>
            </a:r>
          </a:p>
        </p:txBody>
      </p:sp>
    </p:spTree>
    <p:extLst>
      <p:ext uri="{BB962C8B-B14F-4D97-AF65-F5344CB8AC3E}">
        <p14:creationId xmlns:p14="http://schemas.microsoft.com/office/powerpoint/2010/main" val="128169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90" grpId="0"/>
      <p:bldP spid="91" grpId="0" animBg="1"/>
      <p:bldP spid="95" grpId="0" animBg="1"/>
      <p:bldP spid="97" grpId="0" animBg="1"/>
      <p:bldP spid="99" grpId="0" animBg="1"/>
      <p:bldP spid="100" grpId="0" animBg="1"/>
      <p:bldP spid="101" grpId="0" animBg="1"/>
      <p:bldP spid="102" grpId="0"/>
      <p:bldP spid="103" grpId="0"/>
      <p:bldP spid="105" grpId="0"/>
      <p:bldP spid="107" grpId="0"/>
      <p:bldP spid="10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41E5A9-5279-4C19-901B-F19AA037B4EC}"/>
              </a:ext>
            </a:extLst>
          </p:cNvPr>
          <p:cNvSpPr/>
          <p:nvPr/>
        </p:nvSpPr>
        <p:spPr>
          <a:xfrm>
            <a:off x="376287" y="447040"/>
            <a:ext cx="1361072" cy="629236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05EDDA-213E-4BE8-A7AC-77A5DB27D25C}"/>
              </a:ext>
            </a:extLst>
          </p:cNvPr>
          <p:cNvSpPr txBox="1"/>
          <p:nvPr/>
        </p:nvSpPr>
        <p:spPr>
          <a:xfrm>
            <a:off x="1698937" y="655907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D33BB3-7C21-4D06-A163-42662F56DFA2}"/>
              </a:ext>
            </a:extLst>
          </p:cNvPr>
          <p:cNvSpPr txBox="1"/>
          <p:nvPr/>
        </p:nvSpPr>
        <p:spPr>
          <a:xfrm>
            <a:off x="1698290" y="31623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52C798-29C5-4C82-A404-D078DD12D41A}"/>
              </a:ext>
            </a:extLst>
          </p:cNvPr>
          <p:cNvSpPr/>
          <p:nvPr/>
        </p:nvSpPr>
        <p:spPr>
          <a:xfrm>
            <a:off x="375951" y="2210744"/>
            <a:ext cx="1320768" cy="10891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385B81-C722-489F-A1B5-11189DE250C6}"/>
              </a:ext>
            </a:extLst>
          </p:cNvPr>
          <p:cNvSpPr/>
          <p:nvPr/>
        </p:nvSpPr>
        <p:spPr>
          <a:xfrm>
            <a:off x="361063" y="584847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39A745-92BB-4100-8FD6-7BBB2F3C55AA}"/>
              </a:ext>
            </a:extLst>
          </p:cNvPr>
          <p:cNvSpPr/>
          <p:nvPr/>
        </p:nvSpPr>
        <p:spPr>
          <a:xfrm>
            <a:off x="361061" y="547559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E1F7B6-386B-49C3-A2A0-3A628FFF4CC6}"/>
              </a:ext>
            </a:extLst>
          </p:cNvPr>
          <p:cNvSpPr/>
          <p:nvPr/>
        </p:nvSpPr>
        <p:spPr>
          <a:xfrm>
            <a:off x="349462" y="458202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C2F319-0E86-4DEE-8A98-BEEF43523522}"/>
              </a:ext>
            </a:extLst>
          </p:cNvPr>
          <p:cNvSpPr txBox="1"/>
          <p:nvPr/>
        </p:nvSpPr>
        <p:spPr>
          <a:xfrm>
            <a:off x="-18510" y="601061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0DF910-E424-4076-AD87-C0E25C2AE847}"/>
              </a:ext>
            </a:extLst>
          </p:cNvPr>
          <p:cNvSpPr txBox="1"/>
          <p:nvPr/>
        </p:nvSpPr>
        <p:spPr>
          <a:xfrm>
            <a:off x="-74456" y="493592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DC1BEB-AC9F-4E4B-A1E9-51A9234251B3}"/>
              </a:ext>
            </a:extLst>
          </p:cNvPr>
          <p:cNvSpPr/>
          <p:nvPr/>
        </p:nvSpPr>
        <p:spPr>
          <a:xfrm>
            <a:off x="359487" y="329991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37D881-8AD0-4FA7-83A8-E0C67F473A5C}"/>
              </a:ext>
            </a:extLst>
          </p:cNvPr>
          <p:cNvSpPr/>
          <p:nvPr/>
        </p:nvSpPr>
        <p:spPr>
          <a:xfrm>
            <a:off x="372658" y="420623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788AEC-D285-4461-AD0E-BD242663568D}"/>
              </a:ext>
            </a:extLst>
          </p:cNvPr>
          <p:cNvSpPr txBox="1"/>
          <p:nvPr/>
        </p:nvSpPr>
        <p:spPr>
          <a:xfrm>
            <a:off x="1688617" y="142916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MB4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E9A7E6D-318C-4541-BED6-EB4B1BD200B3}"/>
              </a:ext>
            </a:extLst>
          </p:cNvPr>
          <p:cNvSpPr/>
          <p:nvPr/>
        </p:nvSpPr>
        <p:spPr>
          <a:xfrm>
            <a:off x="2432828" y="3396118"/>
            <a:ext cx="136107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289C0-FD8E-4C23-B7C1-639807376BF8}"/>
              </a:ext>
            </a:extLst>
          </p:cNvPr>
          <p:cNvSpPr txBox="1"/>
          <p:nvPr/>
        </p:nvSpPr>
        <p:spPr>
          <a:xfrm>
            <a:off x="2429306" y="316801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xfree</a:t>
            </a:r>
            <a:r>
              <a:rPr lang="en-US" dirty="0">
                <a:latin typeface="Baskerville Old Face" panose="02020602080505020303" pitchFamily="18" charset="0"/>
              </a:rPr>
              <a:t>(A1)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C7F34B-ED32-492E-AB6F-AA295648A41A}"/>
              </a:ext>
            </a:extLst>
          </p:cNvPr>
          <p:cNvSpPr txBox="1"/>
          <p:nvPr/>
        </p:nvSpPr>
        <p:spPr>
          <a:xfrm>
            <a:off x="1688617" y="4405118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-&gt;A1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14709B-8285-44B7-9471-B75A50B38C20}"/>
              </a:ext>
            </a:extLst>
          </p:cNvPr>
          <p:cNvSpPr/>
          <p:nvPr/>
        </p:nvSpPr>
        <p:spPr>
          <a:xfrm>
            <a:off x="356017" y="131669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9973D6-6950-480A-A8E1-0AB181EB1610}"/>
              </a:ext>
            </a:extLst>
          </p:cNvPr>
          <p:cNvSpPr/>
          <p:nvPr/>
        </p:nvSpPr>
        <p:spPr>
          <a:xfrm>
            <a:off x="367913" y="453115"/>
            <a:ext cx="1320768" cy="875781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3544B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11844B-8C52-4E46-B136-FD90D09672C1}"/>
              </a:ext>
            </a:extLst>
          </p:cNvPr>
          <p:cNvSpPr txBox="1"/>
          <p:nvPr/>
        </p:nvSpPr>
        <p:spPr>
          <a:xfrm>
            <a:off x="1784586" y="363464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65C8A1-018C-40AC-B0FD-F6C2CC1E5DF1}"/>
              </a:ext>
            </a:extLst>
          </p:cNvPr>
          <p:cNvSpPr/>
          <p:nvPr/>
        </p:nvSpPr>
        <p:spPr>
          <a:xfrm>
            <a:off x="4019590" y="472130"/>
            <a:ext cx="1361072" cy="629236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7F1B02-414E-44BF-B63A-A72E92542BCF}"/>
              </a:ext>
            </a:extLst>
          </p:cNvPr>
          <p:cNvSpPr txBox="1"/>
          <p:nvPr/>
        </p:nvSpPr>
        <p:spPr>
          <a:xfrm>
            <a:off x="5342240" y="658416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7C6011-6015-44C8-8263-50A7F1A05A21}"/>
              </a:ext>
            </a:extLst>
          </p:cNvPr>
          <p:cNvSpPr txBox="1"/>
          <p:nvPr/>
        </p:nvSpPr>
        <p:spPr>
          <a:xfrm>
            <a:off x="5341593" y="34132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5B2896-AA74-4533-9ADA-E64712B39562}"/>
              </a:ext>
            </a:extLst>
          </p:cNvPr>
          <p:cNvSpPr/>
          <p:nvPr/>
        </p:nvSpPr>
        <p:spPr>
          <a:xfrm>
            <a:off x="4019254" y="2235834"/>
            <a:ext cx="1320768" cy="10891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9D77E8-3DF6-4495-9DC0-FD26C8C6EE42}"/>
              </a:ext>
            </a:extLst>
          </p:cNvPr>
          <p:cNvSpPr/>
          <p:nvPr/>
        </p:nvSpPr>
        <p:spPr>
          <a:xfrm>
            <a:off x="4004366" y="587356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53E2354-D4C5-4818-A5C6-5D62003B8741}"/>
              </a:ext>
            </a:extLst>
          </p:cNvPr>
          <p:cNvSpPr/>
          <p:nvPr/>
        </p:nvSpPr>
        <p:spPr>
          <a:xfrm>
            <a:off x="4004364" y="550068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EFF4936-0A64-4240-9873-633CE6EC1FF7}"/>
              </a:ext>
            </a:extLst>
          </p:cNvPr>
          <p:cNvSpPr/>
          <p:nvPr/>
        </p:nvSpPr>
        <p:spPr>
          <a:xfrm>
            <a:off x="3992765" y="460711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914CC8-4FC5-4E89-8C84-0D1368D1A9F3}"/>
              </a:ext>
            </a:extLst>
          </p:cNvPr>
          <p:cNvSpPr txBox="1"/>
          <p:nvPr/>
        </p:nvSpPr>
        <p:spPr>
          <a:xfrm>
            <a:off x="3624793" y="603570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8CAF63-1591-4479-B2E8-D19A8AB42576}"/>
              </a:ext>
            </a:extLst>
          </p:cNvPr>
          <p:cNvSpPr txBox="1"/>
          <p:nvPr/>
        </p:nvSpPr>
        <p:spPr>
          <a:xfrm>
            <a:off x="3568847" y="496101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7821827-787B-4161-B3BD-CE27670E1677}"/>
              </a:ext>
            </a:extLst>
          </p:cNvPr>
          <p:cNvSpPr/>
          <p:nvPr/>
        </p:nvSpPr>
        <p:spPr>
          <a:xfrm>
            <a:off x="4002790" y="332500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E610F9-0958-49B8-B6CF-F878E0E127F6}"/>
              </a:ext>
            </a:extLst>
          </p:cNvPr>
          <p:cNvSpPr/>
          <p:nvPr/>
        </p:nvSpPr>
        <p:spPr>
          <a:xfrm>
            <a:off x="4015961" y="4231329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31A739-474E-443C-AE15-95E3A177FFCC}"/>
              </a:ext>
            </a:extLst>
          </p:cNvPr>
          <p:cNvSpPr txBox="1"/>
          <p:nvPr/>
        </p:nvSpPr>
        <p:spPr>
          <a:xfrm>
            <a:off x="5331920" y="145425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C653C1-E33B-4EDE-905F-0AA3ACBD660F}"/>
              </a:ext>
            </a:extLst>
          </p:cNvPr>
          <p:cNvSpPr txBox="1"/>
          <p:nvPr/>
        </p:nvSpPr>
        <p:spPr>
          <a:xfrm>
            <a:off x="5331920" y="4430208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-&gt;A1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D24A1F-4F18-462E-8DB7-4E55EEAD95DC}"/>
              </a:ext>
            </a:extLst>
          </p:cNvPr>
          <p:cNvSpPr/>
          <p:nvPr/>
        </p:nvSpPr>
        <p:spPr>
          <a:xfrm>
            <a:off x="3999320" y="134178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DDE37F4-BDB8-47A5-848E-7178F1DAD6C3}"/>
              </a:ext>
            </a:extLst>
          </p:cNvPr>
          <p:cNvSpPr/>
          <p:nvPr/>
        </p:nvSpPr>
        <p:spPr>
          <a:xfrm>
            <a:off x="4011216" y="478205"/>
            <a:ext cx="1320768" cy="875781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3544B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FE4BDC-BF8F-498B-B82B-37C459CFABBE}"/>
              </a:ext>
            </a:extLst>
          </p:cNvPr>
          <p:cNvSpPr txBox="1"/>
          <p:nvPr/>
        </p:nvSpPr>
        <p:spPr>
          <a:xfrm>
            <a:off x="5427889" y="365973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1B5C879A-6CD4-494A-AC95-B21019B3D025}"/>
              </a:ext>
            </a:extLst>
          </p:cNvPr>
          <p:cNvSpPr/>
          <p:nvPr/>
        </p:nvSpPr>
        <p:spPr>
          <a:xfrm>
            <a:off x="6200222" y="3475069"/>
            <a:ext cx="136107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BB20F-D5B3-47B0-8C0B-5CE0DC705D07}"/>
              </a:ext>
            </a:extLst>
          </p:cNvPr>
          <p:cNvSpPr txBox="1"/>
          <p:nvPr/>
        </p:nvSpPr>
        <p:spPr>
          <a:xfrm>
            <a:off x="6111307" y="3192365"/>
            <a:ext cx="21769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Merging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Pointer Adjustment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(No MB3)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Two Pointers need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To be updated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E2A91D-D51F-4D99-B14D-50E2B303B9B2}"/>
              </a:ext>
            </a:extLst>
          </p:cNvPr>
          <p:cNvSpPr/>
          <p:nvPr/>
        </p:nvSpPr>
        <p:spPr>
          <a:xfrm>
            <a:off x="8577632" y="472130"/>
            <a:ext cx="1361072" cy="629236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35B1B91-60B1-46C1-AD85-C897EFB87C4A}"/>
              </a:ext>
            </a:extLst>
          </p:cNvPr>
          <p:cNvSpPr txBox="1"/>
          <p:nvPr/>
        </p:nvSpPr>
        <p:spPr>
          <a:xfrm>
            <a:off x="9900282" y="658416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FE1F7F-DD79-4E34-BF2B-9CCAECEB7628}"/>
              </a:ext>
            </a:extLst>
          </p:cNvPr>
          <p:cNvSpPr txBox="1"/>
          <p:nvPr/>
        </p:nvSpPr>
        <p:spPr>
          <a:xfrm>
            <a:off x="9899635" y="34132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930891-A03F-45A2-B5AB-9CF08D29CE48}"/>
              </a:ext>
            </a:extLst>
          </p:cNvPr>
          <p:cNvSpPr/>
          <p:nvPr/>
        </p:nvSpPr>
        <p:spPr>
          <a:xfrm>
            <a:off x="8577296" y="2235834"/>
            <a:ext cx="1320768" cy="2346194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448B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EC99E55-4B13-4074-9998-C20D15A49E43}"/>
              </a:ext>
            </a:extLst>
          </p:cNvPr>
          <p:cNvSpPr/>
          <p:nvPr/>
        </p:nvSpPr>
        <p:spPr>
          <a:xfrm>
            <a:off x="8562408" y="587356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DE54CF-13D4-415E-B6FC-874DC7FCF4C8}"/>
              </a:ext>
            </a:extLst>
          </p:cNvPr>
          <p:cNvSpPr/>
          <p:nvPr/>
        </p:nvSpPr>
        <p:spPr>
          <a:xfrm>
            <a:off x="8562406" y="550068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B5BEA4-EA54-4864-8195-5B2B1F92158C}"/>
              </a:ext>
            </a:extLst>
          </p:cNvPr>
          <p:cNvSpPr/>
          <p:nvPr/>
        </p:nvSpPr>
        <p:spPr>
          <a:xfrm>
            <a:off x="8550807" y="460711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448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3B4E51-DA49-4E3F-BD13-EB42693DA6A5}"/>
              </a:ext>
            </a:extLst>
          </p:cNvPr>
          <p:cNvSpPr txBox="1"/>
          <p:nvPr/>
        </p:nvSpPr>
        <p:spPr>
          <a:xfrm>
            <a:off x="8182835" y="603570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562B30-C2FB-4B3A-92F8-74EF65E3BEEF}"/>
              </a:ext>
            </a:extLst>
          </p:cNvPr>
          <p:cNvSpPr txBox="1"/>
          <p:nvPr/>
        </p:nvSpPr>
        <p:spPr>
          <a:xfrm>
            <a:off x="8126889" y="496101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375823-078D-4FD4-82EF-DD96678A4FBC}"/>
              </a:ext>
            </a:extLst>
          </p:cNvPr>
          <p:cNvSpPr txBox="1"/>
          <p:nvPr/>
        </p:nvSpPr>
        <p:spPr>
          <a:xfrm>
            <a:off x="9889962" y="145425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4BEFBE-57B5-4ABB-89EF-F43D303C4EB4}"/>
              </a:ext>
            </a:extLst>
          </p:cNvPr>
          <p:cNvSpPr txBox="1"/>
          <p:nvPr/>
        </p:nvSpPr>
        <p:spPr>
          <a:xfrm>
            <a:off x="9889962" y="4430208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-&gt;A1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B8314DC-98A0-4C0C-A3F4-080C17B376C2}"/>
              </a:ext>
            </a:extLst>
          </p:cNvPr>
          <p:cNvSpPr/>
          <p:nvPr/>
        </p:nvSpPr>
        <p:spPr>
          <a:xfrm>
            <a:off x="8557362" y="134178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E210609-A015-4B70-877F-C40468AB21A0}"/>
              </a:ext>
            </a:extLst>
          </p:cNvPr>
          <p:cNvSpPr/>
          <p:nvPr/>
        </p:nvSpPr>
        <p:spPr>
          <a:xfrm>
            <a:off x="8569258" y="478205"/>
            <a:ext cx="1320768" cy="875781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3544B</a:t>
            </a:r>
          </a:p>
        </p:txBody>
      </p:sp>
    </p:spTree>
    <p:extLst>
      <p:ext uri="{BB962C8B-B14F-4D97-AF65-F5344CB8AC3E}">
        <p14:creationId xmlns:p14="http://schemas.microsoft.com/office/powerpoint/2010/main" val="25203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61" grpId="0" animBg="1"/>
      <p:bldP spid="62" grpId="0"/>
      <p:bldP spid="63" grpId="0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 animBg="1"/>
      <p:bldP spid="71" grpId="0" animBg="1"/>
      <p:bldP spid="72" grpId="0"/>
      <p:bldP spid="73" grpId="0"/>
      <p:bldP spid="74" grpId="0" animBg="1"/>
      <p:bldP spid="75" grpId="0" animBg="1"/>
      <p:bldP spid="76" grpId="0"/>
      <p:bldP spid="77" grpId="0" animBg="1"/>
      <p:bldP spid="79" grpId="0" animBg="1"/>
      <p:bldP spid="80" grpId="0"/>
      <p:bldP spid="81" grpId="0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90" grpId="0"/>
      <p:bldP spid="91" grpId="0"/>
      <p:bldP spid="92" grpId="0" animBg="1"/>
      <p:bldP spid="9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65C8A1-018C-40AC-B0FD-F6C2CC1E5DF1}"/>
              </a:ext>
            </a:extLst>
          </p:cNvPr>
          <p:cNvSpPr/>
          <p:nvPr/>
        </p:nvSpPr>
        <p:spPr>
          <a:xfrm>
            <a:off x="450743" y="484354"/>
            <a:ext cx="1361072" cy="629236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7F1B02-414E-44BF-B63A-A72E92542BCF}"/>
              </a:ext>
            </a:extLst>
          </p:cNvPr>
          <p:cNvSpPr txBox="1"/>
          <p:nvPr/>
        </p:nvSpPr>
        <p:spPr>
          <a:xfrm>
            <a:off x="1773393" y="659639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7C6011-6015-44C8-8263-50A7F1A05A21}"/>
              </a:ext>
            </a:extLst>
          </p:cNvPr>
          <p:cNvSpPr txBox="1"/>
          <p:nvPr/>
        </p:nvSpPr>
        <p:spPr>
          <a:xfrm>
            <a:off x="1772746" y="35354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5B2896-AA74-4533-9ADA-E64712B39562}"/>
              </a:ext>
            </a:extLst>
          </p:cNvPr>
          <p:cNvSpPr/>
          <p:nvPr/>
        </p:nvSpPr>
        <p:spPr>
          <a:xfrm>
            <a:off x="450407" y="2248058"/>
            <a:ext cx="1320768" cy="10891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9D77E8-3DF6-4495-9DC0-FD26C8C6EE42}"/>
              </a:ext>
            </a:extLst>
          </p:cNvPr>
          <p:cNvSpPr/>
          <p:nvPr/>
        </p:nvSpPr>
        <p:spPr>
          <a:xfrm>
            <a:off x="435519" y="5885785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53E2354-D4C5-4818-A5C6-5D62003B8741}"/>
              </a:ext>
            </a:extLst>
          </p:cNvPr>
          <p:cNvSpPr/>
          <p:nvPr/>
        </p:nvSpPr>
        <p:spPr>
          <a:xfrm>
            <a:off x="435517" y="5512913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EFF4936-0A64-4240-9873-633CE6EC1FF7}"/>
              </a:ext>
            </a:extLst>
          </p:cNvPr>
          <p:cNvSpPr/>
          <p:nvPr/>
        </p:nvSpPr>
        <p:spPr>
          <a:xfrm>
            <a:off x="423918" y="4619342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914CC8-4FC5-4E89-8C84-0D1368D1A9F3}"/>
              </a:ext>
            </a:extLst>
          </p:cNvPr>
          <p:cNvSpPr txBox="1"/>
          <p:nvPr/>
        </p:nvSpPr>
        <p:spPr>
          <a:xfrm>
            <a:off x="55946" y="604792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8CAF63-1591-4479-B2E8-D19A8AB42576}"/>
              </a:ext>
            </a:extLst>
          </p:cNvPr>
          <p:cNvSpPr txBox="1"/>
          <p:nvPr/>
        </p:nvSpPr>
        <p:spPr>
          <a:xfrm>
            <a:off x="0" y="497323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7821827-787B-4161-B3BD-CE27670E1677}"/>
              </a:ext>
            </a:extLst>
          </p:cNvPr>
          <p:cNvSpPr/>
          <p:nvPr/>
        </p:nvSpPr>
        <p:spPr>
          <a:xfrm>
            <a:off x="433943" y="3337224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E610F9-0958-49B8-B6CF-F878E0E127F6}"/>
              </a:ext>
            </a:extLst>
          </p:cNvPr>
          <p:cNvSpPr/>
          <p:nvPr/>
        </p:nvSpPr>
        <p:spPr>
          <a:xfrm>
            <a:off x="447114" y="4243553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31A739-474E-443C-AE15-95E3A177FFCC}"/>
              </a:ext>
            </a:extLst>
          </p:cNvPr>
          <p:cNvSpPr txBox="1"/>
          <p:nvPr/>
        </p:nvSpPr>
        <p:spPr>
          <a:xfrm>
            <a:off x="1763073" y="152676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C653C1-E33B-4EDE-905F-0AA3ACBD660F}"/>
              </a:ext>
            </a:extLst>
          </p:cNvPr>
          <p:cNvSpPr txBox="1"/>
          <p:nvPr/>
        </p:nvSpPr>
        <p:spPr>
          <a:xfrm>
            <a:off x="1763073" y="4442432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-&gt;A1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D24A1F-4F18-462E-8DB7-4E55EEAD95DC}"/>
              </a:ext>
            </a:extLst>
          </p:cNvPr>
          <p:cNvSpPr/>
          <p:nvPr/>
        </p:nvSpPr>
        <p:spPr>
          <a:xfrm>
            <a:off x="430473" y="1354004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DDE37F4-BDB8-47A5-848E-7178F1DAD6C3}"/>
              </a:ext>
            </a:extLst>
          </p:cNvPr>
          <p:cNvSpPr/>
          <p:nvPr/>
        </p:nvSpPr>
        <p:spPr>
          <a:xfrm>
            <a:off x="442369" y="490429"/>
            <a:ext cx="1320768" cy="875781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3544B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FE4BDC-BF8F-498B-B82B-37C459CFABBE}"/>
              </a:ext>
            </a:extLst>
          </p:cNvPr>
          <p:cNvSpPr txBox="1"/>
          <p:nvPr/>
        </p:nvSpPr>
        <p:spPr>
          <a:xfrm>
            <a:off x="1859042" y="367195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1B5C879A-6CD4-494A-AC95-B21019B3D025}"/>
              </a:ext>
            </a:extLst>
          </p:cNvPr>
          <p:cNvSpPr/>
          <p:nvPr/>
        </p:nvSpPr>
        <p:spPr>
          <a:xfrm>
            <a:off x="2631375" y="3487293"/>
            <a:ext cx="136107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BB20F-D5B3-47B0-8C0B-5CE0DC705D07}"/>
              </a:ext>
            </a:extLst>
          </p:cNvPr>
          <p:cNvSpPr txBox="1"/>
          <p:nvPr/>
        </p:nvSpPr>
        <p:spPr>
          <a:xfrm>
            <a:off x="2422933" y="3259193"/>
            <a:ext cx="21769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Merging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Pointer Adjustment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(No MB3)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Two Pointers need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To be updated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E2A91D-D51F-4D99-B14D-50E2B303B9B2}"/>
              </a:ext>
            </a:extLst>
          </p:cNvPr>
          <p:cNvSpPr/>
          <p:nvPr/>
        </p:nvSpPr>
        <p:spPr>
          <a:xfrm>
            <a:off x="5008785" y="484354"/>
            <a:ext cx="1361072" cy="629236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35B1B91-60B1-46C1-AD85-C897EFB87C4A}"/>
              </a:ext>
            </a:extLst>
          </p:cNvPr>
          <p:cNvSpPr txBox="1"/>
          <p:nvPr/>
        </p:nvSpPr>
        <p:spPr>
          <a:xfrm>
            <a:off x="6331435" y="659639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FE1F7F-DD79-4E34-BF2B-9CCAECEB7628}"/>
              </a:ext>
            </a:extLst>
          </p:cNvPr>
          <p:cNvSpPr txBox="1"/>
          <p:nvPr/>
        </p:nvSpPr>
        <p:spPr>
          <a:xfrm>
            <a:off x="6330788" y="35354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930891-A03F-45A2-B5AB-9CF08D29CE48}"/>
              </a:ext>
            </a:extLst>
          </p:cNvPr>
          <p:cNvSpPr/>
          <p:nvPr/>
        </p:nvSpPr>
        <p:spPr>
          <a:xfrm>
            <a:off x="5008449" y="2248058"/>
            <a:ext cx="1320768" cy="2346194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448B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EC99E55-4B13-4074-9998-C20D15A49E43}"/>
              </a:ext>
            </a:extLst>
          </p:cNvPr>
          <p:cNvSpPr/>
          <p:nvPr/>
        </p:nvSpPr>
        <p:spPr>
          <a:xfrm>
            <a:off x="4993561" y="5885785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DE54CF-13D4-415E-B6FC-874DC7FCF4C8}"/>
              </a:ext>
            </a:extLst>
          </p:cNvPr>
          <p:cNvSpPr/>
          <p:nvPr/>
        </p:nvSpPr>
        <p:spPr>
          <a:xfrm>
            <a:off x="4993559" y="5512913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B5BEA4-EA54-4864-8195-5B2B1F92158C}"/>
              </a:ext>
            </a:extLst>
          </p:cNvPr>
          <p:cNvSpPr/>
          <p:nvPr/>
        </p:nvSpPr>
        <p:spPr>
          <a:xfrm>
            <a:off x="4981960" y="4619342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448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MB4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3B4E51-DA49-4E3F-BD13-EB42693DA6A5}"/>
              </a:ext>
            </a:extLst>
          </p:cNvPr>
          <p:cNvSpPr txBox="1"/>
          <p:nvPr/>
        </p:nvSpPr>
        <p:spPr>
          <a:xfrm>
            <a:off x="4613988" y="604792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562B30-C2FB-4B3A-92F8-74EF65E3BEEF}"/>
              </a:ext>
            </a:extLst>
          </p:cNvPr>
          <p:cNvSpPr txBox="1"/>
          <p:nvPr/>
        </p:nvSpPr>
        <p:spPr>
          <a:xfrm>
            <a:off x="4558042" y="497323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375823-078D-4FD4-82EF-DD96678A4FBC}"/>
              </a:ext>
            </a:extLst>
          </p:cNvPr>
          <p:cNvSpPr txBox="1"/>
          <p:nvPr/>
        </p:nvSpPr>
        <p:spPr>
          <a:xfrm>
            <a:off x="6321115" y="146647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4BEFBE-57B5-4ABB-89EF-F43D303C4EB4}"/>
              </a:ext>
            </a:extLst>
          </p:cNvPr>
          <p:cNvSpPr txBox="1"/>
          <p:nvPr/>
        </p:nvSpPr>
        <p:spPr>
          <a:xfrm>
            <a:off x="6321115" y="4442432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-&gt;A1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B8314DC-98A0-4C0C-A3F4-080C17B376C2}"/>
              </a:ext>
            </a:extLst>
          </p:cNvPr>
          <p:cNvSpPr/>
          <p:nvPr/>
        </p:nvSpPr>
        <p:spPr>
          <a:xfrm>
            <a:off x="4988515" y="1354004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3544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E210609-A015-4B70-877F-C40468AB21A0}"/>
              </a:ext>
            </a:extLst>
          </p:cNvPr>
          <p:cNvSpPr/>
          <p:nvPr/>
        </p:nvSpPr>
        <p:spPr>
          <a:xfrm>
            <a:off x="5000411" y="490429"/>
            <a:ext cx="1320768" cy="875781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3544B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DBAA2B-8D89-4862-903C-74C8971D2F27}"/>
              </a:ext>
            </a:extLst>
          </p:cNvPr>
          <p:cNvSpPr txBox="1"/>
          <p:nvPr/>
        </p:nvSpPr>
        <p:spPr>
          <a:xfrm>
            <a:off x="6981194" y="988598"/>
            <a:ext cx="4786888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askerville Old Face" panose="02020602080505020303" pitchFamily="18" charset="0"/>
              </a:rPr>
              <a:t>mm.c</a:t>
            </a:r>
            <a:r>
              <a:rPr lang="en-US" sz="2400" dirty="0">
                <a:latin typeface="Baskerville Old Face" panose="02020602080505020303" pitchFamily="18" charset="0"/>
              </a:rPr>
              <a:t> file</a:t>
            </a:r>
          </a:p>
          <a:p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static void</a:t>
            </a:r>
          </a:p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mm_union_free_blocks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*first,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   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*second) </a:t>
            </a:r>
            <a:r>
              <a:rPr lang="en-US" dirty="0">
                <a:latin typeface="Baskerville Old Face" panose="02020602080505020303" pitchFamily="18" charset="0"/>
              </a:rPr>
              <a:t>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assert(first-&gt;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 == MM_TRUE &amp;&amp;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second-&gt;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 == MM_TRUE);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first-&gt;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 += </a:t>
            </a:r>
            <a:r>
              <a:rPr lang="en-US" dirty="0" err="1">
                <a:latin typeface="Baskerville Old Face" panose="02020602080505020303" pitchFamily="18" charset="0"/>
              </a:rPr>
              <a:t>sizeof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) +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    second-&gt;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first-&gt;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 = second-&gt;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if(second-&gt;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)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second-&gt;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-&gt;</a:t>
            </a:r>
            <a:r>
              <a:rPr lang="en-US" dirty="0" err="1">
                <a:latin typeface="Baskerville Old Face" panose="02020602080505020303" pitchFamily="18" charset="0"/>
              </a:rPr>
              <a:t>prev_block</a:t>
            </a:r>
            <a:r>
              <a:rPr lang="en-US" dirty="0">
                <a:latin typeface="Baskerville Old Face" panose="02020602080505020303" pitchFamily="18" charset="0"/>
              </a:rPr>
              <a:t> = first;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1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3193214" y="735956"/>
            <a:ext cx="6086923" cy="43396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Phase 5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Virtual Memory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Page 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Management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99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9904-0F34-496D-8FCD-51D9AAE080C1}"/>
              </a:ext>
            </a:extLst>
          </p:cNvPr>
          <p:cNvSpPr txBox="1"/>
          <p:nvPr/>
        </p:nvSpPr>
        <p:spPr>
          <a:xfrm>
            <a:off x="897652" y="5075606"/>
            <a:ext cx="11294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askerville Old Face" panose="02020602080505020303" pitchFamily="18" charset="0"/>
              </a:rPr>
              <a:t>Now In this Section, We would learn How are LMM would </a:t>
            </a:r>
            <a:r>
              <a:rPr lang="en-US" sz="3200" i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Manage</a:t>
            </a:r>
            <a:r>
              <a:rPr lang="en-US" i="1" dirty="0">
                <a:latin typeface="Baskerville Old Face" panose="02020602080505020303" pitchFamily="18" charset="0"/>
              </a:rPr>
              <a:t> </a:t>
            </a:r>
            <a:r>
              <a:rPr lang="en-US" sz="2800" i="1" dirty="0">
                <a:solidFill>
                  <a:srgbClr val="FFFF00"/>
                </a:solidFill>
                <a:latin typeface="Baskerville Old Face" panose="02020602080505020303" pitchFamily="18" charset="0"/>
              </a:rPr>
              <a:t>Virtual Memory Pages</a:t>
            </a:r>
            <a:endParaRPr lang="en-US" i="1" dirty="0">
              <a:solidFill>
                <a:srgbClr val="FFFF00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1754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6AA06D-F1D0-4633-81BF-B718E5F5E877}"/>
              </a:ext>
            </a:extLst>
          </p:cNvPr>
          <p:cNvSpPr/>
          <p:nvPr/>
        </p:nvSpPr>
        <p:spPr>
          <a:xfrm>
            <a:off x="6096000" y="4873556"/>
            <a:ext cx="1483543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MMU</a:t>
            </a:r>
          </a:p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(Virtual Address Space of a User space Process)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F6DF-AA7A-4EE3-8287-1829A2CDF04A}"/>
              </a:ext>
            </a:extLst>
          </p:cNvPr>
          <p:cNvSpPr/>
          <p:nvPr/>
        </p:nvSpPr>
        <p:spPr>
          <a:xfrm>
            <a:off x="6096000" y="604159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LMM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47549-4FE5-4923-9FE9-DCDD725E5A83}"/>
              </a:ext>
            </a:extLst>
          </p:cNvPr>
          <p:cNvSpPr/>
          <p:nvPr/>
        </p:nvSpPr>
        <p:spPr>
          <a:xfrm>
            <a:off x="10450749" y="604159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4EC341D-23BF-4A7E-B1F0-60F5B745D8FC}"/>
              </a:ext>
            </a:extLst>
          </p:cNvPr>
          <p:cNvSpPr/>
          <p:nvPr/>
        </p:nvSpPr>
        <p:spPr>
          <a:xfrm rot="10800000">
            <a:off x="7800037" y="98249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E59D7-89D0-4ACF-BE6D-DE98FC2D6E08}"/>
              </a:ext>
            </a:extLst>
          </p:cNvPr>
          <p:cNvSpPr txBox="1"/>
          <p:nvPr/>
        </p:nvSpPr>
        <p:spPr>
          <a:xfrm>
            <a:off x="8189439" y="72989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malloc(X Bytes)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3DE99C-E254-4817-BD49-254E362C581C}"/>
              </a:ext>
            </a:extLst>
          </p:cNvPr>
          <p:cNvSpPr/>
          <p:nvPr/>
        </p:nvSpPr>
        <p:spPr>
          <a:xfrm>
            <a:off x="8566826" y="1503445"/>
            <a:ext cx="1483543" cy="330741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000000000000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0C7BBC-943A-434D-B21B-4A4FBFD0634F}"/>
              </a:ext>
            </a:extLst>
          </p:cNvPr>
          <p:cNvSpPr/>
          <p:nvPr/>
        </p:nvSpPr>
        <p:spPr>
          <a:xfrm>
            <a:off x="7819493" y="1536645"/>
            <a:ext cx="616085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6D1529-A223-49DE-82E0-579CB940DC52}"/>
              </a:ext>
            </a:extLst>
          </p:cNvPr>
          <p:cNvSpPr/>
          <p:nvPr/>
        </p:nvSpPr>
        <p:spPr>
          <a:xfrm rot="5400000">
            <a:off x="5304044" y="3472773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3E13-2D2C-4389-8910-EE3DDDB5B72F}"/>
              </a:ext>
            </a:extLst>
          </p:cNvPr>
          <p:cNvSpPr txBox="1"/>
          <p:nvPr/>
        </p:nvSpPr>
        <p:spPr>
          <a:xfrm>
            <a:off x="7281463" y="3171907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Baskerville Old Face" panose="02020602080505020303" pitchFamily="18" charset="0"/>
              </a:rPr>
              <a:t>mmap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104A44-1450-4D2E-87EA-0CC4A85FE2A3}"/>
              </a:ext>
            </a:extLst>
          </p:cNvPr>
          <p:cNvSpPr/>
          <p:nvPr/>
        </p:nvSpPr>
        <p:spPr>
          <a:xfrm>
            <a:off x="6614037" y="2921746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F285031-E097-4EDA-9942-DFB3E4E1B057}"/>
              </a:ext>
            </a:extLst>
          </p:cNvPr>
          <p:cNvSpPr/>
          <p:nvPr/>
        </p:nvSpPr>
        <p:spPr>
          <a:xfrm rot="16200000">
            <a:off x="6431570" y="3859448"/>
            <a:ext cx="1308370" cy="33074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42BE8-A4B5-4AEF-B390-5ED885E36F4F}"/>
              </a:ext>
            </a:extLst>
          </p:cNvPr>
          <p:cNvSpPr txBox="1"/>
          <p:nvPr/>
        </p:nvSpPr>
        <p:spPr>
          <a:xfrm>
            <a:off x="172282" y="725083"/>
            <a:ext cx="617669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When LMM request a VM page (Data VM page),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from kernel (</a:t>
            </a:r>
            <a:r>
              <a:rPr lang="en-US" i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mm_get_new_vm_page_from_kernel</a:t>
            </a:r>
            <a:r>
              <a:rPr lang="en-US" i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() </a:t>
            </a:r>
            <a:r>
              <a:rPr lang="en-US" dirty="0">
                <a:latin typeface="Baskerville Old Face" panose="02020602080505020303" pitchFamily="18" charset="0"/>
              </a:rPr>
              <a:t>), LMM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need to perform operations on this VM page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Allocation of Data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Deallocation of Data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If page is completely free, return back to kernel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If page is exhausted, allocate another VM page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Maintain Collection of VM pages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Collect Certain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We need a Data structure which would enable LMM to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manipulate/organize Data VM pages with ease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latin typeface="Baskerville Old Face" panose="02020602080505020303" pitchFamily="18" charset="0"/>
              </a:rPr>
              <a:t>  is a data structure used to represent a single Data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VM page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We will discuss the definition of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vm_pag_t</a:t>
            </a:r>
            <a:r>
              <a:rPr lang="en-US" dirty="0">
                <a:latin typeface="Baskerville Old Face" panose="02020602080505020303" pitchFamily="18" charset="0"/>
              </a:rPr>
              <a:t> data structure,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While discussing how Data VM pages need to be organized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by LMM to facilitate memory allocations and deallocations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efficiently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9C504-54B6-4A6A-AD50-4DF2D853D065}"/>
              </a:ext>
            </a:extLst>
          </p:cNvPr>
          <p:cNvSpPr txBox="1"/>
          <p:nvPr/>
        </p:nvSpPr>
        <p:spPr>
          <a:xfrm>
            <a:off x="8874022" y="183418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X bytes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1F153D-69BA-476C-8591-64A88F9EAD9C}"/>
              </a:ext>
            </a:extLst>
          </p:cNvPr>
          <p:cNvSpPr/>
          <p:nvPr/>
        </p:nvSpPr>
        <p:spPr>
          <a:xfrm>
            <a:off x="6356738" y="1882499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72EA9-F0FB-454C-B2E7-A3AC3845055F}"/>
              </a:ext>
            </a:extLst>
          </p:cNvPr>
          <p:cNvSpPr txBox="1"/>
          <p:nvPr/>
        </p:nvSpPr>
        <p:spPr>
          <a:xfrm>
            <a:off x="5418027" y="2974254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Baskerville Old Face" panose="02020602080505020303" pitchFamily="18" charset="0"/>
              </a:rPr>
              <a:t>munmap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1E9DA-8989-4E61-A6CA-23F7BF910BBD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</p:spTree>
    <p:extLst>
      <p:ext uri="{BB962C8B-B14F-4D97-AF65-F5344CB8AC3E}">
        <p14:creationId xmlns:p14="http://schemas.microsoft.com/office/powerpoint/2010/main" val="161944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905612" y="155712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02333" y="143932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20080" y="2550817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1953462" y="1419864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FDFA1-562E-4974-BB38-295D146B8DF6}"/>
              </a:ext>
            </a:extLst>
          </p:cNvPr>
          <p:cNvSpPr txBox="1"/>
          <p:nvPr/>
        </p:nvSpPr>
        <p:spPr>
          <a:xfrm>
            <a:off x="9806226" y="95044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Application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751E0E-6BD5-4CCA-9446-B0FFF890045B}"/>
              </a:ext>
            </a:extLst>
          </p:cNvPr>
          <p:cNvSpPr txBox="1"/>
          <p:nvPr/>
        </p:nvSpPr>
        <p:spPr>
          <a:xfrm>
            <a:off x="3896545" y="321232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C7CEDC0-F4EA-4F83-9ACC-B832E11AE23C}"/>
              </a:ext>
            </a:extLst>
          </p:cNvPr>
          <p:cNvSpPr/>
          <p:nvPr/>
        </p:nvSpPr>
        <p:spPr>
          <a:xfrm>
            <a:off x="4005019" y="63255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CA8BC-C34B-4447-A039-F87524C1B6E0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8BD25-242D-487E-B9F2-D6AF4CB034C6}"/>
              </a:ext>
            </a:extLst>
          </p:cNvPr>
          <p:cNvSpPr txBox="1"/>
          <p:nvPr/>
        </p:nvSpPr>
        <p:spPr>
          <a:xfrm>
            <a:off x="548412" y="3179450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AA0CE-A0EC-495E-9690-A884AF644B6B}"/>
              </a:ext>
            </a:extLst>
          </p:cNvPr>
          <p:cNvSpPr txBox="1"/>
          <p:nvPr/>
        </p:nvSpPr>
        <p:spPr>
          <a:xfrm>
            <a:off x="1999774" y="282701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81112-C5DD-4153-81F0-4A34E1B7F715}"/>
              </a:ext>
            </a:extLst>
          </p:cNvPr>
          <p:cNvSpPr txBox="1"/>
          <p:nvPr/>
        </p:nvSpPr>
        <p:spPr>
          <a:xfrm>
            <a:off x="388556" y="4034287"/>
            <a:ext cx="50593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char </a:t>
            </a:r>
            <a:r>
              <a:rPr lang="en-US" dirty="0" err="1">
                <a:latin typeface="Baskerville Old Face" panose="02020602080505020303" pitchFamily="18" charset="0"/>
              </a:rPr>
              <a:t>struct_name</a:t>
            </a:r>
            <a:r>
              <a:rPr lang="en-US" dirty="0">
                <a:latin typeface="Baskerville Old Face" panose="02020602080505020303" pitchFamily="18" charset="0"/>
              </a:rPr>
              <a:t>[MM_MAX_STRUCT_NAME];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</a:t>
            </a:r>
            <a:r>
              <a:rPr lang="en-US" dirty="0" err="1">
                <a:latin typeface="Baskerville Old Face" panose="02020602080505020303" pitchFamily="18" charset="0"/>
              </a:rPr>
              <a:t>struct_size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first_page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0B4C3-0EB4-4030-9A76-F5441E33E4C1}"/>
              </a:ext>
            </a:extLst>
          </p:cNvPr>
          <p:cNvSpPr txBox="1"/>
          <p:nvPr/>
        </p:nvSpPr>
        <p:spPr>
          <a:xfrm>
            <a:off x="3885239" y="321612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C37250-A673-4FBE-BBB5-354848E6A9C1}"/>
              </a:ext>
            </a:extLst>
          </p:cNvPr>
          <p:cNvSpPr/>
          <p:nvPr/>
        </p:nvSpPr>
        <p:spPr>
          <a:xfrm>
            <a:off x="4005019" y="63679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6D4F9E-C566-4C09-A2CE-C1AB285F1FFD}"/>
              </a:ext>
            </a:extLst>
          </p:cNvPr>
          <p:cNvCxnSpPr/>
          <p:nvPr/>
        </p:nvCxnSpPr>
        <p:spPr>
          <a:xfrm>
            <a:off x="5044482" y="3118207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44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0.16901 -2.59259E-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0.16719 -3.7037E-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8" grpId="0" animBg="1"/>
      <p:bldP spid="62" grpId="0"/>
      <p:bldP spid="62" grpId="1"/>
      <p:bldP spid="100" grpId="0" animBg="1"/>
      <p:bldP spid="100" grpId="1" animBg="1"/>
      <p:bldP spid="5" grpId="0"/>
      <p:bldP spid="7" grpId="0"/>
      <p:bldP spid="53" grpId="0"/>
      <p:bldP spid="5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905612" y="155712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02333" y="143932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20080" y="2550817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1953462" y="1419864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FDFA1-562E-4974-BB38-295D146B8DF6}"/>
              </a:ext>
            </a:extLst>
          </p:cNvPr>
          <p:cNvSpPr txBox="1"/>
          <p:nvPr/>
        </p:nvSpPr>
        <p:spPr>
          <a:xfrm>
            <a:off x="9806226" y="95044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Application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751E0E-6BD5-4CCA-9446-B0FFF890045B}"/>
              </a:ext>
            </a:extLst>
          </p:cNvPr>
          <p:cNvSpPr txBox="1"/>
          <p:nvPr/>
        </p:nvSpPr>
        <p:spPr>
          <a:xfrm>
            <a:off x="3896545" y="321232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C7CEDC0-F4EA-4F83-9ACC-B832E11AE23C}"/>
              </a:ext>
            </a:extLst>
          </p:cNvPr>
          <p:cNvSpPr/>
          <p:nvPr/>
        </p:nvSpPr>
        <p:spPr>
          <a:xfrm>
            <a:off x="4005019" y="63255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CA8BC-C34B-4447-A039-F87524C1B6E0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8BD25-242D-487E-B9F2-D6AF4CB034C6}"/>
              </a:ext>
            </a:extLst>
          </p:cNvPr>
          <p:cNvSpPr txBox="1"/>
          <p:nvPr/>
        </p:nvSpPr>
        <p:spPr>
          <a:xfrm>
            <a:off x="548412" y="3179450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AA0CE-A0EC-495E-9690-A884AF644B6B}"/>
              </a:ext>
            </a:extLst>
          </p:cNvPr>
          <p:cNvSpPr txBox="1"/>
          <p:nvPr/>
        </p:nvSpPr>
        <p:spPr>
          <a:xfrm>
            <a:off x="1999774" y="282701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58157-6504-4A48-AED8-8EE70D71C7F9}"/>
              </a:ext>
            </a:extLst>
          </p:cNvPr>
          <p:cNvSpPr txBox="1"/>
          <p:nvPr/>
        </p:nvSpPr>
        <p:spPr>
          <a:xfrm>
            <a:off x="4005019" y="4051667"/>
            <a:ext cx="52437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_{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*next;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prev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 /*back pointer*/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0B4C3-0EB4-4030-9A76-F5441E33E4C1}"/>
              </a:ext>
            </a:extLst>
          </p:cNvPr>
          <p:cNvSpPr txBox="1"/>
          <p:nvPr/>
        </p:nvSpPr>
        <p:spPr>
          <a:xfrm>
            <a:off x="6000549" y="321187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C37250-A673-4FBE-BBB5-354848E6A9C1}"/>
              </a:ext>
            </a:extLst>
          </p:cNvPr>
          <p:cNvSpPr/>
          <p:nvPr/>
        </p:nvSpPr>
        <p:spPr>
          <a:xfrm>
            <a:off x="6120329" y="63255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6D4F9E-C566-4C09-A2CE-C1AB285F1FFD}"/>
              </a:ext>
            </a:extLst>
          </p:cNvPr>
          <p:cNvCxnSpPr/>
          <p:nvPr/>
        </p:nvCxnSpPr>
        <p:spPr>
          <a:xfrm>
            <a:off x="5044482" y="3118207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B7DAEF-EF5B-4CC1-BBA3-FE5F1CA324D4}"/>
              </a:ext>
            </a:extLst>
          </p:cNvPr>
          <p:cNvSpPr txBox="1"/>
          <p:nvPr/>
        </p:nvSpPr>
        <p:spPr>
          <a:xfrm>
            <a:off x="3869719" y="321187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7B2871-36B7-4619-9060-10EACF0F8FC5}"/>
              </a:ext>
            </a:extLst>
          </p:cNvPr>
          <p:cNvSpPr/>
          <p:nvPr/>
        </p:nvSpPr>
        <p:spPr>
          <a:xfrm>
            <a:off x="3978193" y="63210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6B482C-7D46-4805-ADE7-29A4E4E84561}"/>
              </a:ext>
            </a:extLst>
          </p:cNvPr>
          <p:cNvCxnSpPr/>
          <p:nvPr/>
        </p:nvCxnSpPr>
        <p:spPr>
          <a:xfrm>
            <a:off x="4954201" y="3130900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50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0.17344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59259E-6 L 0.16914 0.0009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1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16914 0.004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1" y="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7 L 0.16667 0.0025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11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0.17253 -0.000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100" grpId="0" animBg="1"/>
      <p:bldP spid="6" grpId="0"/>
      <p:bldP spid="53" grpId="0"/>
      <p:bldP spid="54" grpId="0" animBg="1"/>
      <p:bldP spid="30" grpId="0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905612" y="155712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(1,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foo_t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02333" y="143932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20080" y="2550817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1953462" y="1419864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FDFA1-562E-4974-BB38-295D146B8DF6}"/>
              </a:ext>
            </a:extLst>
          </p:cNvPr>
          <p:cNvSpPr txBox="1"/>
          <p:nvPr/>
        </p:nvSpPr>
        <p:spPr>
          <a:xfrm>
            <a:off x="9806226" y="95044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Application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751E0E-6BD5-4CCA-9446-B0FFF890045B}"/>
              </a:ext>
            </a:extLst>
          </p:cNvPr>
          <p:cNvSpPr txBox="1"/>
          <p:nvPr/>
        </p:nvSpPr>
        <p:spPr>
          <a:xfrm>
            <a:off x="3896545" y="321232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C7CEDC0-F4EA-4F83-9ACC-B832E11AE23C}"/>
              </a:ext>
            </a:extLst>
          </p:cNvPr>
          <p:cNvSpPr/>
          <p:nvPr/>
        </p:nvSpPr>
        <p:spPr>
          <a:xfrm>
            <a:off x="4005019" y="63255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CA8BC-C34B-4447-A039-F87524C1B6E0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8BD25-242D-487E-B9F2-D6AF4CB034C6}"/>
              </a:ext>
            </a:extLst>
          </p:cNvPr>
          <p:cNvSpPr txBox="1"/>
          <p:nvPr/>
        </p:nvSpPr>
        <p:spPr>
          <a:xfrm>
            <a:off x="548412" y="3179450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AA0CE-A0EC-495E-9690-A884AF644B6B}"/>
              </a:ext>
            </a:extLst>
          </p:cNvPr>
          <p:cNvSpPr txBox="1"/>
          <p:nvPr/>
        </p:nvSpPr>
        <p:spPr>
          <a:xfrm>
            <a:off x="1999774" y="282701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58157-6504-4A48-AED8-8EE70D71C7F9}"/>
              </a:ext>
            </a:extLst>
          </p:cNvPr>
          <p:cNvSpPr txBox="1"/>
          <p:nvPr/>
        </p:nvSpPr>
        <p:spPr>
          <a:xfrm>
            <a:off x="4005019" y="4051667"/>
            <a:ext cx="52437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_{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*next;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prev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 /*back pointer*/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C37250-A673-4FBE-BBB5-354848E6A9C1}"/>
              </a:ext>
            </a:extLst>
          </p:cNvPr>
          <p:cNvSpPr/>
          <p:nvPr/>
        </p:nvSpPr>
        <p:spPr>
          <a:xfrm>
            <a:off x="6140170" y="632552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6D4F9E-C566-4C09-A2CE-C1AB285F1FFD}"/>
              </a:ext>
            </a:extLst>
          </p:cNvPr>
          <p:cNvCxnSpPr/>
          <p:nvPr/>
        </p:nvCxnSpPr>
        <p:spPr>
          <a:xfrm>
            <a:off x="5044482" y="3118207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B7DAEF-EF5B-4CC1-BBA3-FE5F1CA324D4}"/>
              </a:ext>
            </a:extLst>
          </p:cNvPr>
          <p:cNvSpPr txBox="1"/>
          <p:nvPr/>
        </p:nvSpPr>
        <p:spPr>
          <a:xfrm>
            <a:off x="6030412" y="321187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CACE6-FBDD-4FAC-9D6D-2ABC12F0F439}"/>
              </a:ext>
            </a:extLst>
          </p:cNvPr>
          <p:cNvSpPr txBox="1"/>
          <p:nvPr/>
        </p:nvSpPr>
        <p:spPr>
          <a:xfrm>
            <a:off x="4019145" y="2387178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A227B-C6FD-4170-9178-A6EB9A1DD691}"/>
              </a:ext>
            </a:extLst>
          </p:cNvPr>
          <p:cNvSpPr txBox="1"/>
          <p:nvPr/>
        </p:nvSpPr>
        <p:spPr>
          <a:xfrm>
            <a:off x="6158965" y="2426276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39F45D-89EE-4322-BD41-55CF7D99D166}"/>
              </a:ext>
            </a:extLst>
          </p:cNvPr>
          <p:cNvSpPr/>
          <p:nvPr/>
        </p:nvSpPr>
        <p:spPr>
          <a:xfrm>
            <a:off x="8141285" y="63679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F8DCA4-4BEC-4F8B-8F3E-9361CDC8C88E}"/>
              </a:ext>
            </a:extLst>
          </p:cNvPr>
          <p:cNvSpPr txBox="1"/>
          <p:nvPr/>
        </p:nvSpPr>
        <p:spPr>
          <a:xfrm>
            <a:off x="7898775" y="321567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9D520-8C1C-4A8F-9194-CEA40DC4DEB0}"/>
              </a:ext>
            </a:extLst>
          </p:cNvPr>
          <p:cNvSpPr txBox="1"/>
          <p:nvPr/>
        </p:nvSpPr>
        <p:spPr>
          <a:xfrm>
            <a:off x="8160080" y="2430520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72987C-D492-4A42-959F-E0D95B578141}"/>
              </a:ext>
            </a:extLst>
          </p:cNvPr>
          <p:cNvCxnSpPr/>
          <p:nvPr/>
        </p:nvCxnSpPr>
        <p:spPr>
          <a:xfrm>
            <a:off x="7119165" y="3074037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251E9DA-8989-4E61-A6CA-23F7BF910BBD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0F0B4-4AF0-46F7-9139-2A74F05C5BF7}"/>
              </a:ext>
            </a:extLst>
          </p:cNvPr>
          <p:cNvSpPr txBox="1"/>
          <p:nvPr/>
        </p:nvSpPr>
        <p:spPr>
          <a:xfrm>
            <a:off x="1749292" y="59077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625836-A790-4D3D-A875-999567DED09C}"/>
              </a:ext>
            </a:extLst>
          </p:cNvPr>
          <p:cNvSpPr txBox="1"/>
          <p:nvPr/>
        </p:nvSpPr>
        <p:spPr>
          <a:xfrm>
            <a:off x="1749292" y="51856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612CE2-4351-4A98-B5B4-2ED56A41F263}"/>
              </a:ext>
            </a:extLst>
          </p:cNvPr>
          <p:cNvSpPr txBox="1"/>
          <p:nvPr/>
        </p:nvSpPr>
        <p:spPr>
          <a:xfrm>
            <a:off x="225292" y="6150970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When new Data VM page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requested from kernel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CDDED-FCAF-4E04-9C4A-FF9A801CAF81}"/>
              </a:ext>
            </a:extLst>
          </p:cNvPr>
          <p:cNvSpPr txBox="1"/>
          <p:nvPr/>
        </p:nvSpPr>
        <p:spPr>
          <a:xfrm>
            <a:off x="1817150" y="561472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09F205-2EFB-4A52-BB28-11536F3E5DD3}"/>
              </a:ext>
            </a:extLst>
          </p:cNvPr>
          <p:cNvSpPr/>
          <p:nvPr/>
        </p:nvSpPr>
        <p:spPr>
          <a:xfrm>
            <a:off x="419289" y="55190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22573B-8FA4-463F-A463-D7109FE43904}"/>
              </a:ext>
            </a:extLst>
          </p:cNvPr>
          <p:cNvSpPr/>
          <p:nvPr/>
        </p:nvSpPr>
        <p:spPr>
          <a:xfrm>
            <a:off x="418953" y="582389"/>
            <a:ext cx="1320768" cy="460195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4068B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41462F-09C6-4BCF-9AB9-0D5B2CECA9B7}"/>
              </a:ext>
            </a:extLst>
          </p:cNvPr>
          <p:cNvSpPr/>
          <p:nvPr/>
        </p:nvSpPr>
        <p:spPr>
          <a:xfrm>
            <a:off x="411418" y="5197164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4068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A78D1E-E146-4C32-B1B7-915B930504A5}"/>
              </a:ext>
            </a:extLst>
          </p:cNvPr>
          <p:cNvSpPr/>
          <p:nvPr/>
        </p:nvSpPr>
        <p:spPr>
          <a:xfrm>
            <a:off x="3635001" y="1525049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02E976-5FFC-4C9D-A2E1-33E043FF8900}"/>
              </a:ext>
            </a:extLst>
          </p:cNvPr>
          <p:cNvSpPr txBox="1"/>
          <p:nvPr/>
        </p:nvSpPr>
        <p:spPr>
          <a:xfrm>
            <a:off x="3652748" y="2636546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F28E6E8-6D96-4604-A0A8-B9CCBB3669B3}"/>
              </a:ext>
            </a:extLst>
          </p:cNvPr>
          <p:cNvSpPr/>
          <p:nvPr/>
        </p:nvSpPr>
        <p:spPr>
          <a:xfrm flipV="1">
            <a:off x="4586130" y="1505593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03B842-BB1F-40AE-8CEC-F76660D444D0}"/>
              </a:ext>
            </a:extLst>
          </p:cNvPr>
          <p:cNvSpPr txBox="1"/>
          <p:nvPr/>
        </p:nvSpPr>
        <p:spPr>
          <a:xfrm>
            <a:off x="6529213" y="329805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6CDFA4-0EF3-40D8-9F50-212817633E5A}"/>
              </a:ext>
            </a:extLst>
          </p:cNvPr>
          <p:cNvSpPr/>
          <p:nvPr/>
        </p:nvSpPr>
        <p:spPr>
          <a:xfrm>
            <a:off x="6637687" y="718281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4B32B1-3880-4C92-BAB3-30627C12A682}"/>
              </a:ext>
            </a:extLst>
          </p:cNvPr>
          <p:cNvSpPr txBox="1"/>
          <p:nvPr/>
        </p:nvSpPr>
        <p:spPr>
          <a:xfrm>
            <a:off x="3181080" y="3265179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3592DF-A19B-4D7F-8EDA-42526302EB9E}"/>
              </a:ext>
            </a:extLst>
          </p:cNvPr>
          <p:cNvSpPr txBox="1"/>
          <p:nvPr/>
        </p:nvSpPr>
        <p:spPr>
          <a:xfrm>
            <a:off x="4632442" y="2912748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F31EE7-0ABC-4BD7-B661-D4268AC9ADBB}"/>
              </a:ext>
            </a:extLst>
          </p:cNvPr>
          <p:cNvSpPr txBox="1"/>
          <p:nvPr/>
        </p:nvSpPr>
        <p:spPr>
          <a:xfrm>
            <a:off x="5650703" y="3996501"/>
            <a:ext cx="54200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_{</a:t>
            </a:r>
          </a:p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_ *next;</a:t>
            </a:r>
          </a:p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vm_page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prev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; /*back pointer*/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</a:t>
            </a:r>
            <a:r>
              <a:rPr lang="sv-SE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block_meta_data_t block_meta_data;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char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page_memory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[0]; /*First data block in VM page*/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3D4C87-BB4F-499C-BDD7-0FEE93E30C8E}"/>
              </a:ext>
            </a:extLst>
          </p:cNvPr>
          <p:cNvSpPr/>
          <p:nvPr/>
        </p:nvSpPr>
        <p:spPr>
          <a:xfrm>
            <a:off x="8772838" y="718281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04B494-1BDE-4EC6-BAB3-9B3C7870466C}"/>
              </a:ext>
            </a:extLst>
          </p:cNvPr>
          <p:cNvCxnSpPr/>
          <p:nvPr/>
        </p:nvCxnSpPr>
        <p:spPr>
          <a:xfrm>
            <a:off x="7677150" y="3203936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BF18744-6ACE-48FC-8EBF-03D86FCF9609}"/>
              </a:ext>
            </a:extLst>
          </p:cNvPr>
          <p:cNvSpPr txBox="1"/>
          <p:nvPr/>
        </p:nvSpPr>
        <p:spPr>
          <a:xfrm>
            <a:off x="8530328" y="329715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41FF06-7074-400C-A280-D233E81497EE}"/>
              </a:ext>
            </a:extLst>
          </p:cNvPr>
          <p:cNvSpPr txBox="1"/>
          <p:nvPr/>
        </p:nvSpPr>
        <p:spPr>
          <a:xfrm>
            <a:off x="6651813" y="2472907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A1E137-22B7-42FB-97FD-95F2A11AC9EB}"/>
              </a:ext>
            </a:extLst>
          </p:cNvPr>
          <p:cNvSpPr txBox="1"/>
          <p:nvPr/>
        </p:nvSpPr>
        <p:spPr>
          <a:xfrm>
            <a:off x="8791633" y="2512005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B6E3AC-F9CD-4EAE-AD26-AA8C28777A49}"/>
              </a:ext>
            </a:extLst>
          </p:cNvPr>
          <p:cNvSpPr/>
          <p:nvPr/>
        </p:nvSpPr>
        <p:spPr>
          <a:xfrm>
            <a:off x="6648759" y="2270926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151C43-2ED9-4F58-90A7-C97A83955D4A}"/>
              </a:ext>
            </a:extLst>
          </p:cNvPr>
          <p:cNvSpPr/>
          <p:nvPr/>
        </p:nvSpPr>
        <p:spPr>
          <a:xfrm>
            <a:off x="8791632" y="2310327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27A1DC-907E-4F4B-8512-8A07712F6F4D}"/>
              </a:ext>
            </a:extLst>
          </p:cNvPr>
          <p:cNvSpPr/>
          <p:nvPr/>
        </p:nvSpPr>
        <p:spPr>
          <a:xfrm>
            <a:off x="6668250" y="711146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CDBFE3-329B-4919-8AE8-DB84EBF763EF}"/>
              </a:ext>
            </a:extLst>
          </p:cNvPr>
          <p:cNvSpPr/>
          <p:nvPr/>
        </p:nvSpPr>
        <p:spPr>
          <a:xfrm>
            <a:off x="8811123" y="751597"/>
            <a:ext cx="855391" cy="153942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</p:spTree>
    <p:extLst>
      <p:ext uri="{BB962C8B-B14F-4D97-AF65-F5344CB8AC3E}">
        <p14:creationId xmlns:p14="http://schemas.microsoft.com/office/powerpoint/2010/main" val="236527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9" grpId="0"/>
      <p:bldP spid="30" grpId="0" animBg="1"/>
      <p:bldP spid="31" grpId="0" animBg="1"/>
      <p:bldP spid="27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91885" y="1597688"/>
            <a:ext cx="6599884" cy="16619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/*Return MM_TRUE if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VM_page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has no data block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assigned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to</a:t>
            </a:r>
          </a:p>
          <a:p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  the application,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else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return MM_FALSE*/</a:t>
            </a:r>
          </a:p>
          <a:p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  <a:p>
            <a:pPr lvl="1"/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vm_bool_t</a:t>
            </a:r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lvl="1"/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mm_is_vm_page_empty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);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412274" y="1220106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Decl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, 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70B85F-81B6-4CD1-A203-5AA7CBF2C9D7}"/>
              </a:ext>
            </a:extLst>
          </p:cNvPr>
          <p:cNvSpPr txBox="1"/>
          <p:nvPr/>
        </p:nvSpPr>
        <p:spPr>
          <a:xfrm>
            <a:off x="391885" y="4398666"/>
            <a:ext cx="7199407" cy="13849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FF"/>
                </a:solidFill>
                <a:latin typeface="Baskerville Old Face" panose="02020602080505020303" pitchFamily="18" charset="0"/>
              </a:rPr>
              <a:t>/*Write a macro which mark the VM data page as empty*/</a:t>
            </a:r>
          </a:p>
          <a:p>
            <a:endParaRPr lang="de-DE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  <a:p>
            <a:r>
              <a:rPr lang="de-DE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MARK_VM_PAGE_EMPTY(vm_page_t_ptr)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\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provide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definition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&gt;</a:t>
            </a:r>
            <a:endParaRPr lang="de-DE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C965C0-E2CB-4C0C-B1EB-46E20CFF1A72}"/>
              </a:ext>
            </a:extLst>
          </p:cNvPr>
          <p:cNvSpPr txBox="1"/>
          <p:nvPr/>
        </p:nvSpPr>
        <p:spPr>
          <a:xfrm>
            <a:off x="604575" y="4029334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206997-2393-4BB5-B232-F82954B922BE}"/>
              </a:ext>
            </a:extLst>
          </p:cNvPr>
          <p:cNvSpPr txBox="1"/>
          <p:nvPr/>
        </p:nvSpPr>
        <p:spPr>
          <a:xfrm>
            <a:off x="10307524" y="5606318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58E7F0-AE97-4509-A562-48E86F34C317}"/>
              </a:ext>
            </a:extLst>
          </p:cNvPr>
          <p:cNvSpPr txBox="1"/>
          <p:nvPr/>
        </p:nvSpPr>
        <p:spPr>
          <a:xfrm>
            <a:off x="10330721" y="66608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3A738A-24BC-4BEF-9C6D-EDC3300A7B3C}"/>
              </a:ext>
            </a:extLst>
          </p:cNvPr>
          <p:cNvSpPr txBox="1"/>
          <p:nvPr/>
        </p:nvSpPr>
        <p:spPr>
          <a:xfrm>
            <a:off x="8783524" y="5849519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When new Data VM page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requested from kernel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1710B2-382F-4621-9365-F95D6BBEA130}"/>
              </a:ext>
            </a:extLst>
          </p:cNvPr>
          <p:cNvSpPr txBox="1"/>
          <p:nvPr/>
        </p:nvSpPr>
        <p:spPr>
          <a:xfrm>
            <a:off x="10410972" y="471312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1E63EE-39B1-4355-B2CB-345C0C88A6D1}"/>
              </a:ext>
            </a:extLst>
          </p:cNvPr>
          <p:cNvSpPr/>
          <p:nvPr/>
        </p:nvSpPr>
        <p:spPr>
          <a:xfrm>
            <a:off x="8977521" y="850774"/>
            <a:ext cx="1425580" cy="49122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EE02B9-5151-4F57-A199-03CF71DE7F0A}"/>
              </a:ext>
            </a:extLst>
          </p:cNvPr>
          <p:cNvSpPr/>
          <p:nvPr/>
        </p:nvSpPr>
        <p:spPr>
          <a:xfrm>
            <a:off x="8977223" y="850774"/>
            <a:ext cx="1378062" cy="3547892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D073FE-0AAE-4E96-9247-43B18B97C7FC}"/>
              </a:ext>
            </a:extLst>
          </p:cNvPr>
          <p:cNvSpPr/>
          <p:nvPr/>
        </p:nvSpPr>
        <p:spPr>
          <a:xfrm>
            <a:off x="8969650" y="4399353"/>
            <a:ext cx="140573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AB5B71-BA8F-4CEF-B0F6-C6FB24CE0E25}"/>
              </a:ext>
            </a:extLst>
          </p:cNvPr>
          <p:cNvSpPr/>
          <p:nvPr/>
        </p:nvSpPr>
        <p:spPr>
          <a:xfrm>
            <a:off x="8987445" y="5256729"/>
            <a:ext cx="1405731" cy="472890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438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548412" y="3812577"/>
            <a:ext cx="9339416" cy="276998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/*Write an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Iterative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macro to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iterate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over all VM Data pages for a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given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page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family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*/</a:t>
            </a:r>
          </a:p>
          <a:p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  <a:p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	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*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curr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= NULL;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ITERATE_VM_PAGE_BEGIN(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vm_page_family_ptr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curr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 \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implementation&gt;</a:t>
            </a:r>
          </a:p>
          <a:p>
            <a:pPr lvl="1"/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lvl="1"/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ITERATE_VM_PAGE_END(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vm_page_family_ptr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curr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	\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definition&gt;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9988361" y="468832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5F8830-D99A-4CA9-BD67-73459D010A3D}"/>
              </a:ext>
            </a:extLst>
          </p:cNvPr>
          <p:cNvSpPr/>
          <p:nvPr/>
        </p:nvSpPr>
        <p:spPr>
          <a:xfrm>
            <a:off x="1946878" y="1492492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98663-1D8C-4EFE-A7E4-B54018B9FC26}"/>
              </a:ext>
            </a:extLst>
          </p:cNvPr>
          <p:cNvSpPr txBox="1"/>
          <p:nvPr/>
        </p:nvSpPr>
        <p:spPr>
          <a:xfrm>
            <a:off x="1964625" y="2603989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2584E1-50A7-4D49-A0DE-8DE956A81A4B}"/>
              </a:ext>
            </a:extLst>
          </p:cNvPr>
          <p:cNvSpPr/>
          <p:nvPr/>
        </p:nvSpPr>
        <p:spPr>
          <a:xfrm flipV="1">
            <a:off x="2898007" y="1473036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9272F-F24C-4B58-B156-14F89A28AC49}"/>
              </a:ext>
            </a:extLst>
          </p:cNvPr>
          <p:cNvSpPr txBox="1"/>
          <p:nvPr/>
        </p:nvSpPr>
        <p:spPr>
          <a:xfrm>
            <a:off x="4903045" y="326929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1A9FE5-2B39-497D-9136-32B81B5F40A5}"/>
              </a:ext>
            </a:extLst>
          </p:cNvPr>
          <p:cNvSpPr/>
          <p:nvPr/>
        </p:nvSpPr>
        <p:spPr>
          <a:xfrm>
            <a:off x="4949564" y="685724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A4F25-4E44-4FB3-9215-E0733832C339}"/>
              </a:ext>
            </a:extLst>
          </p:cNvPr>
          <p:cNvSpPr txBox="1"/>
          <p:nvPr/>
        </p:nvSpPr>
        <p:spPr>
          <a:xfrm>
            <a:off x="1492957" y="3232622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E3733-6F9B-4DD8-8D00-96162DF050D2}"/>
              </a:ext>
            </a:extLst>
          </p:cNvPr>
          <p:cNvSpPr txBox="1"/>
          <p:nvPr/>
        </p:nvSpPr>
        <p:spPr>
          <a:xfrm>
            <a:off x="2944319" y="2880191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5CEB9-50E0-493F-A62D-C5A121C39C2F}"/>
              </a:ext>
            </a:extLst>
          </p:cNvPr>
          <p:cNvSpPr/>
          <p:nvPr/>
        </p:nvSpPr>
        <p:spPr>
          <a:xfrm>
            <a:off x="7084715" y="685724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C076C0-0E30-4A72-BECA-859D3B867150}"/>
              </a:ext>
            </a:extLst>
          </p:cNvPr>
          <p:cNvCxnSpPr/>
          <p:nvPr/>
        </p:nvCxnSpPr>
        <p:spPr>
          <a:xfrm>
            <a:off x="5989027" y="3171379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17DC32C-1572-4986-BC84-F3D579430A12}"/>
              </a:ext>
            </a:extLst>
          </p:cNvPr>
          <p:cNvSpPr txBox="1"/>
          <p:nvPr/>
        </p:nvSpPr>
        <p:spPr>
          <a:xfrm>
            <a:off x="7036912" y="326884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01FD56-6A7D-4277-8011-309862663D72}"/>
              </a:ext>
            </a:extLst>
          </p:cNvPr>
          <p:cNvSpPr txBox="1"/>
          <p:nvPr/>
        </p:nvSpPr>
        <p:spPr>
          <a:xfrm>
            <a:off x="4963690" y="2440350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03470E-8272-441E-8C80-93BD0E30AD24}"/>
              </a:ext>
            </a:extLst>
          </p:cNvPr>
          <p:cNvSpPr txBox="1"/>
          <p:nvPr/>
        </p:nvSpPr>
        <p:spPr>
          <a:xfrm>
            <a:off x="7103510" y="2479448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36187-A563-463E-AC80-A6EFE0BA6B3D}"/>
              </a:ext>
            </a:extLst>
          </p:cNvPr>
          <p:cNvSpPr/>
          <p:nvPr/>
        </p:nvSpPr>
        <p:spPr>
          <a:xfrm>
            <a:off x="9085830" y="689968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A44FAB-E961-4324-B616-29D2E5D8D7A2}"/>
              </a:ext>
            </a:extLst>
          </p:cNvPr>
          <p:cNvSpPr txBox="1"/>
          <p:nvPr/>
        </p:nvSpPr>
        <p:spPr>
          <a:xfrm>
            <a:off x="8905275" y="327263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C755F3-40E2-40EA-B38E-EA76D397B33E}"/>
              </a:ext>
            </a:extLst>
          </p:cNvPr>
          <p:cNvSpPr txBox="1"/>
          <p:nvPr/>
        </p:nvSpPr>
        <p:spPr>
          <a:xfrm>
            <a:off x="9104625" y="2483692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2D34FA-734A-4B7E-9EF4-19E55C2A50D0}"/>
              </a:ext>
            </a:extLst>
          </p:cNvPr>
          <p:cNvCxnSpPr/>
          <p:nvPr/>
        </p:nvCxnSpPr>
        <p:spPr>
          <a:xfrm>
            <a:off x="8063710" y="3127209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1872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906372" y="1770923"/>
            <a:ext cx="7859844" cy="36933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/*Write an Iterative macro to loop over all Meta blocks of a Given VM Data page*/</a:t>
            </a: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#define ITERATE_VM_PAGE_ALL_BLOCKS_BEGIN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(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vm_page_ptr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curr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	\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&lt;provide definition&gt;</a:t>
            </a: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#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define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ITERATE_VM_PAGE_ALL_BLOCKS_END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vm_page_ptr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curr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      \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&lt;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provide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definition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836070" y="142101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8869024" y="550801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8977498" y="582804"/>
            <a:ext cx="976008" cy="4924761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8991624" y="4682864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8988570" y="4480883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9008061" y="3734505"/>
            <a:ext cx="866119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A9F077-8704-45EF-AA75-C09D743AC8A0}"/>
              </a:ext>
            </a:extLst>
          </p:cNvPr>
          <p:cNvSpPr/>
          <p:nvPr/>
        </p:nvSpPr>
        <p:spPr>
          <a:xfrm>
            <a:off x="8997594" y="3541286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57873-16DD-4879-B402-9936C44FD03B}"/>
              </a:ext>
            </a:extLst>
          </p:cNvPr>
          <p:cNvSpPr/>
          <p:nvPr/>
        </p:nvSpPr>
        <p:spPr>
          <a:xfrm>
            <a:off x="8997594" y="2786921"/>
            <a:ext cx="866119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9366D4-12C3-445B-8D20-7E7D00FA9DE2}"/>
              </a:ext>
            </a:extLst>
          </p:cNvPr>
          <p:cNvSpPr/>
          <p:nvPr/>
        </p:nvSpPr>
        <p:spPr>
          <a:xfrm>
            <a:off x="8988570" y="2571032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C8E46F-8B72-44EE-B401-46FBF6FA3C7E}"/>
              </a:ext>
            </a:extLst>
          </p:cNvPr>
          <p:cNvSpPr/>
          <p:nvPr/>
        </p:nvSpPr>
        <p:spPr>
          <a:xfrm>
            <a:off x="9008061" y="1833803"/>
            <a:ext cx="866119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54857C-CD4D-4824-B05A-54099E24E9EE}"/>
              </a:ext>
            </a:extLst>
          </p:cNvPr>
          <p:cNvSpPr/>
          <p:nvPr/>
        </p:nvSpPr>
        <p:spPr>
          <a:xfrm>
            <a:off x="9007642" y="1617914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9B623F-00B3-471C-8951-DB54D8361988}"/>
              </a:ext>
            </a:extLst>
          </p:cNvPr>
          <p:cNvSpPr/>
          <p:nvPr/>
        </p:nvSpPr>
        <p:spPr>
          <a:xfrm>
            <a:off x="9007596" y="582354"/>
            <a:ext cx="866119" cy="102332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3343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9A2775-6274-4141-B20E-29C4F881CE66}"/>
              </a:ext>
            </a:extLst>
          </p:cNvPr>
          <p:cNvSpPr/>
          <p:nvPr/>
        </p:nvSpPr>
        <p:spPr>
          <a:xfrm>
            <a:off x="8839300" y="1708000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1336430" y="1715434"/>
            <a:ext cx="6001964" cy="350865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/*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Returns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the size of Free Data block of an </a:t>
            </a:r>
            <a:r>
              <a:rPr lang="fr-FR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Empty</a:t>
            </a:r>
            <a:r>
              <a:rPr lang="fr-FR" dirty="0">
                <a:solidFill>
                  <a:srgbClr val="FFFFFF"/>
                </a:solidFill>
                <a:latin typeface="Baskerville Old Face" panose="02020602080505020303" pitchFamily="18" charset="0"/>
              </a:rPr>
              <a:t> VM Page*/</a:t>
            </a:r>
          </a:p>
          <a:p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static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inline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uint32_t</a:t>
            </a: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mm_max_page_allocatable_memory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units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return (uint32_t)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    ((SYSTEM_PAGE_SIZE * units) - \</a:t>
            </a:r>
          </a:p>
          <a:p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		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offset_of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page_memory</a:t>
            </a:r>
            <a:r>
              <a:rPr lang="en-US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));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</a:p>
          <a:p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1336430" y="1324207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D1DFD-1E18-4955-BAF7-AE83C4F06E64}"/>
              </a:ext>
            </a:extLst>
          </p:cNvPr>
          <p:cNvSpPr txBox="1"/>
          <p:nvPr/>
        </p:nvSpPr>
        <p:spPr>
          <a:xfrm>
            <a:off x="8862450" y="3469761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EB4CA-9EB4-46FE-B446-49A28603271F}"/>
              </a:ext>
            </a:extLst>
          </p:cNvPr>
          <p:cNvSpPr/>
          <p:nvPr/>
        </p:nvSpPr>
        <p:spPr>
          <a:xfrm>
            <a:off x="8859396" y="3267780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B57BC5-7905-4E3B-B0FC-7D81E58F1C1F}"/>
              </a:ext>
            </a:extLst>
          </p:cNvPr>
          <p:cNvSpPr/>
          <p:nvPr/>
        </p:nvSpPr>
        <p:spPr>
          <a:xfrm>
            <a:off x="8878887" y="1708000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12769-8072-4EAA-B777-0FD3E3E24CF6}"/>
              </a:ext>
            </a:extLst>
          </p:cNvPr>
          <p:cNvSpPr/>
          <p:nvPr/>
        </p:nvSpPr>
        <p:spPr>
          <a:xfrm>
            <a:off x="10237127" y="481443"/>
            <a:ext cx="976008" cy="5177268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67ACB-E27E-4FA4-8191-F35D59BEF380}"/>
              </a:ext>
            </a:extLst>
          </p:cNvPr>
          <p:cNvSpPr txBox="1"/>
          <p:nvPr/>
        </p:nvSpPr>
        <p:spPr>
          <a:xfrm>
            <a:off x="10260277" y="4841144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50780-B659-4E15-9B67-D41325B4304F}"/>
              </a:ext>
            </a:extLst>
          </p:cNvPr>
          <p:cNvSpPr/>
          <p:nvPr/>
        </p:nvSpPr>
        <p:spPr>
          <a:xfrm>
            <a:off x="10257223" y="4639163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E1A1EE-55C8-4D21-9834-6A90A70D2211}"/>
              </a:ext>
            </a:extLst>
          </p:cNvPr>
          <p:cNvSpPr/>
          <p:nvPr/>
        </p:nvSpPr>
        <p:spPr>
          <a:xfrm>
            <a:off x="10276714" y="3079383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3A8B63-C962-41F3-8841-DD43BA2F7C2E}"/>
              </a:ext>
            </a:extLst>
          </p:cNvPr>
          <p:cNvSpPr/>
          <p:nvPr/>
        </p:nvSpPr>
        <p:spPr>
          <a:xfrm>
            <a:off x="10257223" y="481442"/>
            <a:ext cx="895658" cy="2579327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4096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EAE57-7756-4536-AB34-0869926FBCD3}"/>
              </a:ext>
            </a:extLst>
          </p:cNvPr>
          <p:cNvSpPr txBox="1"/>
          <p:nvPr/>
        </p:nvSpPr>
        <p:spPr>
          <a:xfrm>
            <a:off x="8692435" y="4404943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1 VM Page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90A829-77A4-4C29-A71A-6984E0946751}"/>
              </a:ext>
            </a:extLst>
          </p:cNvPr>
          <p:cNvSpPr txBox="1"/>
          <p:nvPr/>
        </p:nvSpPr>
        <p:spPr>
          <a:xfrm>
            <a:off x="10147175" y="5677324"/>
            <a:ext cx="143661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2 Contiguous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VM Page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 (Giant VM Page)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15111BF4-5AD2-401A-BCE4-4C63192B94AC}"/>
              </a:ext>
            </a:extLst>
          </p:cNvPr>
          <p:cNvSpPr/>
          <p:nvPr/>
        </p:nvSpPr>
        <p:spPr>
          <a:xfrm>
            <a:off x="8504092" y="1708000"/>
            <a:ext cx="274954" cy="1552066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E59C94C2-C987-4C23-A163-A117F8F4562A}"/>
              </a:ext>
            </a:extLst>
          </p:cNvPr>
          <p:cNvSpPr/>
          <p:nvPr/>
        </p:nvSpPr>
        <p:spPr>
          <a:xfrm rot="10800000">
            <a:off x="11242242" y="432077"/>
            <a:ext cx="274954" cy="4199372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1E7B7-EE12-43C3-A9D7-386D520E82EE}"/>
              </a:ext>
            </a:extLst>
          </p:cNvPr>
          <p:cNvSpPr txBox="1"/>
          <p:nvPr/>
        </p:nvSpPr>
        <p:spPr>
          <a:xfrm>
            <a:off x="1306825" y="5609325"/>
            <a:ext cx="5646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Giant VM Page : Two or more contiguous VM pages</a:t>
            </a:r>
          </a:p>
        </p:txBody>
      </p:sp>
    </p:spTree>
    <p:extLst>
      <p:ext uri="{BB962C8B-B14F-4D97-AF65-F5344CB8AC3E}">
        <p14:creationId xmlns:p14="http://schemas.microsoft.com/office/powerpoint/2010/main" val="332234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11498" y="1795253"/>
            <a:ext cx="7050328" cy="15696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allocate_vm_page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175098" y="1401773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decl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, 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E8210-E5C6-4047-ADD4-7701631394BD}"/>
              </a:ext>
            </a:extLst>
          </p:cNvPr>
          <p:cNvSpPr/>
          <p:nvPr/>
        </p:nvSpPr>
        <p:spPr>
          <a:xfrm>
            <a:off x="663565" y="439988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F62ED-CF5A-4476-BC4D-F76DD1E5796A}"/>
              </a:ext>
            </a:extLst>
          </p:cNvPr>
          <p:cNvSpPr txBox="1"/>
          <p:nvPr/>
        </p:nvSpPr>
        <p:spPr>
          <a:xfrm>
            <a:off x="681312" y="5511377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09B772-6380-448D-B7EE-B1E76A75CD6E}"/>
              </a:ext>
            </a:extLst>
          </p:cNvPr>
          <p:cNvSpPr/>
          <p:nvPr/>
        </p:nvSpPr>
        <p:spPr>
          <a:xfrm flipV="1">
            <a:off x="1614694" y="4380424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F9AD9-E44D-4B0F-8F1C-7591C90D64BE}"/>
              </a:ext>
            </a:extLst>
          </p:cNvPr>
          <p:cNvSpPr txBox="1"/>
          <p:nvPr/>
        </p:nvSpPr>
        <p:spPr>
          <a:xfrm>
            <a:off x="5728783" y="619220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910F8-3344-4646-8317-6E0DCF32BB53}"/>
              </a:ext>
            </a:extLst>
          </p:cNvPr>
          <p:cNvSpPr/>
          <p:nvPr/>
        </p:nvSpPr>
        <p:spPr>
          <a:xfrm>
            <a:off x="5837257" y="361242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BB53E-4F86-4EA5-B04E-4FD8C4C96DBA}"/>
              </a:ext>
            </a:extLst>
          </p:cNvPr>
          <p:cNvSpPr txBox="1"/>
          <p:nvPr/>
        </p:nvSpPr>
        <p:spPr>
          <a:xfrm>
            <a:off x="209644" y="6140010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738CA-A40C-45E5-B882-C7A2184DD912}"/>
              </a:ext>
            </a:extLst>
          </p:cNvPr>
          <p:cNvSpPr txBox="1"/>
          <p:nvPr/>
        </p:nvSpPr>
        <p:spPr>
          <a:xfrm>
            <a:off x="1661006" y="578757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605EE-243D-4C8B-8CFF-DF821FBC78AE}"/>
              </a:ext>
            </a:extLst>
          </p:cNvPr>
          <p:cNvSpPr txBox="1"/>
          <p:nvPr/>
        </p:nvSpPr>
        <p:spPr>
          <a:xfrm>
            <a:off x="5851383" y="5367052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81A50-6B44-4448-B539-F03780415B50}"/>
              </a:ext>
            </a:extLst>
          </p:cNvPr>
          <p:cNvSpPr/>
          <p:nvPr/>
        </p:nvSpPr>
        <p:spPr>
          <a:xfrm>
            <a:off x="5848329" y="5165071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C632EC-0A9E-4772-87E4-0B1D1109E6C1}"/>
              </a:ext>
            </a:extLst>
          </p:cNvPr>
          <p:cNvSpPr/>
          <p:nvPr/>
        </p:nvSpPr>
        <p:spPr>
          <a:xfrm>
            <a:off x="5867820" y="3605291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3557777" y="619130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3666251" y="361152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3680377" y="5366152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3677323" y="5164171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3696814" y="3604391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662629-0BBD-4802-9492-C54A86639865}"/>
              </a:ext>
            </a:extLst>
          </p:cNvPr>
          <p:cNvCxnSpPr/>
          <p:nvPr/>
        </p:nvCxnSpPr>
        <p:spPr>
          <a:xfrm>
            <a:off x="4720588" y="6064969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443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11498" y="1795253"/>
            <a:ext cx="7050328" cy="15696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allocate_vm_page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175098" y="1401773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decl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, 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E8210-E5C6-4047-ADD4-7701631394BD}"/>
              </a:ext>
            </a:extLst>
          </p:cNvPr>
          <p:cNvSpPr/>
          <p:nvPr/>
        </p:nvSpPr>
        <p:spPr>
          <a:xfrm>
            <a:off x="663565" y="439988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F62ED-CF5A-4476-BC4D-F76DD1E5796A}"/>
              </a:ext>
            </a:extLst>
          </p:cNvPr>
          <p:cNvSpPr txBox="1"/>
          <p:nvPr/>
        </p:nvSpPr>
        <p:spPr>
          <a:xfrm>
            <a:off x="681312" y="5511377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09B772-6380-448D-B7EE-B1E76A75CD6E}"/>
              </a:ext>
            </a:extLst>
          </p:cNvPr>
          <p:cNvSpPr/>
          <p:nvPr/>
        </p:nvSpPr>
        <p:spPr>
          <a:xfrm flipV="1">
            <a:off x="1614694" y="4380424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F9AD9-E44D-4B0F-8F1C-7591C90D64BE}"/>
              </a:ext>
            </a:extLst>
          </p:cNvPr>
          <p:cNvSpPr txBox="1"/>
          <p:nvPr/>
        </p:nvSpPr>
        <p:spPr>
          <a:xfrm>
            <a:off x="5728783" y="619220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910F8-3344-4646-8317-6E0DCF32BB53}"/>
              </a:ext>
            </a:extLst>
          </p:cNvPr>
          <p:cNvSpPr/>
          <p:nvPr/>
        </p:nvSpPr>
        <p:spPr>
          <a:xfrm>
            <a:off x="5837257" y="361242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BB53E-4F86-4EA5-B04E-4FD8C4C96DBA}"/>
              </a:ext>
            </a:extLst>
          </p:cNvPr>
          <p:cNvSpPr txBox="1"/>
          <p:nvPr/>
        </p:nvSpPr>
        <p:spPr>
          <a:xfrm>
            <a:off x="209644" y="6140010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738CA-A40C-45E5-B882-C7A2184DD912}"/>
              </a:ext>
            </a:extLst>
          </p:cNvPr>
          <p:cNvSpPr txBox="1"/>
          <p:nvPr/>
        </p:nvSpPr>
        <p:spPr>
          <a:xfrm>
            <a:off x="1661006" y="578757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F96A98-7587-41E5-BCD8-0675B7D3F9CA}"/>
              </a:ext>
            </a:extLst>
          </p:cNvPr>
          <p:cNvSpPr/>
          <p:nvPr/>
        </p:nvSpPr>
        <p:spPr>
          <a:xfrm>
            <a:off x="7972408" y="361242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78A43D-6442-45F6-A8F1-C4DA40BC7AB0}"/>
              </a:ext>
            </a:extLst>
          </p:cNvPr>
          <p:cNvCxnSpPr/>
          <p:nvPr/>
        </p:nvCxnSpPr>
        <p:spPr>
          <a:xfrm>
            <a:off x="6876720" y="6098081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6D721E-25DD-40E2-8A82-64E4D86EED0C}"/>
              </a:ext>
            </a:extLst>
          </p:cNvPr>
          <p:cNvSpPr txBox="1"/>
          <p:nvPr/>
        </p:nvSpPr>
        <p:spPr>
          <a:xfrm>
            <a:off x="7729898" y="619130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605EE-243D-4C8B-8CFF-DF821FBC78AE}"/>
              </a:ext>
            </a:extLst>
          </p:cNvPr>
          <p:cNvSpPr txBox="1"/>
          <p:nvPr/>
        </p:nvSpPr>
        <p:spPr>
          <a:xfrm>
            <a:off x="5851383" y="5367052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3620AD-5929-476E-9AEE-EEB063B6BA7E}"/>
              </a:ext>
            </a:extLst>
          </p:cNvPr>
          <p:cNvSpPr txBox="1"/>
          <p:nvPr/>
        </p:nvSpPr>
        <p:spPr>
          <a:xfrm>
            <a:off x="7991203" y="5406150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81A50-6B44-4448-B539-F03780415B50}"/>
              </a:ext>
            </a:extLst>
          </p:cNvPr>
          <p:cNvSpPr/>
          <p:nvPr/>
        </p:nvSpPr>
        <p:spPr>
          <a:xfrm>
            <a:off x="5848329" y="5165071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EDBEDC-348E-4475-B51C-0ACEFCD59B07}"/>
              </a:ext>
            </a:extLst>
          </p:cNvPr>
          <p:cNvSpPr/>
          <p:nvPr/>
        </p:nvSpPr>
        <p:spPr>
          <a:xfrm>
            <a:off x="7991202" y="5204472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C632EC-0A9E-4772-87E4-0B1D1109E6C1}"/>
              </a:ext>
            </a:extLst>
          </p:cNvPr>
          <p:cNvSpPr/>
          <p:nvPr/>
        </p:nvSpPr>
        <p:spPr>
          <a:xfrm>
            <a:off x="5867820" y="3605291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78BE7F-F6F5-4D79-9680-F5AFB9F450AB}"/>
              </a:ext>
            </a:extLst>
          </p:cNvPr>
          <p:cNvSpPr/>
          <p:nvPr/>
        </p:nvSpPr>
        <p:spPr>
          <a:xfrm>
            <a:off x="8010693" y="3645742"/>
            <a:ext cx="855391" cy="153942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3557777" y="619130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3666251" y="3611526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3680377" y="5366152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3677323" y="5164171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3696814" y="3604391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662629-0BBD-4802-9492-C54A86639865}"/>
              </a:ext>
            </a:extLst>
          </p:cNvPr>
          <p:cNvCxnSpPr/>
          <p:nvPr/>
        </p:nvCxnSpPr>
        <p:spPr>
          <a:xfrm>
            <a:off x="4720588" y="6064969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BD3472-3139-4D20-B9DA-E6A6FA36113E}"/>
              </a:ext>
            </a:extLst>
          </p:cNvPr>
          <p:cNvSpPr txBox="1"/>
          <p:nvPr/>
        </p:nvSpPr>
        <p:spPr>
          <a:xfrm>
            <a:off x="11315017" y="558807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1F071A-E65E-4CAA-86C1-A45ABA131E42}"/>
              </a:ext>
            </a:extLst>
          </p:cNvPr>
          <p:cNvSpPr txBox="1"/>
          <p:nvPr/>
        </p:nvSpPr>
        <p:spPr>
          <a:xfrm>
            <a:off x="11338214" y="647843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248C96-2F43-409A-93E5-87D650A47FC9}"/>
              </a:ext>
            </a:extLst>
          </p:cNvPr>
          <p:cNvSpPr txBox="1"/>
          <p:nvPr/>
        </p:nvSpPr>
        <p:spPr>
          <a:xfrm>
            <a:off x="9791017" y="5831277"/>
            <a:ext cx="2050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When new Data VM page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Is requested from kernel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D0B114-F49E-4950-AAC5-E28FE1851817}"/>
              </a:ext>
            </a:extLst>
          </p:cNvPr>
          <p:cNvSpPr txBox="1"/>
          <p:nvPr/>
        </p:nvSpPr>
        <p:spPr>
          <a:xfrm>
            <a:off x="11418465" y="469487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6F0B11-6556-4A19-A07B-75336356987D}"/>
              </a:ext>
            </a:extLst>
          </p:cNvPr>
          <p:cNvSpPr/>
          <p:nvPr/>
        </p:nvSpPr>
        <p:spPr>
          <a:xfrm>
            <a:off x="9985014" y="832532"/>
            <a:ext cx="1425580" cy="49122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C4DC79-0555-4B53-87BB-53F4CD344D21}"/>
              </a:ext>
            </a:extLst>
          </p:cNvPr>
          <p:cNvSpPr/>
          <p:nvPr/>
        </p:nvSpPr>
        <p:spPr>
          <a:xfrm>
            <a:off x="9984716" y="832532"/>
            <a:ext cx="1378062" cy="3547892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878029-BF15-4332-BBFD-7252EB8FE1AA}"/>
              </a:ext>
            </a:extLst>
          </p:cNvPr>
          <p:cNvSpPr/>
          <p:nvPr/>
        </p:nvSpPr>
        <p:spPr>
          <a:xfrm>
            <a:off x="9977143" y="4381111"/>
            <a:ext cx="140573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4AC4A6-AF60-4C13-81A9-F0DC1C69D6B4}"/>
              </a:ext>
            </a:extLst>
          </p:cNvPr>
          <p:cNvSpPr/>
          <p:nvPr/>
        </p:nvSpPr>
        <p:spPr>
          <a:xfrm>
            <a:off x="9994938" y="5238487"/>
            <a:ext cx="1405731" cy="472890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6695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11498" y="1795253"/>
            <a:ext cx="4134465" cy="193899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void</a:t>
            </a:r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mm_vm_page_delete_and_free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   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175098" y="1401773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decl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, 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E8210-E5C6-4047-ADD4-7701631394BD}"/>
              </a:ext>
            </a:extLst>
          </p:cNvPr>
          <p:cNvSpPr/>
          <p:nvPr/>
        </p:nvSpPr>
        <p:spPr>
          <a:xfrm>
            <a:off x="2196632" y="4419977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F62ED-CF5A-4476-BC4D-F76DD1E5796A}"/>
              </a:ext>
            </a:extLst>
          </p:cNvPr>
          <p:cNvSpPr txBox="1"/>
          <p:nvPr/>
        </p:nvSpPr>
        <p:spPr>
          <a:xfrm>
            <a:off x="2214379" y="5531474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09B772-6380-448D-B7EE-B1E76A75CD6E}"/>
              </a:ext>
            </a:extLst>
          </p:cNvPr>
          <p:cNvSpPr/>
          <p:nvPr/>
        </p:nvSpPr>
        <p:spPr>
          <a:xfrm flipV="1">
            <a:off x="3147761" y="4400521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F9AD9-E44D-4B0F-8F1C-7591C90D64BE}"/>
              </a:ext>
            </a:extLst>
          </p:cNvPr>
          <p:cNvSpPr txBox="1"/>
          <p:nvPr/>
        </p:nvSpPr>
        <p:spPr>
          <a:xfrm>
            <a:off x="7261850" y="62123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910F8-3344-4646-8317-6E0DCF32BB53}"/>
              </a:ext>
            </a:extLst>
          </p:cNvPr>
          <p:cNvSpPr/>
          <p:nvPr/>
        </p:nvSpPr>
        <p:spPr>
          <a:xfrm>
            <a:off x="7370324" y="363252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BB53E-4F86-4EA5-B04E-4FD8C4C96DBA}"/>
              </a:ext>
            </a:extLst>
          </p:cNvPr>
          <p:cNvSpPr txBox="1"/>
          <p:nvPr/>
        </p:nvSpPr>
        <p:spPr>
          <a:xfrm>
            <a:off x="1742711" y="6160107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738CA-A40C-45E5-B882-C7A2184DD912}"/>
              </a:ext>
            </a:extLst>
          </p:cNvPr>
          <p:cNvSpPr txBox="1"/>
          <p:nvPr/>
        </p:nvSpPr>
        <p:spPr>
          <a:xfrm>
            <a:off x="3194073" y="5807676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F96A98-7587-41E5-BCD8-0675B7D3F9CA}"/>
              </a:ext>
            </a:extLst>
          </p:cNvPr>
          <p:cNvSpPr/>
          <p:nvPr/>
        </p:nvSpPr>
        <p:spPr>
          <a:xfrm>
            <a:off x="9505475" y="363252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78A43D-6442-45F6-A8F1-C4DA40BC7AB0}"/>
              </a:ext>
            </a:extLst>
          </p:cNvPr>
          <p:cNvCxnSpPr/>
          <p:nvPr/>
        </p:nvCxnSpPr>
        <p:spPr>
          <a:xfrm>
            <a:off x="8409787" y="6118178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6D721E-25DD-40E2-8A82-64E4D86EED0C}"/>
              </a:ext>
            </a:extLst>
          </p:cNvPr>
          <p:cNvSpPr txBox="1"/>
          <p:nvPr/>
        </p:nvSpPr>
        <p:spPr>
          <a:xfrm>
            <a:off x="9262965" y="62114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605EE-243D-4C8B-8CFF-DF821FBC78AE}"/>
              </a:ext>
            </a:extLst>
          </p:cNvPr>
          <p:cNvSpPr txBox="1"/>
          <p:nvPr/>
        </p:nvSpPr>
        <p:spPr>
          <a:xfrm>
            <a:off x="7384450" y="5387149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3620AD-5929-476E-9AEE-EEB063B6BA7E}"/>
              </a:ext>
            </a:extLst>
          </p:cNvPr>
          <p:cNvSpPr txBox="1"/>
          <p:nvPr/>
        </p:nvSpPr>
        <p:spPr>
          <a:xfrm>
            <a:off x="9524270" y="5426247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81A50-6B44-4448-B539-F03780415B50}"/>
              </a:ext>
            </a:extLst>
          </p:cNvPr>
          <p:cNvSpPr/>
          <p:nvPr/>
        </p:nvSpPr>
        <p:spPr>
          <a:xfrm>
            <a:off x="7381396" y="5185168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EDBEDC-348E-4475-B51C-0ACEFCD59B07}"/>
              </a:ext>
            </a:extLst>
          </p:cNvPr>
          <p:cNvSpPr/>
          <p:nvPr/>
        </p:nvSpPr>
        <p:spPr>
          <a:xfrm>
            <a:off x="9524269" y="5224569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C632EC-0A9E-4772-87E4-0B1D1109E6C1}"/>
              </a:ext>
            </a:extLst>
          </p:cNvPr>
          <p:cNvSpPr/>
          <p:nvPr/>
        </p:nvSpPr>
        <p:spPr>
          <a:xfrm>
            <a:off x="7400887" y="3625388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78BE7F-F6F5-4D79-9680-F5AFB9F450AB}"/>
              </a:ext>
            </a:extLst>
          </p:cNvPr>
          <p:cNvSpPr/>
          <p:nvPr/>
        </p:nvSpPr>
        <p:spPr>
          <a:xfrm>
            <a:off x="9543760" y="3665839"/>
            <a:ext cx="855391" cy="153942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5090844" y="62114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5199318" y="363162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5213444" y="5386249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5210390" y="5184268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5229881" y="3624488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662629-0BBD-4802-9492-C54A86639865}"/>
              </a:ext>
            </a:extLst>
          </p:cNvPr>
          <p:cNvCxnSpPr/>
          <p:nvPr/>
        </p:nvCxnSpPr>
        <p:spPr>
          <a:xfrm>
            <a:off x="6253655" y="6085066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73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8" grpId="0" animBg="1"/>
      <p:bldP spid="30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11498" y="1795253"/>
            <a:ext cx="4134465" cy="193899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void</a:t>
            </a:r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mm_vm_page_delete_and_free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</a:t>
            </a: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    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175098" y="1401773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decl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mm.h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, 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E8210-E5C6-4047-ADD4-7701631394BD}"/>
              </a:ext>
            </a:extLst>
          </p:cNvPr>
          <p:cNvSpPr/>
          <p:nvPr/>
        </p:nvSpPr>
        <p:spPr>
          <a:xfrm>
            <a:off x="2196632" y="4419977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F62ED-CF5A-4476-BC4D-F76DD1E5796A}"/>
              </a:ext>
            </a:extLst>
          </p:cNvPr>
          <p:cNvSpPr txBox="1"/>
          <p:nvPr/>
        </p:nvSpPr>
        <p:spPr>
          <a:xfrm>
            <a:off x="2214379" y="5531474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09B772-6380-448D-B7EE-B1E76A75CD6E}"/>
              </a:ext>
            </a:extLst>
          </p:cNvPr>
          <p:cNvSpPr/>
          <p:nvPr/>
        </p:nvSpPr>
        <p:spPr>
          <a:xfrm flipV="1">
            <a:off x="3147761" y="4400521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F9AD9-E44D-4B0F-8F1C-7591C90D64BE}"/>
              </a:ext>
            </a:extLst>
          </p:cNvPr>
          <p:cNvSpPr txBox="1"/>
          <p:nvPr/>
        </p:nvSpPr>
        <p:spPr>
          <a:xfrm>
            <a:off x="7261850" y="62123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910F8-3344-4646-8317-6E0DCF32BB53}"/>
              </a:ext>
            </a:extLst>
          </p:cNvPr>
          <p:cNvSpPr/>
          <p:nvPr/>
        </p:nvSpPr>
        <p:spPr>
          <a:xfrm>
            <a:off x="7370324" y="363252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BB53E-4F86-4EA5-B04E-4FD8C4C96DBA}"/>
              </a:ext>
            </a:extLst>
          </p:cNvPr>
          <p:cNvSpPr txBox="1"/>
          <p:nvPr/>
        </p:nvSpPr>
        <p:spPr>
          <a:xfrm>
            <a:off x="1742711" y="6160107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vm_page_for_families_t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738CA-A40C-45E5-B882-C7A2184DD912}"/>
              </a:ext>
            </a:extLst>
          </p:cNvPr>
          <p:cNvSpPr txBox="1"/>
          <p:nvPr/>
        </p:nvSpPr>
        <p:spPr>
          <a:xfrm>
            <a:off x="3194073" y="5807676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askerville Old Face" panose="02020602080505020303" pitchFamily="18" charset="0"/>
              </a:rPr>
              <a:t>first_page</a:t>
            </a:r>
            <a:endParaRPr lang="en-US" sz="1400" dirty="0">
              <a:latin typeface="Baskerville Old Face" panose="020206020805050203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605EE-243D-4C8B-8CFF-DF821FBC78AE}"/>
              </a:ext>
            </a:extLst>
          </p:cNvPr>
          <p:cNvSpPr txBox="1"/>
          <p:nvPr/>
        </p:nvSpPr>
        <p:spPr>
          <a:xfrm>
            <a:off x="7384450" y="5387149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81A50-6B44-4448-B539-F03780415B50}"/>
              </a:ext>
            </a:extLst>
          </p:cNvPr>
          <p:cNvSpPr/>
          <p:nvPr/>
        </p:nvSpPr>
        <p:spPr>
          <a:xfrm>
            <a:off x="7381396" y="5185168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C632EC-0A9E-4772-87E4-0B1D1109E6C1}"/>
              </a:ext>
            </a:extLst>
          </p:cNvPr>
          <p:cNvSpPr/>
          <p:nvPr/>
        </p:nvSpPr>
        <p:spPr>
          <a:xfrm>
            <a:off x="7400887" y="3625388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5090844" y="62114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5199318" y="3631623"/>
            <a:ext cx="976008" cy="257932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5213444" y="5386249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5210390" y="5184268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5229881" y="3624488"/>
            <a:ext cx="866119" cy="155206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4044B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662629-0BBD-4802-9492-C54A86639865}"/>
              </a:ext>
            </a:extLst>
          </p:cNvPr>
          <p:cNvCxnSpPr/>
          <p:nvPr/>
        </p:nvCxnSpPr>
        <p:spPr>
          <a:xfrm>
            <a:off x="6253655" y="6085066"/>
            <a:ext cx="10409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7592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43D496B-DE87-4532-A269-59A49F76E2A2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EC859-EF51-4FF9-A789-1DAAFFBEBE03}"/>
              </a:ext>
            </a:extLst>
          </p:cNvPr>
          <p:cNvSpPr txBox="1"/>
          <p:nvPr/>
        </p:nvSpPr>
        <p:spPr>
          <a:xfrm>
            <a:off x="175098" y="481442"/>
            <a:ext cx="3954776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APIs for VM Data PAGE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9A90-E2D3-4FD5-9B9D-C582CEAFE2AC}"/>
              </a:ext>
            </a:extLst>
          </p:cNvPr>
          <p:cNvSpPr txBox="1"/>
          <p:nvPr/>
        </p:nvSpPr>
        <p:spPr>
          <a:xfrm>
            <a:off x="311498" y="1795253"/>
            <a:ext cx="6571030" cy="15696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void</a:t>
            </a:r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mm_print_vm_page_details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(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vm_page_t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*</a:t>
            </a:r>
            <a:r>
              <a:rPr lang="fr-FR" sz="2400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vm_page</a:t>
            </a:r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){</a:t>
            </a:r>
          </a:p>
          <a:p>
            <a:endParaRPr lang="fr-FR" sz="2400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r>
              <a:rPr lang="fr-FR" sz="2400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}</a:t>
            </a:r>
            <a:endParaRPr lang="fr-FR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E866-1A28-41D2-A5F2-0C2736F44001}"/>
              </a:ext>
            </a:extLst>
          </p:cNvPr>
          <p:cNvSpPr txBox="1"/>
          <p:nvPr/>
        </p:nvSpPr>
        <p:spPr>
          <a:xfrm>
            <a:off x="311498" y="1425921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def :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A9B942-B727-4ECF-9656-CBA7A1B4B966}"/>
              </a:ext>
            </a:extLst>
          </p:cNvPr>
          <p:cNvSpPr txBox="1"/>
          <p:nvPr/>
        </p:nvSpPr>
        <p:spPr>
          <a:xfrm>
            <a:off x="8869024" y="550801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VM page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8511D-74A5-4E60-BA68-C7D6B3CC945F}"/>
              </a:ext>
            </a:extLst>
          </p:cNvPr>
          <p:cNvSpPr/>
          <p:nvPr/>
        </p:nvSpPr>
        <p:spPr>
          <a:xfrm>
            <a:off x="8977498" y="582804"/>
            <a:ext cx="976008" cy="4924761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8E884-7C10-4816-81D8-FDAF8DFC98E9}"/>
              </a:ext>
            </a:extLst>
          </p:cNvPr>
          <p:cNvSpPr txBox="1"/>
          <p:nvPr/>
        </p:nvSpPr>
        <p:spPr>
          <a:xfrm>
            <a:off x="8991624" y="4682864"/>
            <a:ext cx="875561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pg_family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81044-34A0-42BB-AFBF-972119249E2A}"/>
              </a:ext>
            </a:extLst>
          </p:cNvPr>
          <p:cNvSpPr/>
          <p:nvPr/>
        </p:nvSpPr>
        <p:spPr>
          <a:xfrm>
            <a:off x="8988570" y="4480883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0ACB0-D1BB-48BE-AAB7-50629069086E}"/>
              </a:ext>
            </a:extLst>
          </p:cNvPr>
          <p:cNvSpPr/>
          <p:nvPr/>
        </p:nvSpPr>
        <p:spPr>
          <a:xfrm>
            <a:off x="9008061" y="3734505"/>
            <a:ext cx="866119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A9F077-8704-45EF-AA75-C09D743AC8A0}"/>
              </a:ext>
            </a:extLst>
          </p:cNvPr>
          <p:cNvSpPr/>
          <p:nvPr/>
        </p:nvSpPr>
        <p:spPr>
          <a:xfrm>
            <a:off x="8997594" y="3541286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57873-16DD-4879-B402-9936C44FD03B}"/>
              </a:ext>
            </a:extLst>
          </p:cNvPr>
          <p:cNvSpPr/>
          <p:nvPr/>
        </p:nvSpPr>
        <p:spPr>
          <a:xfrm>
            <a:off x="8997594" y="2786921"/>
            <a:ext cx="866119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9366D4-12C3-445B-8D20-7E7D00FA9DE2}"/>
              </a:ext>
            </a:extLst>
          </p:cNvPr>
          <p:cNvSpPr/>
          <p:nvPr/>
        </p:nvSpPr>
        <p:spPr>
          <a:xfrm>
            <a:off x="8988570" y="2571032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C8E46F-8B72-44EE-B401-46FBF6FA3C7E}"/>
              </a:ext>
            </a:extLst>
          </p:cNvPr>
          <p:cNvSpPr/>
          <p:nvPr/>
        </p:nvSpPr>
        <p:spPr>
          <a:xfrm>
            <a:off x="9008061" y="1833803"/>
            <a:ext cx="866119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54857C-CD4D-4824-B05A-54099E24E9EE}"/>
              </a:ext>
            </a:extLst>
          </p:cNvPr>
          <p:cNvSpPr/>
          <p:nvPr/>
        </p:nvSpPr>
        <p:spPr>
          <a:xfrm>
            <a:off x="9007642" y="1617914"/>
            <a:ext cx="875562" cy="1942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9B623F-00B3-471C-8951-DB54D8361988}"/>
              </a:ext>
            </a:extLst>
          </p:cNvPr>
          <p:cNvSpPr/>
          <p:nvPr/>
        </p:nvSpPr>
        <p:spPr>
          <a:xfrm>
            <a:off x="9007596" y="582354"/>
            <a:ext cx="866119" cy="102332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3AC91-3666-4206-B8D3-D885976A0E32}"/>
              </a:ext>
            </a:extLst>
          </p:cNvPr>
          <p:cNvSpPr txBox="1"/>
          <p:nvPr/>
        </p:nvSpPr>
        <p:spPr>
          <a:xfrm>
            <a:off x="148698" y="5635207"/>
            <a:ext cx="1189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Print the information of all Meta Data blocks in a VM page in the below format :</a:t>
            </a:r>
          </a:p>
          <a:p>
            <a:endParaRPr lang="en-U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0x7f1bb0480df0 Block 34  ALLOCATED 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= 56      offset = 3568   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prev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= 0x7f1bb0480d88  next = 0x7f1bb0480e58</a:t>
            </a:r>
          </a:p>
          <a:p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0x7f1bb0481130 Block 42  F R E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E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D 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= 3744    offset = 4400    </a:t>
            </a:r>
            <a:r>
              <a:rPr lang="en-US" dirty="0" err="1">
                <a:solidFill>
                  <a:srgbClr val="FFFFFF"/>
                </a:solidFill>
                <a:latin typeface="Baskerville Old Face" panose="02020602080505020303" pitchFamily="18" charset="0"/>
              </a:rPr>
              <a:t>prev</a:t>
            </a:r>
            <a:r>
              <a:rPr lang="en-US" dirty="0">
                <a:solidFill>
                  <a:srgbClr val="FFFFFF"/>
                </a:solidFill>
                <a:latin typeface="Baskerville Old Face" panose="02020602080505020303" pitchFamily="18" charset="0"/>
              </a:rPr>
              <a:t> = 0x7f1bb04810c8  next = (nil)</a:t>
            </a:r>
          </a:p>
        </p:txBody>
      </p:sp>
    </p:spTree>
    <p:extLst>
      <p:ext uri="{BB962C8B-B14F-4D97-AF65-F5344CB8AC3E}">
        <p14:creationId xmlns:p14="http://schemas.microsoft.com/office/powerpoint/2010/main" val="22108924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0249E108-1393-4934-8BF5-6869F711803E}"/>
              </a:ext>
            </a:extLst>
          </p:cNvPr>
          <p:cNvSpPr txBox="1"/>
          <p:nvPr/>
        </p:nvSpPr>
        <p:spPr>
          <a:xfrm>
            <a:off x="0" y="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5 -&gt; Virtual Memory Page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2FF1C-9A83-49F1-B5AF-50805FAFB491}"/>
              </a:ext>
            </a:extLst>
          </p:cNvPr>
          <p:cNvSpPr txBox="1"/>
          <p:nvPr/>
        </p:nvSpPr>
        <p:spPr>
          <a:xfrm>
            <a:off x="175098" y="481442"/>
            <a:ext cx="3441405" cy="369332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Assignment – Test your Code !</a:t>
            </a:r>
          </a:p>
        </p:txBody>
      </p:sp>
    </p:spTree>
    <p:extLst>
      <p:ext uri="{BB962C8B-B14F-4D97-AF65-F5344CB8AC3E}">
        <p14:creationId xmlns:p14="http://schemas.microsoft.com/office/powerpoint/2010/main" val="22487947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8805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9895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 -&gt; </a:t>
            </a:r>
            <a:r>
              <a:rPr lang="en-US" sz="1600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(De)Allocation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438393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4 -&gt; Data Block (De)Allocation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8FEDD2-9B1A-4545-B143-BEB464D9FBD6}"/>
              </a:ext>
            </a:extLst>
          </p:cNvPr>
          <p:cNvSpPr txBox="1"/>
          <p:nvPr/>
        </p:nvSpPr>
        <p:spPr>
          <a:xfrm>
            <a:off x="241160" y="1051841"/>
            <a:ext cx="112357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Now we will begin writing core APIs for Memory Allocation and Deallocation by our LMM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We will Write Simplified APIs and add more functionality to it later as we dive deeper into the LMM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We shall Write Two APIs in </a:t>
            </a:r>
            <a:r>
              <a:rPr lang="en-US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mm.c</a:t>
            </a:r>
            <a:r>
              <a:rPr lang="en-US" dirty="0">
                <a:latin typeface="Baskerville Old Face" panose="02020602080505020303" pitchFamily="18" charset="0"/>
              </a:rPr>
              <a:t> file based on the discussion we have done so far in this phase of the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Size of Memory requested from LMM is always an integer multiple of structure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1A68C-62C1-45E7-9113-E09870B91F12}"/>
              </a:ext>
            </a:extLst>
          </p:cNvPr>
          <p:cNvSpPr txBox="1"/>
          <p:nvPr/>
        </p:nvSpPr>
        <p:spPr>
          <a:xfrm>
            <a:off x="803868" y="3379168"/>
            <a:ext cx="4865434" cy="249299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92D050"/>
                </a:solidFill>
                <a:latin typeface="Baskerville Old Face" panose="02020602080505020303" pitchFamily="18" charset="0"/>
              </a:rPr>
              <a:t>API for Data Block Allocation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static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vm_bool_t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mm_allocate_free_block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(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,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,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uint32_t size) ;</a:t>
            </a:r>
          </a:p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5DC54-D151-4C70-A925-22C1541DBF62}"/>
              </a:ext>
            </a:extLst>
          </p:cNvPr>
          <p:cNvSpPr txBox="1"/>
          <p:nvPr/>
        </p:nvSpPr>
        <p:spPr>
          <a:xfrm>
            <a:off x="6894892" y="3379168"/>
            <a:ext cx="4685898" cy="15696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92D050"/>
                </a:solidFill>
                <a:latin typeface="Baskerville Old Face" panose="02020602080505020303" pitchFamily="18" charset="0"/>
              </a:rPr>
              <a:t>API for Data Block Deallocation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static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</a:p>
          <a:p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mm_free_blocks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(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	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to_be_free_block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145F0-4567-48D3-AF72-CC162517B790}"/>
              </a:ext>
            </a:extLst>
          </p:cNvPr>
          <p:cNvSpPr txBox="1"/>
          <p:nvPr/>
        </p:nvSpPr>
        <p:spPr>
          <a:xfrm>
            <a:off x="432079" y="5958673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Let us revisit the cases our API must cover .. </a:t>
            </a:r>
          </a:p>
        </p:txBody>
      </p:sp>
    </p:spTree>
    <p:extLst>
      <p:ext uri="{BB962C8B-B14F-4D97-AF65-F5344CB8AC3E}">
        <p14:creationId xmlns:p14="http://schemas.microsoft.com/office/powerpoint/2010/main" val="66019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5" grpId="0" animBg="1"/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9895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 -&gt; </a:t>
            </a:r>
            <a:r>
              <a:rPr lang="en-US" sz="1600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(De)Allocation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72633" y="454449"/>
            <a:ext cx="7041600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Phase 4 -&gt; Data Block (De)Allocation -&gt; API for Block Allocation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1A68C-62C1-45E7-9113-E09870B91F12}"/>
              </a:ext>
            </a:extLst>
          </p:cNvPr>
          <p:cNvSpPr txBox="1"/>
          <p:nvPr/>
        </p:nvSpPr>
        <p:spPr>
          <a:xfrm>
            <a:off x="381837" y="1100780"/>
            <a:ext cx="4894289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92D050"/>
                </a:solidFill>
                <a:latin typeface="Baskerville Old Face" panose="02020602080505020303" pitchFamily="18" charset="0"/>
              </a:rPr>
              <a:t>API for Data Block Allocation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static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vm_bool_t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mm_allocate_free_block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(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,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*</a:t>
            </a:r>
            <a:r>
              <a:rPr lang="en-US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,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          uint32_t size) 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D4F0A-81E6-4A55-BAAF-A63B13B014D3}"/>
              </a:ext>
            </a:extLst>
          </p:cNvPr>
          <p:cNvSpPr txBox="1"/>
          <p:nvPr/>
        </p:nvSpPr>
        <p:spPr>
          <a:xfrm>
            <a:off x="381837" y="3727939"/>
            <a:ext cx="112053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-  </a:t>
            </a:r>
            <a:r>
              <a:rPr lang="en-US" dirty="0">
                <a:latin typeface="Baskerville Old Face" panose="02020602080505020303" pitchFamily="18" charset="0"/>
              </a:rPr>
              <a:t>pointer to page family whose object needs to be allocated a memory</a:t>
            </a:r>
          </a:p>
          <a:p>
            <a:endParaRPr lang="en-US" i="1" dirty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en-US" i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block_meta_data</a:t>
            </a: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-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Already freed meta block which is a guardian of data block whose size is enough to allocate ‘size’ bytes</a:t>
            </a:r>
          </a:p>
          <a:p>
            <a:endParaRPr lang="en-US" i="1" dirty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size -  </a:t>
            </a:r>
            <a:r>
              <a:rPr lang="en-US" dirty="0">
                <a:latin typeface="Baskerville Old Face" panose="02020602080505020303" pitchFamily="18" charset="0"/>
              </a:rPr>
              <a:t>No of Contiguous bytes to be allocated. Must be integral multiple of  </a:t>
            </a:r>
            <a:r>
              <a:rPr lang="en-US" i="1" dirty="0" err="1">
                <a:latin typeface="Baskerville Old Face" panose="02020602080505020303" pitchFamily="18" charset="0"/>
              </a:rPr>
              <a:t>vm_page_family</a:t>
            </a:r>
            <a:r>
              <a:rPr lang="en-US" i="1" dirty="0">
                <a:latin typeface="Baskerville Old Face" panose="02020602080505020303" pitchFamily="18" charset="0"/>
              </a:rPr>
              <a:t>-&gt;</a:t>
            </a:r>
            <a:r>
              <a:rPr lang="en-US" i="1" dirty="0" err="1">
                <a:latin typeface="Baskerville Old Face" panose="02020602080505020303" pitchFamily="18" charset="0"/>
              </a:rPr>
              <a:t>struct_size</a:t>
            </a:r>
            <a:endParaRPr lang="en-US" i="1" dirty="0">
              <a:latin typeface="Baskerville Old Face" panose="02020602080505020303" pitchFamily="18" charset="0"/>
            </a:endParaRPr>
          </a:p>
          <a:p>
            <a:endParaRPr lang="en-US" i="1" dirty="0">
              <a:latin typeface="Baskerville Old Face" panose="02020602080505020303" pitchFamily="18" charset="0"/>
            </a:endParaRPr>
          </a:p>
          <a:p>
            <a:r>
              <a:rPr lang="en-US" i="1" dirty="0">
                <a:latin typeface="Baskerville Old Face" panose="02020602080505020303" pitchFamily="18" charset="0"/>
              </a:rPr>
              <a:t>Return MM_TRUE is block allocation succeeds, else MM_FALSE</a:t>
            </a:r>
          </a:p>
        </p:txBody>
      </p:sp>
    </p:spTree>
    <p:extLst>
      <p:ext uri="{BB962C8B-B14F-4D97-AF65-F5344CB8AC3E}">
        <p14:creationId xmlns:p14="http://schemas.microsoft.com/office/powerpoint/2010/main" val="39120615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1012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-&gt; Splitting and Merging Data Blocks -&gt; </a:t>
            </a:r>
            <a:r>
              <a:rPr lang="en-US" sz="1600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(De)Allocation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224845-979B-4DAC-A4B3-F3DF98CC2DA9}"/>
              </a:ext>
            </a:extLst>
          </p:cNvPr>
          <p:cNvSpPr/>
          <p:nvPr/>
        </p:nvSpPr>
        <p:spPr>
          <a:xfrm>
            <a:off x="1245321" y="714417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90426-B55E-4BAB-8F07-5EA78399B08F}"/>
              </a:ext>
            </a:extLst>
          </p:cNvPr>
          <p:cNvSpPr txBox="1"/>
          <p:nvPr/>
        </p:nvSpPr>
        <p:spPr>
          <a:xfrm>
            <a:off x="2567971" y="6046623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17BAD-5243-4699-AD19-57F0F636B0E6}"/>
              </a:ext>
            </a:extLst>
          </p:cNvPr>
          <p:cNvSpPr txBox="1"/>
          <p:nvPr/>
        </p:nvSpPr>
        <p:spPr>
          <a:xfrm>
            <a:off x="2567971" y="65742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2B0EF-9803-4980-977E-1921D402A1BD}"/>
              </a:ext>
            </a:extLst>
          </p:cNvPr>
          <p:cNvSpPr/>
          <p:nvPr/>
        </p:nvSpPr>
        <p:spPr>
          <a:xfrm>
            <a:off x="1244985" y="2141128"/>
            <a:ext cx="1320768" cy="64633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CC946-C46A-492F-B779-CCCC2F83ED09}"/>
              </a:ext>
            </a:extLst>
          </p:cNvPr>
          <p:cNvSpPr/>
          <p:nvPr/>
        </p:nvSpPr>
        <p:spPr>
          <a:xfrm>
            <a:off x="1230097" y="5336018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B2B22-266D-46C5-B9D4-6D15DA2CDB37}"/>
              </a:ext>
            </a:extLst>
          </p:cNvPr>
          <p:cNvSpPr/>
          <p:nvPr/>
        </p:nvSpPr>
        <p:spPr>
          <a:xfrm>
            <a:off x="1230095" y="4963146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EFF2E4-8350-4E59-B722-DF7D539796EA}"/>
              </a:ext>
            </a:extLst>
          </p:cNvPr>
          <p:cNvSpPr/>
          <p:nvPr/>
        </p:nvSpPr>
        <p:spPr>
          <a:xfrm>
            <a:off x="1218496" y="4069575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24ADC-F522-48D6-9229-450D4752DC9C}"/>
              </a:ext>
            </a:extLst>
          </p:cNvPr>
          <p:cNvSpPr txBox="1"/>
          <p:nvPr/>
        </p:nvSpPr>
        <p:spPr>
          <a:xfrm>
            <a:off x="2638922" y="547995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8B25EF-4674-4DA7-8609-F6BC7B560782}"/>
              </a:ext>
            </a:extLst>
          </p:cNvPr>
          <p:cNvSpPr txBox="1"/>
          <p:nvPr/>
        </p:nvSpPr>
        <p:spPr>
          <a:xfrm>
            <a:off x="2582976" y="440526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CDDDFF-4580-48E5-AD88-0D739538561A}"/>
              </a:ext>
            </a:extLst>
          </p:cNvPr>
          <p:cNvSpPr/>
          <p:nvPr/>
        </p:nvSpPr>
        <p:spPr>
          <a:xfrm>
            <a:off x="1228521" y="278745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E1F7AF-0317-4199-8DAC-5C0981647EAF}"/>
              </a:ext>
            </a:extLst>
          </p:cNvPr>
          <p:cNvSpPr/>
          <p:nvPr/>
        </p:nvSpPr>
        <p:spPr>
          <a:xfrm>
            <a:off x="1231644" y="3693786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B09E47-AB7E-4E70-B907-8995AC54C5A1}"/>
              </a:ext>
            </a:extLst>
          </p:cNvPr>
          <p:cNvSpPr txBox="1"/>
          <p:nvPr/>
        </p:nvSpPr>
        <p:spPr>
          <a:xfrm>
            <a:off x="2589592" y="297253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651624-131A-44E6-8A96-8874C184B140}"/>
              </a:ext>
            </a:extLst>
          </p:cNvPr>
          <p:cNvSpPr/>
          <p:nvPr/>
        </p:nvSpPr>
        <p:spPr>
          <a:xfrm>
            <a:off x="1231644" y="1191895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A110A7-F169-4CDE-BF93-008F28BC9D6B}"/>
              </a:ext>
            </a:extLst>
          </p:cNvPr>
          <p:cNvSpPr/>
          <p:nvPr/>
        </p:nvSpPr>
        <p:spPr>
          <a:xfrm>
            <a:off x="1252414" y="685581"/>
            <a:ext cx="1337875" cy="499461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E092E1-194C-4D8A-A3F3-B34AA787534F}"/>
              </a:ext>
            </a:extLst>
          </p:cNvPr>
          <p:cNvSpPr txBox="1"/>
          <p:nvPr/>
        </p:nvSpPr>
        <p:spPr>
          <a:xfrm>
            <a:off x="2638922" y="153979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E5DAC-3B9B-490E-B68D-BF158ED57A3B}"/>
              </a:ext>
            </a:extLst>
          </p:cNvPr>
          <p:cNvSpPr txBox="1"/>
          <p:nvPr/>
        </p:nvSpPr>
        <p:spPr>
          <a:xfrm>
            <a:off x="1218496" y="633319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Case 1 : No splitting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6B426-434A-4579-8109-EE17C9203C06}"/>
              </a:ext>
            </a:extLst>
          </p:cNvPr>
          <p:cNvSpPr txBox="1"/>
          <p:nvPr/>
        </p:nvSpPr>
        <p:spPr>
          <a:xfrm>
            <a:off x="6930405" y="1153426"/>
            <a:ext cx="4297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Case 1 : No Split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When no free data block is formed after split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A38DD67-EA3D-421E-ACF8-DC0BD11FBEAA}"/>
              </a:ext>
            </a:extLst>
          </p:cNvPr>
          <p:cNvSpPr/>
          <p:nvPr/>
        </p:nvSpPr>
        <p:spPr>
          <a:xfrm>
            <a:off x="4459691" y="762180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0AB85C-A7D4-4C68-8677-D9271DA040E6}"/>
              </a:ext>
            </a:extLst>
          </p:cNvPr>
          <p:cNvSpPr txBox="1"/>
          <p:nvPr/>
        </p:nvSpPr>
        <p:spPr>
          <a:xfrm>
            <a:off x="5782341" y="60943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BCD19B-4E37-40F4-9F1A-77E3FEB9A33C}"/>
              </a:ext>
            </a:extLst>
          </p:cNvPr>
          <p:cNvSpPr txBox="1"/>
          <p:nvPr/>
        </p:nvSpPr>
        <p:spPr>
          <a:xfrm>
            <a:off x="5782341" y="705183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7B35278-1A5A-46F1-9FD4-AB8C6A5BACFA}"/>
              </a:ext>
            </a:extLst>
          </p:cNvPr>
          <p:cNvSpPr/>
          <p:nvPr/>
        </p:nvSpPr>
        <p:spPr>
          <a:xfrm>
            <a:off x="4459355" y="2188891"/>
            <a:ext cx="1320768" cy="64633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E0BFA4F-C2A5-4F6B-82BC-7ECED49D1177}"/>
              </a:ext>
            </a:extLst>
          </p:cNvPr>
          <p:cNvSpPr/>
          <p:nvPr/>
        </p:nvSpPr>
        <p:spPr>
          <a:xfrm>
            <a:off x="4444467" y="538378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=MB2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B8FF1CF-B260-4A35-8BE0-B98FE4FB3463}"/>
              </a:ext>
            </a:extLst>
          </p:cNvPr>
          <p:cNvSpPr/>
          <p:nvPr/>
        </p:nvSpPr>
        <p:spPr>
          <a:xfrm>
            <a:off x="4444465" y="501090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37C5DBC-8094-465A-A5E1-CEADF6C1C8B2}"/>
              </a:ext>
            </a:extLst>
          </p:cNvPr>
          <p:cNvSpPr/>
          <p:nvPr/>
        </p:nvSpPr>
        <p:spPr>
          <a:xfrm>
            <a:off x="4432866" y="411733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A83C30-D2FC-4CCA-9935-693E8A7E517E}"/>
              </a:ext>
            </a:extLst>
          </p:cNvPr>
          <p:cNvSpPr txBox="1"/>
          <p:nvPr/>
        </p:nvSpPr>
        <p:spPr>
          <a:xfrm>
            <a:off x="5853292" y="552771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586AB4-0CF0-4BD1-A957-755AAC511D9F}"/>
              </a:ext>
            </a:extLst>
          </p:cNvPr>
          <p:cNvSpPr txBox="1"/>
          <p:nvPr/>
        </p:nvSpPr>
        <p:spPr>
          <a:xfrm>
            <a:off x="5797346" y="445303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F21D8A2-7507-4157-B779-83A932A02CF6}"/>
              </a:ext>
            </a:extLst>
          </p:cNvPr>
          <p:cNvSpPr/>
          <p:nvPr/>
        </p:nvSpPr>
        <p:spPr>
          <a:xfrm>
            <a:off x="4442891" y="283522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40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CEBB7F6-4288-44C4-8A34-68B3762EB030}"/>
              </a:ext>
            </a:extLst>
          </p:cNvPr>
          <p:cNvSpPr/>
          <p:nvPr/>
        </p:nvSpPr>
        <p:spPr>
          <a:xfrm>
            <a:off x="4446014" y="3741549"/>
            <a:ext cx="1337875" cy="353035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12C4F67-FD2B-40C1-A49D-A0FD6FCF2E66}"/>
              </a:ext>
            </a:extLst>
          </p:cNvPr>
          <p:cNvSpPr txBox="1"/>
          <p:nvPr/>
        </p:nvSpPr>
        <p:spPr>
          <a:xfrm>
            <a:off x="5803962" y="302029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ABD35E0-B6CC-416D-AD82-1A8D76CE2A02}"/>
              </a:ext>
            </a:extLst>
          </p:cNvPr>
          <p:cNvSpPr/>
          <p:nvPr/>
        </p:nvSpPr>
        <p:spPr>
          <a:xfrm>
            <a:off x="4446014" y="123965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MB5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684C4EB-14F1-4546-8C59-D86D6447F55F}"/>
              </a:ext>
            </a:extLst>
          </p:cNvPr>
          <p:cNvSpPr/>
          <p:nvPr/>
        </p:nvSpPr>
        <p:spPr>
          <a:xfrm>
            <a:off x="4466784" y="733344"/>
            <a:ext cx="1337875" cy="499461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760A74-A1E1-4D49-80A0-9868E032610A}"/>
              </a:ext>
            </a:extLst>
          </p:cNvPr>
          <p:cNvSpPr txBox="1"/>
          <p:nvPr/>
        </p:nvSpPr>
        <p:spPr>
          <a:xfrm>
            <a:off x="5853292" y="158756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C06FDCB-B25F-4E44-9F74-15BD8CF9872D}"/>
              </a:ext>
            </a:extLst>
          </p:cNvPr>
          <p:cNvSpPr txBox="1"/>
          <p:nvPr/>
        </p:nvSpPr>
        <p:spPr>
          <a:xfrm>
            <a:off x="4432866" y="6380956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Case 1 : No splitting</a:t>
            </a:r>
          </a:p>
        </p:txBody>
      </p:sp>
    </p:spTree>
    <p:extLst>
      <p:ext uri="{BB962C8B-B14F-4D97-AF65-F5344CB8AC3E}">
        <p14:creationId xmlns:p14="http://schemas.microsoft.com/office/powerpoint/2010/main" val="32054727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1012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-&gt; Splitting and Merging Data Blocks -&gt; </a:t>
            </a:r>
            <a:r>
              <a:rPr lang="en-US" sz="1600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(De)Allocation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8CB96E-440A-4632-8284-D05CFF123B0A}"/>
              </a:ext>
            </a:extLst>
          </p:cNvPr>
          <p:cNvSpPr/>
          <p:nvPr/>
        </p:nvSpPr>
        <p:spPr>
          <a:xfrm>
            <a:off x="5643168" y="600342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0192AC-E430-426F-BE4E-7049B3A3C6C4}"/>
              </a:ext>
            </a:extLst>
          </p:cNvPr>
          <p:cNvSpPr txBox="1"/>
          <p:nvPr/>
        </p:nvSpPr>
        <p:spPr>
          <a:xfrm>
            <a:off x="6965818" y="5932548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38144-6046-4C6D-8623-38327D7206BB}"/>
              </a:ext>
            </a:extLst>
          </p:cNvPr>
          <p:cNvSpPr txBox="1"/>
          <p:nvPr/>
        </p:nvSpPr>
        <p:spPr>
          <a:xfrm>
            <a:off x="6965818" y="54334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08FDA0-CE2D-4E9E-AECC-B56DE7CAB4D2}"/>
              </a:ext>
            </a:extLst>
          </p:cNvPr>
          <p:cNvSpPr/>
          <p:nvPr/>
        </p:nvSpPr>
        <p:spPr>
          <a:xfrm>
            <a:off x="5642832" y="2252577"/>
            <a:ext cx="1320768" cy="168308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9245E7-189D-49FC-92D7-8738B5F32DC0}"/>
              </a:ext>
            </a:extLst>
          </p:cNvPr>
          <p:cNvSpPr/>
          <p:nvPr/>
        </p:nvSpPr>
        <p:spPr>
          <a:xfrm>
            <a:off x="5627944" y="5221943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0B4A02-DC5D-4895-938E-D176106EE621}"/>
              </a:ext>
            </a:extLst>
          </p:cNvPr>
          <p:cNvSpPr/>
          <p:nvPr/>
        </p:nvSpPr>
        <p:spPr>
          <a:xfrm>
            <a:off x="5627942" y="4849071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F5263E-81DD-4E3F-A722-D33F180B21E6}"/>
              </a:ext>
            </a:extLst>
          </p:cNvPr>
          <p:cNvSpPr/>
          <p:nvPr/>
        </p:nvSpPr>
        <p:spPr>
          <a:xfrm>
            <a:off x="5616343" y="395550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80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1D0497-24AD-43A7-958D-4C36431903EC}"/>
              </a:ext>
            </a:extLst>
          </p:cNvPr>
          <p:cNvSpPr txBox="1"/>
          <p:nvPr/>
        </p:nvSpPr>
        <p:spPr>
          <a:xfrm>
            <a:off x="7054489" y="553528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136A7-E520-4045-927F-9D99C9617A36}"/>
              </a:ext>
            </a:extLst>
          </p:cNvPr>
          <p:cNvSpPr txBox="1"/>
          <p:nvPr/>
        </p:nvSpPr>
        <p:spPr>
          <a:xfrm>
            <a:off x="7024345" y="438824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6E9DD0-F2D8-447E-8CFD-C7D5AB930B65}"/>
              </a:ext>
            </a:extLst>
          </p:cNvPr>
          <p:cNvSpPr txBox="1"/>
          <p:nvPr/>
        </p:nvSpPr>
        <p:spPr>
          <a:xfrm>
            <a:off x="5719234" y="6165564"/>
            <a:ext cx="148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splitting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Case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4530CE-4D0A-4B90-B395-24DFB657F8D6}"/>
              </a:ext>
            </a:extLst>
          </p:cNvPr>
          <p:cNvSpPr/>
          <p:nvPr/>
        </p:nvSpPr>
        <p:spPr>
          <a:xfrm>
            <a:off x="5622625" y="1353972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D462FD-2C29-4C28-80B6-799FA4E17CE6}"/>
              </a:ext>
            </a:extLst>
          </p:cNvPr>
          <p:cNvSpPr/>
          <p:nvPr/>
        </p:nvSpPr>
        <p:spPr>
          <a:xfrm>
            <a:off x="5636439" y="642786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81897D-21B3-4587-A2E6-A2951DC20EE8}"/>
              </a:ext>
            </a:extLst>
          </p:cNvPr>
          <p:cNvSpPr txBox="1"/>
          <p:nvPr/>
        </p:nvSpPr>
        <p:spPr>
          <a:xfrm>
            <a:off x="7006472" y="143119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BBF4BF9-0226-4577-82E2-32E3BDA96DFF}"/>
              </a:ext>
            </a:extLst>
          </p:cNvPr>
          <p:cNvSpPr/>
          <p:nvPr/>
        </p:nvSpPr>
        <p:spPr>
          <a:xfrm>
            <a:off x="9472327" y="653463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B5EAF7-6962-4C77-9310-054773DDB97B}"/>
              </a:ext>
            </a:extLst>
          </p:cNvPr>
          <p:cNvSpPr txBox="1"/>
          <p:nvPr/>
        </p:nvSpPr>
        <p:spPr>
          <a:xfrm>
            <a:off x="10794977" y="59856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4ED9A5-B847-4061-B118-FFE79DA619FA}"/>
              </a:ext>
            </a:extLst>
          </p:cNvPr>
          <p:cNvSpPr txBox="1"/>
          <p:nvPr/>
        </p:nvSpPr>
        <p:spPr>
          <a:xfrm>
            <a:off x="10794977" y="59646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606772-7D1B-48DA-9AA9-F7C064DEAF9F}"/>
              </a:ext>
            </a:extLst>
          </p:cNvPr>
          <p:cNvSpPr/>
          <p:nvPr/>
        </p:nvSpPr>
        <p:spPr>
          <a:xfrm>
            <a:off x="9471991" y="2305698"/>
            <a:ext cx="1320768" cy="68086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CD77AC2-D3C3-4816-B8D8-D642AD760BFC}"/>
              </a:ext>
            </a:extLst>
          </p:cNvPr>
          <p:cNvSpPr/>
          <p:nvPr/>
        </p:nvSpPr>
        <p:spPr>
          <a:xfrm>
            <a:off x="9457103" y="5275064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CEBB4A-A14A-4F76-9D79-9C4AC165A386}"/>
              </a:ext>
            </a:extLst>
          </p:cNvPr>
          <p:cNvSpPr/>
          <p:nvPr/>
        </p:nvSpPr>
        <p:spPr>
          <a:xfrm>
            <a:off x="9457101" y="4902192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6A45DF9-F773-4148-B141-AF95CDAAA3F9}"/>
              </a:ext>
            </a:extLst>
          </p:cNvPr>
          <p:cNvSpPr/>
          <p:nvPr/>
        </p:nvSpPr>
        <p:spPr>
          <a:xfrm>
            <a:off x="9445502" y="400862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MB2’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BFAFAD-35B8-47D5-8A9F-EA4609F75487}"/>
              </a:ext>
            </a:extLst>
          </p:cNvPr>
          <p:cNvSpPr txBox="1"/>
          <p:nvPr/>
        </p:nvSpPr>
        <p:spPr>
          <a:xfrm>
            <a:off x="10883648" y="558840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9971FE-DC37-4E74-9A5E-40441E86E98F}"/>
              </a:ext>
            </a:extLst>
          </p:cNvPr>
          <p:cNvSpPr txBox="1"/>
          <p:nvPr/>
        </p:nvSpPr>
        <p:spPr>
          <a:xfrm>
            <a:off x="10853504" y="444136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7743B39-5854-49DD-A1D3-6C89B1BAB542}"/>
              </a:ext>
            </a:extLst>
          </p:cNvPr>
          <p:cNvSpPr/>
          <p:nvPr/>
        </p:nvSpPr>
        <p:spPr>
          <a:xfrm>
            <a:off x="9451784" y="140709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MB2’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2C85E2C-B501-4669-831F-F52034D33AF3}"/>
              </a:ext>
            </a:extLst>
          </p:cNvPr>
          <p:cNvSpPr/>
          <p:nvPr/>
        </p:nvSpPr>
        <p:spPr>
          <a:xfrm>
            <a:off x="9465598" y="695907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06ECFE-A80F-4E78-B173-64C1B51EDA70}"/>
              </a:ext>
            </a:extLst>
          </p:cNvPr>
          <p:cNvSpPr txBox="1"/>
          <p:nvPr/>
        </p:nvSpPr>
        <p:spPr>
          <a:xfrm>
            <a:off x="10835631" y="148431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D0E4BDF-BD52-4821-8ACC-503DD9679E7F}"/>
              </a:ext>
            </a:extLst>
          </p:cNvPr>
          <p:cNvSpPr/>
          <p:nvPr/>
        </p:nvSpPr>
        <p:spPr>
          <a:xfrm>
            <a:off x="9495528" y="3650722"/>
            <a:ext cx="1337875" cy="353035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1EF3C2B-9609-446B-A9AF-6C28BBC3D6DB}"/>
              </a:ext>
            </a:extLst>
          </p:cNvPr>
          <p:cNvSpPr/>
          <p:nvPr/>
        </p:nvSpPr>
        <p:spPr>
          <a:xfrm>
            <a:off x="9465598" y="2991431"/>
            <a:ext cx="1361071" cy="6473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2F687B-0315-47ED-8A9C-DA897A4CD20F}"/>
              </a:ext>
            </a:extLst>
          </p:cNvPr>
          <p:cNvSpPr txBox="1"/>
          <p:nvPr/>
        </p:nvSpPr>
        <p:spPr>
          <a:xfrm>
            <a:off x="10847348" y="320692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MB2’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26ECCC-C551-4554-8A76-901BF51800F2}"/>
              </a:ext>
            </a:extLst>
          </p:cNvPr>
          <p:cNvSpPr txBox="1"/>
          <p:nvPr/>
        </p:nvSpPr>
        <p:spPr>
          <a:xfrm>
            <a:off x="9568881" y="6197409"/>
            <a:ext cx="1959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splitting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Case 2 – After Split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361C9F-BCDB-4B21-A844-687BCDE4A8DB}"/>
              </a:ext>
            </a:extLst>
          </p:cNvPr>
          <p:cNvSpPr txBox="1"/>
          <p:nvPr/>
        </p:nvSpPr>
        <p:spPr>
          <a:xfrm>
            <a:off x="510253" y="993131"/>
            <a:ext cx="4897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Case 2 : Full Split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When sufficient size free data block is formed after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36758797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1012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4 -&gt; Splitting and Merging Data Blocks -&gt; </a:t>
            </a:r>
            <a:r>
              <a:rPr lang="en-US" sz="1600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 (De)Allocation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540D95-A4DB-4CFD-90E5-072A4574174D}"/>
              </a:ext>
            </a:extLst>
          </p:cNvPr>
          <p:cNvSpPr/>
          <p:nvPr/>
        </p:nvSpPr>
        <p:spPr>
          <a:xfrm>
            <a:off x="1146443" y="513310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10861B-8941-4D28-B165-BDF2C44E8950}"/>
              </a:ext>
            </a:extLst>
          </p:cNvPr>
          <p:cNvSpPr txBox="1"/>
          <p:nvPr/>
        </p:nvSpPr>
        <p:spPr>
          <a:xfrm>
            <a:off x="2469093" y="584551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34F15C-E73D-4151-BF6B-B3ACC114C50A}"/>
              </a:ext>
            </a:extLst>
          </p:cNvPr>
          <p:cNvSpPr txBox="1"/>
          <p:nvPr/>
        </p:nvSpPr>
        <p:spPr>
          <a:xfrm>
            <a:off x="2469093" y="456313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F4EF8-19EB-4B50-9DA9-5D13155E9AB1}"/>
              </a:ext>
            </a:extLst>
          </p:cNvPr>
          <p:cNvSpPr/>
          <p:nvPr/>
        </p:nvSpPr>
        <p:spPr>
          <a:xfrm>
            <a:off x="1146107" y="3132725"/>
            <a:ext cx="1320768" cy="71590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942CEC-AE67-41D3-A50A-3D880AAE881F}"/>
              </a:ext>
            </a:extLst>
          </p:cNvPr>
          <p:cNvSpPr/>
          <p:nvPr/>
        </p:nvSpPr>
        <p:spPr>
          <a:xfrm>
            <a:off x="1131219" y="513491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F8AE2F-1ACC-402A-ABAC-0FF797A43D0B}"/>
              </a:ext>
            </a:extLst>
          </p:cNvPr>
          <p:cNvSpPr/>
          <p:nvPr/>
        </p:nvSpPr>
        <p:spPr>
          <a:xfrm>
            <a:off x="1131217" y="476203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2EEB78-2B04-471D-AC2D-04809A112DEC}"/>
              </a:ext>
            </a:extLst>
          </p:cNvPr>
          <p:cNvSpPr/>
          <p:nvPr/>
        </p:nvSpPr>
        <p:spPr>
          <a:xfrm>
            <a:off x="1119618" y="386846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B4E81-86A6-49F1-BA93-0131C480D5A4}"/>
              </a:ext>
            </a:extLst>
          </p:cNvPr>
          <p:cNvSpPr txBox="1"/>
          <p:nvPr/>
        </p:nvSpPr>
        <p:spPr>
          <a:xfrm>
            <a:off x="2507524" y="544825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845998-361F-4A9D-A951-694EB8BC2FDD}"/>
              </a:ext>
            </a:extLst>
          </p:cNvPr>
          <p:cNvSpPr txBox="1"/>
          <p:nvPr/>
        </p:nvSpPr>
        <p:spPr>
          <a:xfrm>
            <a:off x="2514244" y="425935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9C8B85-9D19-4EB2-981F-84B5E9F43224}"/>
              </a:ext>
            </a:extLst>
          </p:cNvPr>
          <p:cNvSpPr txBox="1"/>
          <p:nvPr/>
        </p:nvSpPr>
        <p:spPr>
          <a:xfrm>
            <a:off x="1114716" y="6050491"/>
            <a:ext cx="148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splitting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Case 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FDB2EE-46A1-45A8-8324-078C8B5F5E82}"/>
              </a:ext>
            </a:extLst>
          </p:cNvPr>
          <p:cNvSpPr/>
          <p:nvPr/>
        </p:nvSpPr>
        <p:spPr>
          <a:xfrm>
            <a:off x="1146668" y="223239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9E8C8C-CDE8-474C-BBC4-8FE811544F18}"/>
              </a:ext>
            </a:extLst>
          </p:cNvPr>
          <p:cNvSpPr/>
          <p:nvPr/>
        </p:nvSpPr>
        <p:spPr>
          <a:xfrm>
            <a:off x="1159810" y="545705"/>
            <a:ext cx="1320768" cy="167663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2FDDD6-D922-4628-8DB6-8AAECEA5BCE0}"/>
              </a:ext>
            </a:extLst>
          </p:cNvPr>
          <p:cNvSpPr txBox="1"/>
          <p:nvPr/>
        </p:nvSpPr>
        <p:spPr>
          <a:xfrm>
            <a:off x="2480578" y="259545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A0C24DA-AA70-41FE-8935-FF78068D3042}"/>
              </a:ext>
            </a:extLst>
          </p:cNvPr>
          <p:cNvSpPr/>
          <p:nvPr/>
        </p:nvSpPr>
        <p:spPr>
          <a:xfrm>
            <a:off x="4263195" y="570307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3452E0-51D5-421B-8DDD-0F630EB6CC75}"/>
              </a:ext>
            </a:extLst>
          </p:cNvPr>
          <p:cNvSpPr txBox="1"/>
          <p:nvPr/>
        </p:nvSpPr>
        <p:spPr>
          <a:xfrm>
            <a:off x="5585845" y="5902513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FB4E41-CA1F-48DB-AD26-5BFD426A5ACB}"/>
              </a:ext>
            </a:extLst>
          </p:cNvPr>
          <p:cNvSpPr txBox="1"/>
          <p:nvPr/>
        </p:nvSpPr>
        <p:spPr>
          <a:xfrm>
            <a:off x="5585845" y="51331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A1EA542-B58B-4D45-A615-76027278DCA7}"/>
              </a:ext>
            </a:extLst>
          </p:cNvPr>
          <p:cNvSpPr/>
          <p:nvPr/>
        </p:nvSpPr>
        <p:spPr>
          <a:xfrm>
            <a:off x="4272907" y="3169626"/>
            <a:ext cx="1320768" cy="36286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10B (IF 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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FCBFC5A-EA08-4B94-94FD-4995E6AB7BE7}"/>
              </a:ext>
            </a:extLst>
          </p:cNvPr>
          <p:cNvSpPr/>
          <p:nvPr/>
        </p:nvSpPr>
        <p:spPr>
          <a:xfrm>
            <a:off x="4247971" y="5191908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657B49-E4F2-4FE8-A9E1-298B2ADA64B5}"/>
              </a:ext>
            </a:extLst>
          </p:cNvPr>
          <p:cNvSpPr/>
          <p:nvPr/>
        </p:nvSpPr>
        <p:spPr>
          <a:xfrm>
            <a:off x="4247969" y="4819036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D398DF-BDBA-49C9-8B0F-BEEEF473F68C}"/>
              </a:ext>
            </a:extLst>
          </p:cNvPr>
          <p:cNvSpPr/>
          <p:nvPr/>
        </p:nvSpPr>
        <p:spPr>
          <a:xfrm>
            <a:off x="4236370" y="3925465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0BF4FE-C29E-470E-8AEF-06581D90C828}"/>
              </a:ext>
            </a:extLst>
          </p:cNvPr>
          <p:cNvSpPr txBox="1"/>
          <p:nvPr/>
        </p:nvSpPr>
        <p:spPr>
          <a:xfrm>
            <a:off x="5624276" y="550525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686AB8-6DA3-4410-ADCA-678FD7F6CE63}"/>
              </a:ext>
            </a:extLst>
          </p:cNvPr>
          <p:cNvSpPr txBox="1"/>
          <p:nvPr/>
        </p:nvSpPr>
        <p:spPr>
          <a:xfrm>
            <a:off x="5630996" y="431635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C91F25-AA50-4A3D-B4C3-137A5A292E3E}"/>
              </a:ext>
            </a:extLst>
          </p:cNvPr>
          <p:cNvSpPr txBox="1"/>
          <p:nvPr/>
        </p:nvSpPr>
        <p:spPr>
          <a:xfrm>
            <a:off x="4231468" y="6107488"/>
            <a:ext cx="1859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Block splitting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Case 3 – after split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E34953-2C59-414F-AEE8-D50E91697349}"/>
              </a:ext>
            </a:extLst>
          </p:cNvPr>
          <p:cNvSpPr/>
          <p:nvPr/>
        </p:nvSpPr>
        <p:spPr>
          <a:xfrm>
            <a:off x="4263420" y="228939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9B948D-210C-4A99-A9F1-903736F80967}"/>
              </a:ext>
            </a:extLst>
          </p:cNvPr>
          <p:cNvSpPr/>
          <p:nvPr/>
        </p:nvSpPr>
        <p:spPr>
          <a:xfrm>
            <a:off x="4276562" y="602702"/>
            <a:ext cx="1320768" cy="1676639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15545D-394E-488C-8141-58F02CC24480}"/>
              </a:ext>
            </a:extLst>
          </p:cNvPr>
          <p:cNvSpPr txBox="1"/>
          <p:nvPr/>
        </p:nvSpPr>
        <p:spPr>
          <a:xfrm>
            <a:off x="5688941" y="251032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EE3C7D8-6A07-4EE5-B177-6553559A2199}"/>
              </a:ext>
            </a:extLst>
          </p:cNvPr>
          <p:cNvSpPr/>
          <p:nvPr/>
        </p:nvSpPr>
        <p:spPr>
          <a:xfrm>
            <a:off x="4271472" y="3552463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AA46A5-C30F-46AC-8746-C8A552566487}"/>
              </a:ext>
            </a:extLst>
          </p:cNvPr>
          <p:cNvSpPr txBox="1"/>
          <p:nvPr/>
        </p:nvSpPr>
        <p:spPr>
          <a:xfrm>
            <a:off x="7202456" y="977697"/>
            <a:ext cx="4354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Case 3 : Partial Split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When free data block is formed after split but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that free data block is not usable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(Internal Fragmentation)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F20AD07-7C18-4405-BBB6-71096080826F}"/>
              </a:ext>
            </a:extLst>
          </p:cNvPr>
          <p:cNvSpPr/>
          <p:nvPr/>
        </p:nvSpPr>
        <p:spPr>
          <a:xfrm rot="10800000">
            <a:off x="5763137" y="3170754"/>
            <a:ext cx="904352" cy="361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94D11-F05C-4403-9182-C0134AD82E37}"/>
              </a:ext>
            </a:extLst>
          </p:cNvPr>
          <p:cNvSpPr txBox="1"/>
          <p:nvPr/>
        </p:nvSpPr>
        <p:spPr>
          <a:xfrm>
            <a:off x="6667489" y="3183131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Internally fragmented memory</a:t>
            </a:r>
          </a:p>
        </p:txBody>
      </p:sp>
    </p:spTree>
    <p:extLst>
      <p:ext uri="{BB962C8B-B14F-4D97-AF65-F5344CB8AC3E}">
        <p14:creationId xmlns:p14="http://schemas.microsoft.com/office/powerpoint/2010/main" val="31379045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2841113" y="1379051"/>
            <a:ext cx="6218369" cy="32316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Phase 6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Free Data Block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Management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99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9904-0F34-496D-8FCD-51D9AAE080C1}"/>
              </a:ext>
            </a:extLst>
          </p:cNvPr>
          <p:cNvSpPr txBox="1"/>
          <p:nvPr/>
        </p:nvSpPr>
        <p:spPr>
          <a:xfrm>
            <a:off x="1520650" y="4874638"/>
            <a:ext cx="9502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Baskerville Old Face" panose="02020602080505020303" pitchFamily="18" charset="0"/>
              </a:rPr>
              <a:t>How to choose the most appropriate Free Data block for Memory allocation</a:t>
            </a:r>
            <a:endParaRPr lang="en-US" sz="2400" i="1" dirty="0">
              <a:solidFill>
                <a:srgbClr val="FFFF00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830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4C2098-3C72-4EF1-9DAA-F745CD5B48D9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4C1F-53B8-4F5F-BEBD-A17AAEDD0C50}"/>
              </a:ext>
            </a:extLst>
          </p:cNvPr>
          <p:cNvSpPr txBox="1"/>
          <p:nvPr/>
        </p:nvSpPr>
        <p:spPr>
          <a:xfrm>
            <a:off x="194553" y="596893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 Data Block Management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482032" y="3639906"/>
            <a:ext cx="2334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(1, </a:t>
            </a:r>
            <a:r>
              <a:rPr lang="en-US" sz="2400" dirty="0" err="1">
                <a:latin typeface="Baskerville Old Face" panose="02020602080505020303" pitchFamily="18" charset="0"/>
              </a:rPr>
              <a:t>foo_t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13ED8E-F7E5-4ACD-94BA-25EE328B53E9}"/>
              </a:ext>
            </a:extLst>
          </p:cNvPr>
          <p:cNvSpPr txBox="1"/>
          <p:nvPr/>
        </p:nvSpPr>
        <p:spPr>
          <a:xfrm>
            <a:off x="254446" y="1276337"/>
            <a:ext cx="11279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For a Given Family, which data VM page should be used to meet the </a:t>
            </a:r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request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Answer : </a:t>
            </a:r>
            <a:r>
              <a:rPr lang="en-US" sz="2400" dirty="0">
                <a:latin typeface="Baskerville Old Face" panose="02020602080505020303" pitchFamily="18" charset="0"/>
              </a:rPr>
              <a:t>Select the page which has the largest free data block available – </a:t>
            </a:r>
            <a:r>
              <a:rPr lang="en-US" sz="24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Worst fit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58096" y="404547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069404" y="3014339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208564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462408" y="3014339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591840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75843" y="5156968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009225" y="402601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069404" y="303063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3F48CE-6E86-4866-B711-9200AE37A244}"/>
              </a:ext>
            </a:extLst>
          </p:cNvPr>
          <p:cNvSpPr/>
          <p:nvPr/>
        </p:nvSpPr>
        <p:spPr>
          <a:xfrm>
            <a:off x="4064454" y="395374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235101" y="3036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225373" y="341216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462408" y="464800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462408" y="502371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479050" y="340149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54D571-8CB5-457B-AA77-63BC7E5E5E5E}"/>
              </a:ext>
            </a:extLst>
          </p:cNvPr>
          <p:cNvSpPr/>
          <p:nvPr/>
        </p:nvSpPr>
        <p:spPr>
          <a:xfrm>
            <a:off x="7590816" y="396964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363810" y="546719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462259" y="547515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744052" y="549271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842501" y="549094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200670" y="505905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26C06E-297B-4525-891D-0B68E5D0FB59}"/>
              </a:ext>
            </a:extLst>
          </p:cNvPr>
          <p:cNvSpPr/>
          <p:nvPr/>
        </p:nvSpPr>
        <p:spPr>
          <a:xfrm>
            <a:off x="5197726" y="466721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590816" y="505905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087451" y="505186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524432" y="519273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5831034" y="519273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124068" y="520191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2" grpId="0"/>
      <p:bldP spid="60" grpId="0"/>
      <p:bldP spid="61" grpId="0"/>
      <p:bldP spid="62" grpId="0"/>
      <p:bldP spid="64" grpId="0" animBg="1"/>
      <p:bldP spid="65" grpId="0" animBg="1"/>
      <p:bldP spid="66" grpId="0" animBg="1"/>
      <p:bldP spid="6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6E93A0-523A-4A44-9D00-49C0E43FD854}"/>
              </a:ext>
            </a:extLst>
          </p:cNvPr>
          <p:cNvSpPr txBox="1"/>
          <p:nvPr/>
        </p:nvSpPr>
        <p:spPr>
          <a:xfrm>
            <a:off x="9678821" y="3192094"/>
            <a:ext cx="23342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(1, </a:t>
            </a:r>
            <a:r>
              <a:rPr lang="en-US" sz="2400" dirty="0" err="1">
                <a:latin typeface="Baskerville Old Face" panose="02020602080505020303" pitchFamily="18" charset="0"/>
              </a:rPr>
              <a:t>foo_t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</a:p>
          <a:p>
            <a:r>
              <a:rPr lang="en-US" sz="2400" dirty="0" err="1">
                <a:latin typeface="Baskerville Old Face" panose="02020602080505020303" pitchFamily="18" charset="0"/>
              </a:rPr>
              <a:t>xfree</a:t>
            </a:r>
            <a:r>
              <a:rPr lang="en-US" sz="2400" dirty="0">
                <a:latin typeface="Baskerville Old Face" panose="02020602080505020303" pitchFamily="18" charset="0"/>
              </a:rPr>
              <a:t>(ptr1)</a:t>
            </a:r>
          </a:p>
          <a:p>
            <a:r>
              <a:rPr lang="en-US" sz="2400" dirty="0" err="1">
                <a:latin typeface="Baskerville Old Face" panose="02020602080505020303" pitchFamily="18" charset="0"/>
              </a:rPr>
              <a:t>xfree</a:t>
            </a:r>
            <a:r>
              <a:rPr lang="en-US" sz="2400" dirty="0">
                <a:latin typeface="Baskerville Old Face" panose="02020602080505020303" pitchFamily="18" charset="0"/>
              </a:rPr>
              <a:t>(ptr2)</a:t>
            </a:r>
          </a:p>
          <a:p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(1, </a:t>
            </a:r>
            <a:r>
              <a:rPr lang="en-US" sz="2400" dirty="0" err="1">
                <a:latin typeface="Baskerville Old Face" panose="02020602080505020303" pitchFamily="18" charset="0"/>
              </a:rPr>
              <a:t>foo_t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13ED8E-F7E5-4ACD-94BA-25EE328B53E9}"/>
              </a:ext>
            </a:extLst>
          </p:cNvPr>
          <p:cNvSpPr txBox="1"/>
          <p:nvPr/>
        </p:nvSpPr>
        <p:spPr>
          <a:xfrm>
            <a:off x="254446" y="1276337"/>
            <a:ext cx="11065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For a Given Family, which data VM page should be used to meet the </a:t>
            </a:r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 request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Answer : </a:t>
            </a:r>
            <a:r>
              <a:rPr lang="en-US" sz="2400" dirty="0">
                <a:latin typeface="Baskerville Old Face" panose="02020602080505020303" pitchFamily="18" charset="0"/>
              </a:rPr>
              <a:t>Select the page which has the largest free data block available – </a:t>
            </a:r>
            <a:r>
              <a:rPr lang="en-US" sz="24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Worst fit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58096" y="404547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069404" y="3014339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208564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462408" y="3014339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591840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75843" y="5156968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009225" y="402601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069404" y="303063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3F48CE-6E86-4866-B711-9200AE37A244}"/>
              </a:ext>
            </a:extLst>
          </p:cNvPr>
          <p:cNvSpPr/>
          <p:nvPr/>
        </p:nvSpPr>
        <p:spPr>
          <a:xfrm>
            <a:off x="4064454" y="395374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235101" y="3036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225373" y="341216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462408" y="464800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462408" y="502371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459594" y="340149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54D571-8CB5-457B-AA77-63BC7E5E5E5E}"/>
              </a:ext>
            </a:extLst>
          </p:cNvPr>
          <p:cNvSpPr/>
          <p:nvPr/>
        </p:nvSpPr>
        <p:spPr>
          <a:xfrm>
            <a:off x="7590816" y="396964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363810" y="546719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462259" y="547515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744052" y="549271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842501" y="549094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200670" y="505905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26C06E-297B-4525-891D-0B68E5D0FB59}"/>
              </a:ext>
            </a:extLst>
          </p:cNvPr>
          <p:cNvSpPr/>
          <p:nvPr/>
        </p:nvSpPr>
        <p:spPr>
          <a:xfrm>
            <a:off x="5197726" y="466721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590816" y="505905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087451" y="505186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389B-8A0E-4FA3-8356-B3010E5AF5E9}"/>
              </a:ext>
            </a:extLst>
          </p:cNvPr>
          <p:cNvSpPr/>
          <p:nvPr/>
        </p:nvSpPr>
        <p:spPr>
          <a:xfrm>
            <a:off x="7600544" y="468383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7686B-FCED-421C-9850-3F2170E2A61A}"/>
              </a:ext>
            </a:extLst>
          </p:cNvPr>
          <p:cNvSpPr txBox="1"/>
          <p:nvPr/>
        </p:nvSpPr>
        <p:spPr>
          <a:xfrm>
            <a:off x="254446" y="6284068"/>
            <a:ext cx="942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How to find the biggest free data block across all Data VM pages of a given page family 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8619F-413E-49CF-B8A5-99B83E87ADD7}"/>
              </a:ext>
            </a:extLst>
          </p:cNvPr>
          <p:cNvSpPr txBox="1"/>
          <p:nvPr/>
        </p:nvSpPr>
        <p:spPr>
          <a:xfrm>
            <a:off x="194553" y="637085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 Data Block Management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602573" y="5187983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5909175" y="5187983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202209" y="5197160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A9E39EA-FD42-4EB6-957D-6FFE2C1D99D3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</p:spTree>
    <p:extLst>
      <p:ext uri="{BB962C8B-B14F-4D97-AF65-F5344CB8AC3E}">
        <p14:creationId xmlns:p14="http://schemas.microsoft.com/office/powerpoint/2010/main" val="128628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9" grpId="0" animBg="1"/>
      <p:bldP spid="32" grpId="0" animBg="1"/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E13ED8E-F7E5-4ACD-94BA-25EE328B53E9}"/>
              </a:ext>
            </a:extLst>
          </p:cNvPr>
          <p:cNvSpPr txBox="1"/>
          <p:nvPr/>
        </p:nvSpPr>
        <p:spPr>
          <a:xfrm>
            <a:off x="176622" y="1276337"/>
            <a:ext cx="112934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How to find the biggest free data block across all Data VM pages of a given page family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Answer : </a:t>
            </a:r>
            <a:r>
              <a:rPr lang="en-US" sz="2400" dirty="0">
                <a:latin typeface="Baskerville Old Face" panose="02020602080505020303" pitchFamily="18" charset="0"/>
              </a:rPr>
              <a:t>Each Page Family must maintain a max-priority Queue of free data blocks</a:t>
            </a:r>
            <a:endParaRPr lang="en-US" sz="2400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58096" y="404547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069404" y="3014339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208564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462408" y="3014339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591840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75843" y="5156968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009225" y="402601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069404" y="303063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235101" y="3036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225373" y="341216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462408" y="464800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462408" y="502371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459594" y="340149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363810" y="546719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462259" y="547515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744052" y="549271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842501" y="549094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200670" y="505905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590816" y="505905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087451" y="505186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70157-F059-4A8B-A77C-FFEEC40EDE52}"/>
              </a:ext>
            </a:extLst>
          </p:cNvPr>
          <p:cNvSpPr txBox="1"/>
          <p:nvPr/>
        </p:nvSpPr>
        <p:spPr>
          <a:xfrm>
            <a:off x="4295595" y="404795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9251A-D95C-4D52-A407-B2E2C0F2A38F}"/>
              </a:ext>
            </a:extLst>
          </p:cNvPr>
          <p:cNvSpPr txBox="1"/>
          <p:nvPr/>
        </p:nvSpPr>
        <p:spPr>
          <a:xfrm>
            <a:off x="5395101" y="414496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8DC19-DCE0-4B51-B335-B63053ABB147}"/>
              </a:ext>
            </a:extLst>
          </p:cNvPr>
          <p:cNvSpPr txBox="1"/>
          <p:nvPr/>
        </p:nvSpPr>
        <p:spPr>
          <a:xfrm>
            <a:off x="6619513" y="4073102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CDBFD-2F7F-4631-A112-25DB1D7DDAF7}"/>
              </a:ext>
            </a:extLst>
          </p:cNvPr>
          <p:cNvSpPr txBox="1"/>
          <p:nvPr/>
        </p:nvSpPr>
        <p:spPr>
          <a:xfrm>
            <a:off x="7787999" y="39278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6CA307-0447-40CE-9F67-246D3862134C}"/>
              </a:ext>
            </a:extLst>
          </p:cNvPr>
          <p:cNvSpPr txBox="1"/>
          <p:nvPr/>
        </p:nvSpPr>
        <p:spPr>
          <a:xfrm>
            <a:off x="6722247" y="301433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1994170" y="5479612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6B0F8-43E9-4B9C-B44E-5533FA784E03}"/>
              </a:ext>
            </a:extLst>
          </p:cNvPr>
          <p:cNvSpPr txBox="1"/>
          <p:nvPr/>
        </p:nvSpPr>
        <p:spPr>
          <a:xfrm>
            <a:off x="3470653" y="599903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10C554-8E29-4343-A136-6BF0452415B9}"/>
              </a:ext>
            </a:extLst>
          </p:cNvPr>
          <p:cNvSpPr txBox="1"/>
          <p:nvPr/>
        </p:nvSpPr>
        <p:spPr>
          <a:xfrm>
            <a:off x="4630652" y="5990042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EE2B82-EC78-4048-821A-6C780232C151}"/>
              </a:ext>
            </a:extLst>
          </p:cNvPr>
          <p:cNvSpPr txBox="1"/>
          <p:nvPr/>
        </p:nvSpPr>
        <p:spPr>
          <a:xfrm>
            <a:off x="5953267" y="599903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CBD76-28B5-444E-B761-319A2228C13D}"/>
              </a:ext>
            </a:extLst>
          </p:cNvPr>
          <p:cNvSpPr txBox="1"/>
          <p:nvPr/>
        </p:nvSpPr>
        <p:spPr>
          <a:xfrm>
            <a:off x="7217981" y="6009498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0D2426-90BB-4AB7-9E5C-E0E08A450829}"/>
              </a:ext>
            </a:extLst>
          </p:cNvPr>
          <p:cNvSpPr txBox="1"/>
          <p:nvPr/>
        </p:nvSpPr>
        <p:spPr>
          <a:xfrm>
            <a:off x="8637267" y="5999770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C56E1-73E8-475C-A419-390A8C67899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4075599" y="6174708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D854B2-45E7-45CF-92D9-E9F93AB56597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5196712" y="6183697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3C1245-DBBF-4688-94B4-5F9FA1D3F24A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6511433" y="6183697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AFA7DC4-8B7C-49D7-A19E-306AF8A07A7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787473" y="6171196"/>
            <a:ext cx="849794" cy="13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B90C9-437D-45AA-BFE2-F39865073F77}"/>
              </a:ext>
            </a:extLst>
          </p:cNvPr>
          <p:cNvSpPr txBox="1"/>
          <p:nvPr/>
        </p:nvSpPr>
        <p:spPr>
          <a:xfrm>
            <a:off x="4941822" y="6349744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45FF8B-A8CE-46D4-9A34-D6E4C7F12844}"/>
              </a:ext>
            </a:extLst>
          </p:cNvPr>
          <p:cNvSpPr txBox="1"/>
          <p:nvPr/>
        </p:nvSpPr>
        <p:spPr>
          <a:xfrm>
            <a:off x="194553" y="637085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 Data Block Management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566387" y="523292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5872989" y="523292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166023" y="524210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CA3A300-939F-48F4-AF07-E8920C2AC943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64EF8A-4420-4B56-A81F-785090973E6F}"/>
              </a:ext>
            </a:extLst>
          </p:cNvPr>
          <p:cNvSpPr txBox="1"/>
          <p:nvPr/>
        </p:nvSpPr>
        <p:spPr>
          <a:xfrm rot="17907859">
            <a:off x="2361494" y="419666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DDF546-BB79-4B51-888D-CE1E120ADA8A}"/>
              </a:ext>
            </a:extLst>
          </p:cNvPr>
          <p:cNvSpPr txBox="1"/>
          <p:nvPr/>
        </p:nvSpPr>
        <p:spPr>
          <a:xfrm>
            <a:off x="555895" y="6140786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free_block_priority_list_head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72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20" grpId="0"/>
      <p:bldP spid="6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E13ED8E-F7E5-4ACD-94BA-25EE328B53E9}"/>
              </a:ext>
            </a:extLst>
          </p:cNvPr>
          <p:cNvSpPr txBox="1"/>
          <p:nvPr/>
        </p:nvSpPr>
        <p:spPr>
          <a:xfrm>
            <a:off x="176622" y="1276337"/>
            <a:ext cx="112934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askerville Old Face" panose="02020602080505020303" pitchFamily="18" charset="0"/>
              </a:rPr>
              <a:t>How to find the biggest free data block across all Data VM pages of a given page family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B0F0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F0"/>
                </a:solidFill>
                <a:latin typeface="Baskerville Old Face" panose="02020602080505020303" pitchFamily="18" charset="0"/>
              </a:rPr>
              <a:t>Answer : </a:t>
            </a:r>
            <a:r>
              <a:rPr lang="en-US" sz="2400" dirty="0">
                <a:latin typeface="Baskerville Old Face" panose="02020602080505020303" pitchFamily="18" charset="0"/>
              </a:rPr>
              <a:t>Each Page Family must maintain a max-priority Queue of free data blocks</a:t>
            </a:r>
            <a:endParaRPr lang="en-US" sz="2400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058096" y="404547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069404" y="3014339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208564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462408" y="3014339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591840" y="301433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075843" y="5156968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009225" y="402601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069404" y="303063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235101" y="3036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225373" y="341216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462408" y="464800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462408" y="502371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459594" y="340149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363810" y="546719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462259" y="547515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744052" y="549271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842501" y="549094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200670" y="505905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590816" y="505905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087451" y="505186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70157-F059-4A8B-A77C-FFEEC40EDE52}"/>
              </a:ext>
            </a:extLst>
          </p:cNvPr>
          <p:cNvSpPr txBox="1"/>
          <p:nvPr/>
        </p:nvSpPr>
        <p:spPr>
          <a:xfrm>
            <a:off x="4295595" y="404795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9251A-D95C-4D52-A407-B2E2C0F2A38F}"/>
              </a:ext>
            </a:extLst>
          </p:cNvPr>
          <p:cNvSpPr txBox="1"/>
          <p:nvPr/>
        </p:nvSpPr>
        <p:spPr>
          <a:xfrm>
            <a:off x="5395101" y="414496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8DC19-DCE0-4B51-B335-B63053ABB147}"/>
              </a:ext>
            </a:extLst>
          </p:cNvPr>
          <p:cNvSpPr txBox="1"/>
          <p:nvPr/>
        </p:nvSpPr>
        <p:spPr>
          <a:xfrm>
            <a:off x="6619513" y="4073102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CDBFD-2F7F-4631-A112-25DB1D7DDAF7}"/>
              </a:ext>
            </a:extLst>
          </p:cNvPr>
          <p:cNvSpPr txBox="1"/>
          <p:nvPr/>
        </p:nvSpPr>
        <p:spPr>
          <a:xfrm>
            <a:off x="7787999" y="39278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6CA307-0447-40CE-9F67-246D3862134C}"/>
              </a:ext>
            </a:extLst>
          </p:cNvPr>
          <p:cNvSpPr txBox="1"/>
          <p:nvPr/>
        </p:nvSpPr>
        <p:spPr>
          <a:xfrm>
            <a:off x="6722247" y="301433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1994170" y="5479612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6B0F8-43E9-4B9C-B44E-5533FA784E03}"/>
              </a:ext>
            </a:extLst>
          </p:cNvPr>
          <p:cNvSpPr txBox="1"/>
          <p:nvPr/>
        </p:nvSpPr>
        <p:spPr>
          <a:xfrm>
            <a:off x="3470653" y="599903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10C554-8E29-4343-A136-6BF0452415B9}"/>
              </a:ext>
            </a:extLst>
          </p:cNvPr>
          <p:cNvSpPr txBox="1"/>
          <p:nvPr/>
        </p:nvSpPr>
        <p:spPr>
          <a:xfrm>
            <a:off x="4630652" y="5990042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EE2B82-EC78-4048-821A-6C780232C151}"/>
              </a:ext>
            </a:extLst>
          </p:cNvPr>
          <p:cNvSpPr txBox="1"/>
          <p:nvPr/>
        </p:nvSpPr>
        <p:spPr>
          <a:xfrm>
            <a:off x="5953267" y="599903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CBD76-28B5-444E-B761-319A2228C13D}"/>
              </a:ext>
            </a:extLst>
          </p:cNvPr>
          <p:cNvSpPr txBox="1"/>
          <p:nvPr/>
        </p:nvSpPr>
        <p:spPr>
          <a:xfrm>
            <a:off x="7217981" y="6009498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0D2426-90BB-4AB7-9E5C-E0E08A450829}"/>
              </a:ext>
            </a:extLst>
          </p:cNvPr>
          <p:cNvSpPr txBox="1"/>
          <p:nvPr/>
        </p:nvSpPr>
        <p:spPr>
          <a:xfrm>
            <a:off x="8637267" y="5999770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C56E1-73E8-475C-A419-390A8C67899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4075599" y="6174708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D854B2-45E7-45CF-92D9-E9F93AB56597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5196712" y="6183697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3C1245-DBBF-4688-94B4-5F9FA1D3F24A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6511433" y="6183697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AFA7DC4-8B7C-49D7-A19E-306AF8A07A7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787473" y="6171196"/>
            <a:ext cx="849794" cy="13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B90C9-437D-45AA-BFE2-F39865073F77}"/>
              </a:ext>
            </a:extLst>
          </p:cNvPr>
          <p:cNvSpPr txBox="1"/>
          <p:nvPr/>
        </p:nvSpPr>
        <p:spPr>
          <a:xfrm>
            <a:off x="4941822" y="6349744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D455D-BD60-45AE-98A8-CC3846A2E5E5}"/>
              </a:ext>
            </a:extLst>
          </p:cNvPr>
          <p:cNvSpPr txBox="1"/>
          <p:nvPr/>
        </p:nvSpPr>
        <p:spPr>
          <a:xfrm>
            <a:off x="9592969" y="3409194"/>
            <a:ext cx="2257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askerville Old Face" panose="02020602080505020303" pitchFamily="18" charset="0"/>
              </a:rPr>
              <a:t>xmalloc</a:t>
            </a:r>
            <a:r>
              <a:rPr lang="en-US" sz="2400" dirty="0">
                <a:latin typeface="Baskerville Old Face" panose="02020602080505020303" pitchFamily="18" charset="0"/>
              </a:rPr>
              <a:t>(1, </a:t>
            </a:r>
            <a:r>
              <a:rPr lang="en-US" sz="2400" dirty="0" err="1">
                <a:latin typeface="Baskerville Old Face" panose="02020602080505020303" pitchFamily="18" charset="0"/>
              </a:rPr>
              <a:t>foo_t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C54EC2-E5FB-4496-9224-6B8501F8C31E}"/>
              </a:ext>
            </a:extLst>
          </p:cNvPr>
          <p:cNvSpPr/>
          <p:nvPr/>
        </p:nvSpPr>
        <p:spPr>
          <a:xfrm>
            <a:off x="7590649" y="466908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03B965-4061-4AAD-94BE-7CBCD74C232F}"/>
              </a:ext>
            </a:extLst>
          </p:cNvPr>
          <p:cNvSpPr txBox="1"/>
          <p:nvPr/>
        </p:nvSpPr>
        <p:spPr>
          <a:xfrm>
            <a:off x="7748479" y="3546341"/>
            <a:ext cx="6864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B77D82-6382-4C05-908E-7E9B2C9C0847}"/>
              </a:ext>
            </a:extLst>
          </p:cNvPr>
          <p:cNvSpPr txBox="1"/>
          <p:nvPr/>
        </p:nvSpPr>
        <p:spPr>
          <a:xfrm>
            <a:off x="4621624" y="5980412"/>
            <a:ext cx="6864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FB44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E2EC1B-12F0-4251-A4B7-DC3F051CBD6C}"/>
              </a:ext>
            </a:extLst>
          </p:cNvPr>
          <p:cNvCxnSpPr>
            <a:cxnSpLocks/>
          </p:cNvCxnSpPr>
          <p:nvPr/>
        </p:nvCxnSpPr>
        <p:spPr>
          <a:xfrm>
            <a:off x="4075599" y="6163499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FAC9558-128A-4CCF-8721-22BA6777C9F6}"/>
              </a:ext>
            </a:extLst>
          </p:cNvPr>
          <p:cNvSpPr txBox="1"/>
          <p:nvPr/>
        </p:nvSpPr>
        <p:spPr>
          <a:xfrm>
            <a:off x="9071993" y="4176420"/>
            <a:ext cx="2840842" cy="1200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TC : O(n)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If priority Queue is list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Can be improved to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O(log2(n)) if PQ is max-heap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9A10D1-1295-4E13-B94A-926C8F0CF96A}"/>
              </a:ext>
            </a:extLst>
          </p:cNvPr>
          <p:cNvSpPr txBox="1"/>
          <p:nvPr/>
        </p:nvSpPr>
        <p:spPr>
          <a:xfrm>
            <a:off x="194553" y="637085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 Data Block Management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630652" y="523292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5937254" y="523292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230288" y="524210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7DB36498-4370-43A9-9D5D-BDC537BF0FFF}"/>
              </a:ext>
            </a:extLst>
          </p:cNvPr>
          <p:cNvSpPr/>
          <p:nvPr/>
        </p:nvSpPr>
        <p:spPr>
          <a:xfrm>
            <a:off x="7868122" y="4095951"/>
            <a:ext cx="397919" cy="36186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45A187-8326-4ED5-AA5C-D8C3B8D276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361494" y="419666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>
            <a:off x="555895" y="6140786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free_block_priority_list_head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48148E-6 L -0.09349 0.0030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7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53" grpId="0" animBg="1"/>
      <p:bldP spid="59" grpId="0" animBg="1"/>
      <p:bldP spid="63" grpId="0" animBg="1"/>
      <p:bldP spid="3" grpId="0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538BFF-50F4-450C-8E73-7B08721FBC6C}"/>
              </a:ext>
            </a:extLst>
          </p:cNvPr>
          <p:cNvSpPr txBox="1"/>
          <p:nvPr/>
        </p:nvSpPr>
        <p:spPr>
          <a:xfrm>
            <a:off x="331594" y="789360"/>
            <a:ext cx="113847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Priority Queue of free Data blocks is just an ordered doubly linked list, which is ordered as per the  worst fit algorithm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implement Best fit, First algorithm – All you need to do is to change the priority order of free data blocks in the priority Queue – No other code changes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Remember – our LMM has only Data VM pages as a memory source in order to organize its internal data structures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implement a Priority Queue of free data blocks, either implement it the same way using ‘next’ &amp; ‘</a:t>
            </a:r>
            <a:r>
              <a:rPr lang="en-US" dirty="0" err="1">
                <a:latin typeface="Baskerville Old Face" panose="02020602080505020303" pitchFamily="18" charset="0"/>
              </a:rPr>
              <a:t>prev</a:t>
            </a:r>
            <a:r>
              <a:rPr lang="en-US" dirty="0">
                <a:latin typeface="Baskerville Old Face" panose="02020602080505020303" pitchFamily="18" charset="0"/>
              </a:rPr>
              <a:t>’ concept as usual OR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Let us understand the new way of Implementing the doubly linked list </a:t>
            </a:r>
            <a:r>
              <a:rPr lang="en-US" i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– The Glue way - </a:t>
            </a:r>
            <a:r>
              <a:rPr lang="en-US" i="1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Glthreads</a:t>
            </a:r>
            <a:endParaRPr lang="en-US" i="1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Refer Appendix C – </a:t>
            </a:r>
            <a:r>
              <a:rPr lang="en-US" i="1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Glue Based Linked List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These type of linked-lists are used throughout the industry, and in linux kernel code as well. So grab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this opportunity to learn extra…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In the next lecture Video, I presumes that you know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glthreads</a:t>
            </a:r>
            <a:r>
              <a:rPr lang="en-US" dirty="0">
                <a:latin typeface="Baskerville Old Face" panose="02020602080505020303" pitchFamily="18" charset="0"/>
              </a:rPr>
              <a:t>, and I wont talk about it anymore in the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70831-1ABB-430D-8B99-BF97ECFF25DE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</p:spTree>
    <p:extLst>
      <p:ext uri="{BB962C8B-B14F-4D97-AF65-F5344CB8AC3E}">
        <p14:creationId xmlns:p14="http://schemas.microsoft.com/office/powerpoint/2010/main" val="95363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0E5F6-ED70-406A-A8A3-FF61770ED6A0}"/>
              </a:ext>
            </a:extLst>
          </p:cNvPr>
          <p:cNvSpPr txBox="1"/>
          <p:nvPr/>
        </p:nvSpPr>
        <p:spPr>
          <a:xfrm>
            <a:off x="472273" y="2031203"/>
            <a:ext cx="578876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latin typeface="Baskerville Old Face" panose="02020602080505020303" pitchFamily="18" charset="0"/>
              </a:rPr>
              <a:t>vm_bool_t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offset;    /*offset from the start of the page*/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priority_thread_glue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 (node of a linked list)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prev_block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struct 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_ *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GLTHREAD_TO_STRUCT(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glthread_to_block_meta_data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</a:t>
            </a: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priority_thread_glue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glthread_ptr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);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42189-BE7A-49FD-8CD6-7CDA0A97F1DC}"/>
              </a:ext>
            </a:extLst>
          </p:cNvPr>
          <p:cNvSpPr txBox="1"/>
          <p:nvPr/>
        </p:nvSpPr>
        <p:spPr>
          <a:xfrm>
            <a:off x="6682385" y="2031203"/>
            <a:ext cx="505939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typedef struct </a:t>
            </a:r>
            <a:r>
              <a:rPr lang="en-US" dirty="0" err="1"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latin typeface="Baskerville Old Face" panose="02020602080505020303" pitchFamily="18" charset="0"/>
              </a:rPr>
              <a:t>_{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char </a:t>
            </a:r>
            <a:r>
              <a:rPr lang="en-US" dirty="0" err="1">
                <a:latin typeface="Baskerville Old Face" panose="02020602080505020303" pitchFamily="18" charset="0"/>
              </a:rPr>
              <a:t>struct_name</a:t>
            </a:r>
            <a:r>
              <a:rPr lang="en-US" dirty="0">
                <a:latin typeface="Baskerville Old Face" panose="02020602080505020303" pitchFamily="18" charset="0"/>
              </a:rPr>
              <a:t>[MM_MAX_STRUCT_NAME];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uint32_t </a:t>
            </a:r>
            <a:r>
              <a:rPr lang="en-US" dirty="0" err="1">
                <a:latin typeface="Baskerville Old Face" panose="02020602080505020303" pitchFamily="18" charset="0"/>
              </a:rPr>
              <a:t>struct_size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latin typeface="Baskerville Old Face" panose="02020602080505020303" pitchFamily="18" charset="0"/>
              </a:rPr>
              <a:t>vm_page_t</a:t>
            </a:r>
            <a:r>
              <a:rPr lang="en-US" dirty="0">
                <a:latin typeface="Baskerville Old Face" panose="02020602080505020303" pitchFamily="18" charset="0"/>
              </a:rPr>
              <a:t> *</a:t>
            </a:r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glthread_t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free_block_priority_list_head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;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 </a:t>
            </a:r>
            <a:r>
              <a:rPr lang="en-US" dirty="0" err="1"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latin typeface="Baskerville Old Face" panose="02020602080505020303" pitchFamily="18" charset="0"/>
              </a:rPr>
              <a:t>;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CE1BA-BEBA-40A4-B5E7-64CE734CC848}"/>
              </a:ext>
            </a:extLst>
          </p:cNvPr>
          <p:cNvSpPr txBox="1"/>
          <p:nvPr/>
        </p:nvSpPr>
        <p:spPr>
          <a:xfrm>
            <a:off x="472273" y="5262857"/>
            <a:ext cx="655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Initialization : 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init_glthread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 (&amp;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-&gt;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priority_thread_glue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8DECF-39F8-47D1-9CDA-5BB24C73BCBB}"/>
              </a:ext>
            </a:extLst>
          </p:cNvPr>
          <p:cNvSpPr txBox="1"/>
          <p:nvPr/>
        </p:nvSpPr>
        <p:spPr>
          <a:xfrm>
            <a:off x="7566640" y="4235247"/>
            <a:ext cx="3441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Initialization :</a:t>
            </a:r>
          </a:p>
          <a:p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   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init_glthread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(&amp;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-&gt;\</a:t>
            </a:r>
          </a:p>
          <a:p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	</a:t>
            </a:r>
            <a:r>
              <a:rPr lang="en-US" dirty="0" err="1">
                <a:solidFill>
                  <a:srgbClr val="FC16CB"/>
                </a:solidFill>
                <a:latin typeface="Baskerville Old Face" panose="02020602080505020303" pitchFamily="18" charset="0"/>
              </a:rPr>
              <a:t>free_block_priority_list_head</a:t>
            </a:r>
            <a:r>
              <a:rPr lang="en-US" dirty="0">
                <a:solidFill>
                  <a:srgbClr val="FC16CB"/>
                </a:solidFill>
                <a:latin typeface="Baskerville Old Face" panose="02020602080505020303" pitchFamily="18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1AB0E-AB5E-49CD-A263-D6FCBCCF7769}"/>
              </a:ext>
            </a:extLst>
          </p:cNvPr>
          <p:cNvSpPr txBox="1"/>
          <p:nvPr/>
        </p:nvSpPr>
        <p:spPr>
          <a:xfrm>
            <a:off x="588115" y="1372302"/>
            <a:ext cx="1833539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8040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834576" y="2866911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3845884" y="1835779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4985044" y="183577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238888" y="1835779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368320" y="183577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852323" y="3978408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1785705" y="2847455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3845884" y="185207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011581" y="185789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001853" y="2233605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238888" y="346944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238888" y="384515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236074" y="222293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140290" y="428863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238739" y="429659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520532" y="431415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618981" y="431238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4977150" y="388049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367296" y="388049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3863931" y="387330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70157-F059-4A8B-A77C-FFEEC40EDE52}"/>
              </a:ext>
            </a:extLst>
          </p:cNvPr>
          <p:cNvSpPr txBox="1"/>
          <p:nvPr/>
        </p:nvSpPr>
        <p:spPr>
          <a:xfrm>
            <a:off x="4072075" y="28693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9251A-D95C-4D52-A407-B2E2C0F2A38F}"/>
              </a:ext>
            </a:extLst>
          </p:cNvPr>
          <p:cNvSpPr txBox="1"/>
          <p:nvPr/>
        </p:nvSpPr>
        <p:spPr>
          <a:xfrm>
            <a:off x="5171581" y="296640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8DC19-DCE0-4B51-B335-B63053ABB147}"/>
              </a:ext>
            </a:extLst>
          </p:cNvPr>
          <p:cNvSpPr txBox="1"/>
          <p:nvPr/>
        </p:nvSpPr>
        <p:spPr>
          <a:xfrm>
            <a:off x="6395993" y="2894542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CDBFD-2F7F-4631-A112-25DB1D7DDAF7}"/>
              </a:ext>
            </a:extLst>
          </p:cNvPr>
          <p:cNvSpPr txBox="1"/>
          <p:nvPr/>
        </p:nvSpPr>
        <p:spPr>
          <a:xfrm>
            <a:off x="7564479" y="274933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6CA307-0447-40CE-9F67-246D3862134C}"/>
              </a:ext>
            </a:extLst>
          </p:cNvPr>
          <p:cNvSpPr txBox="1"/>
          <p:nvPr/>
        </p:nvSpPr>
        <p:spPr>
          <a:xfrm>
            <a:off x="6498727" y="183577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1770650" y="4301052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6B0F8-43E9-4B9C-B44E-5533FA784E03}"/>
              </a:ext>
            </a:extLst>
          </p:cNvPr>
          <p:cNvSpPr txBox="1"/>
          <p:nvPr/>
        </p:nvSpPr>
        <p:spPr>
          <a:xfrm>
            <a:off x="3247133" y="482047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10C554-8E29-4343-A136-6BF0452415B9}"/>
              </a:ext>
            </a:extLst>
          </p:cNvPr>
          <p:cNvSpPr txBox="1"/>
          <p:nvPr/>
        </p:nvSpPr>
        <p:spPr>
          <a:xfrm>
            <a:off x="4407132" y="4811482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EE2B82-EC78-4048-821A-6C780232C151}"/>
              </a:ext>
            </a:extLst>
          </p:cNvPr>
          <p:cNvSpPr txBox="1"/>
          <p:nvPr/>
        </p:nvSpPr>
        <p:spPr>
          <a:xfrm>
            <a:off x="5729747" y="4820471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CBD76-28B5-444E-B761-319A2228C13D}"/>
              </a:ext>
            </a:extLst>
          </p:cNvPr>
          <p:cNvSpPr txBox="1"/>
          <p:nvPr/>
        </p:nvSpPr>
        <p:spPr>
          <a:xfrm>
            <a:off x="6994461" y="4830938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0D2426-90BB-4AB7-9E5C-E0E08A450829}"/>
              </a:ext>
            </a:extLst>
          </p:cNvPr>
          <p:cNvSpPr txBox="1"/>
          <p:nvPr/>
        </p:nvSpPr>
        <p:spPr>
          <a:xfrm>
            <a:off x="8413747" y="4821210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C56E1-73E8-475C-A419-390A8C67899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852079" y="4996148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D854B2-45E7-45CF-92D9-E9F93AB56597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4973192" y="5005137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3C1245-DBBF-4688-94B4-5F9FA1D3F24A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6287913" y="5005137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AFA7DC4-8B7C-49D7-A19E-306AF8A07A7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563953" y="4992636"/>
            <a:ext cx="849794" cy="13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B90C9-437D-45AA-BFE2-F39865073F77}"/>
              </a:ext>
            </a:extLst>
          </p:cNvPr>
          <p:cNvSpPr txBox="1"/>
          <p:nvPr/>
        </p:nvSpPr>
        <p:spPr>
          <a:xfrm>
            <a:off x="4718302" y="5171184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C54EC2-E5FB-4496-9224-6B8501F8C31E}"/>
              </a:ext>
            </a:extLst>
          </p:cNvPr>
          <p:cNvSpPr/>
          <p:nvPr/>
        </p:nvSpPr>
        <p:spPr>
          <a:xfrm>
            <a:off x="7367129" y="349052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E2EC1B-12F0-4251-A4B7-DC3F051CBD6C}"/>
              </a:ext>
            </a:extLst>
          </p:cNvPr>
          <p:cNvCxnSpPr>
            <a:cxnSpLocks/>
          </p:cNvCxnSpPr>
          <p:nvPr/>
        </p:nvCxnSpPr>
        <p:spPr>
          <a:xfrm>
            <a:off x="3852079" y="4984939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59A10D1-1295-4E13-B94A-926C8F0CF96A}"/>
              </a:ext>
            </a:extLst>
          </p:cNvPr>
          <p:cNvSpPr txBox="1"/>
          <p:nvPr/>
        </p:nvSpPr>
        <p:spPr>
          <a:xfrm>
            <a:off x="194553" y="637085"/>
            <a:ext cx="323931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Free Data Block Management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407132" y="405436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5713734" y="4054367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006768" y="406354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245A187-8326-4ED5-AA5C-D8C3B8D276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137974" y="301810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>
            <a:off x="332375" y="4962226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free_block_priority_list_head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2644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5DE1D-1E90-457C-94C5-BED0698FA346}"/>
              </a:ext>
            </a:extLst>
          </p:cNvPr>
          <p:cNvSpPr txBox="1"/>
          <p:nvPr/>
        </p:nvSpPr>
        <p:spPr>
          <a:xfrm>
            <a:off x="6328100" y="2597078"/>
            <a:ext cx="5070619" cy="3416320"/>
          </a:xfrm>
          <a:prstGeom prst="rect">
            <a:avLst/>
          </a:prstGeom>
          <a:noFill/>
          <a:ln>
            <a:solidFill>
              <a:srgbClr val="FF99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mm.c</a:t>
            </a:r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/*Free block Data Comparison </a:t>
            </a:r>
            <a:r>
              <a:rPr lang="en-US" dirty="0" err="1">
                <a:latin typeface="Baskerville Old Face" panose="02020602080505020303" pitchFamily="18" charset="0"/>
              </a:rPr>
              <a:t>Fn</a:t>
            </a:r>
            <a:r>
              <a:rPr lang="en-US" dirty="0">
                <a:latin typeface="Baskerville Old Face" panose="02020602080505020303" pitchFamily="18" charset="0"/>
              </a:rPr>
              <a:t> :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Return -1 : if _block_meta_data1 block size is greater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Return 1 : if _block_meta_data2  block size is greater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Return 0 : if block sizes are equal */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static int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free_blocks_comparison_function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void *_block_meta_data1,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void *_block_meta_data2) ;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CD2F6-666B-4AA8-9778-077E42918390}"/>
              </a:ext>
            </a:extLst>
          </p:cNvPr>
          <p:cNvSpPr txBox="1"/>
          <p:nvPr/>
        </p:nvSpPr>
        <p:spPr>
          <a:xfrm>
            <a:off x="353121" y="2184047"/>
            <a:ext cx="5032147" cy="2585323"/>
          </a:xfrm>
          <a:prstGeom prst="rect">
            <a:avLst/>
          </a:prstGeom>
          <a:noFill/>
          <a:ln>
            <a:solidFill>
              <a:srgbClr val="FF99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mm.c</a:t>
            </a:r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/*Add a given free meta block of Free data block to a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Priority Queue of a given Page family*/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static void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mm_add_free_block_meta_data_to_free_block_list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</a:t>
            </a:r>
            <a:r>
              <a:rPr lang="en-US" dirty="0" err="1"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latin typeface="Baskerville Old Face" panose="02020602080505020303" pitchFamily="18" charset="0"/>
              </a:rPr>
              <a:t> *</a:t>
            </a:r>
            <a:r>
              <a:rPr lang="en-US" dirty="0" err="1"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latin typeface="Baskerville Old Face" panose="02020602080505020303" pitchFamily="18" charset="0"/>
              </a:rPr>
              <a:t>,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 *</a:t>
            </a:r>
            <a:r>
              <a:rPr lang="en-US" dirty="0" err="1">
                <a:latin typeface="Baskerville Old Face" panose="02020602080505020303" pitchFamily="18" charset="0"/>
              </a:rPr>
              <a:t>free_block</a:t>
            </a:r>
            <a:r>
              <a:rPr lang="en-US" dirty="0">
                <a:latin typeface="Baskerville Old Face" panose="02020602080505020303" pitchFamily="18" charset="0"/>
              </a:rPr>
              <a:t>);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59BA0-4A60-45B1-9ED2-9BBB049C58FF}"/>
              </a:ext>
            </a:extLst>
          </p:cNvPr>
          <p:cNvSpPr txBox="1"/>
          <p:nvPr/>
        </p:nvSpPr>
        <p:spPr>
          <a:xfrm>
            <a:off x="588115" y="1372302"/>
            <a:ext cx="3481467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Insertion into Priority Queue</a:t>
            </a:r>
          </a:p>
        </p:txBody>
      </p:sp>
    </p:spTree>
    <p:extLst>
      <p:ext uri="{BB962C8B-B14F-4D97-AF65-F5344CB8AC3E}">
        <p14:creationId xmlns:p14="http://schemas.microsoft.com/office/powerpoint/2010/main" val="20407458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5DE1D-1E90-457C-94C5-BED0698FA346}"/>
              </a:ext>
            </a:extLst>
          </p:cNvPr>
          <p:cNvSpPr txBox="1"/>
          <p:nvPr/>
        </p:nvSpPr>
        <p:spPr>
          <a:xfrm>
            <a:off x="687696" y="2269820"/>
            <a:ext cx="5708614" cy="1754326"/>
          </a:xfrm>
          <a:prstGeom prst="rect">
            <a:avLst/>
          </a:prstGeom>
          <a:noFill/>
          <a:ln>
            <a:solidFill>
              <a:srgbClr val="FF99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Use :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/*Given a pointer to free Meta block of a Free data block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Which is to be removed from the priority Queue*/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 err="1">
                <a:latin typeface="Baskerville Old Face" panose="02020602080505020303" pitchFamily="18" charset="0"/>
              </a:rPr>
              <a:t>remove_glthread</a:t>
            </a:r>
            <a:r>
              <a:rPr lang="en-US" dirty="0">
                <a:latin typeface="Baskerville Old Face" panose="02020602080505020303" pitchFamily="18" charset="0"/>
              </a:rPr>
              <a:t>(&amp;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-&gt;</a:t>
            </a:r>
            <a:r>
              <a:rPr lang="en-US" dirty="0" err="1">
                <a:latin typeface="Baskerville Old Face" panose="02020602080505020303" pitchFamily="18" charset="0"/>
              </a:rPr>
              <a:t>priority_thread_glue</a:t>
            </a:r>
            <a:r>
              <a:rPr lang="en-US" dirty="0"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C481B-B54A-42DE-949D-C981FDFD30B2}"/>
              </a:ext>
            </a:extLst>
          </p:cNvPr>
          <p:cNvSpPr txBox="1"/>
          <p:nvPr/>
        </p:nvSpPr>
        <p:spPr>
          <a:xfrm>
            <a:off x="588115" y="1372302"/>
            <a:ext cx="3481467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Deletion from Priority Queue</a:t>
            </a:r>
          </a:p>
        </p:txBody>
      </p:sp>
    </p:spTree>
    <p:extLst>
      <p:ext uri="{BB962C8B-B14F-4D97-AF65-F5344CB8AC3E}">
        <p14:creationId xmlns:p14="http://schemas.microsoft.com/office/powerpoint/2010/main" val="328751268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5DE1D-1E90-457C-94C5-BED0698FA346}"/>
              </a:ext>
            </a:extLst>
          </p:cNvPr>
          <p:cNvSpPr txBox="1"/>
          <p:nvPr/>
        </p:nvSpPr>
        <p:spPr>
          <a:xfrm>
            <a:off x="687696" y="2269820"/>
            <a:ext cx="7306808" cy="2585323"/>
          </a:xfrm>
          <a:prstGeom prst="rect">
            <a:avLst/>
          </a:prstGeom>
          <a:noFill/>
          <a:ln>
            <a:solidFill>
              <a:srgbClr val="FF99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Use :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/*Given a pointer to a Meta block of a data block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Which is to be checked if the data block is in priority Queue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Or not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Return 1 : if block meta data is not present, else return 0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*/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IS_GLTHREAD_LIST_EMPTY(&amp;</a:t>
            </a:r>
            <a:r>
              <a:rPr lang="en-US" dirty="0" err="1">
                <a:latin typeface="Baskerville Old Face" panose="02020602080505020303" pitchFamily="18" charset="0"/>
              </a:rPr>
              <a:t>block_meta_data</a:t>
            </a:r>
            <a:r>
              <a:rPr lang="en-US" dirty="0">
                <a:latin typeface="Baskerville Old Face" panose="02020602080505020303" pitchFamily="18" charset="0"/>
              </a:rPr>
              <a:t>-&gt;</a:t>
            </a:r>
            <a:r>
              <a:rPr lang="en-US" dirty="0" err="1">
                <a:latin typeface="Baskerville Old Face" panose="02020602080505020303" pitchFamily="18" charset="0"/>
              </a:rPr>
              <a:t>priority_thread_glue</a:t>
            </a:r>
            <a:r>
              <a:rPr lang="en-US" dirty="0"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5C73F-FB58-44E5-AA28-CE7FC9273724}"/>
              </a:ext>
            </a:extLst>
          </p:cNvPr>
          <p:cNvSpPr txBox="1"/>
          <p:nvPr/>
        </p:nvSpPr>
        <p:spPr>
          <a:xfrm>
            <a:off x="588116" y="1372302"/>
            <a:ext cx="1833538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Checking </a:t>
            </a:r>
          </a:p>
        </p:txBody>
      </p:sp>
    </p:spTree>
    <p:extLst>
      <p:ext uri="{BB962C8B-B14F-4D97-AF65-F5344CB8AC3E}">
        <p14:creationId xmlns:p14="http://schemas.microsoft.com/office/powerpoint/2010/main" val="364822457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5C73F-FB58-44E5-AA28-CE7FC9273724}"/>
              </a:ext>
            </a:extLst>
          </p:cNvPr>
          <p:cNvSpPr txBox="1"/>
          <p:nvPr/>
        </p:nvSpPr>
        <p:spPr>
          <a:xfrm>
            <a:off x="588116" y="1372302"/>
            <a:ext cx="661655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API to get the biggest free data block from priority 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98810-2DCF-4449-9B3E-C5F4D73D04F5}"/>
              </a:ext>
            </a:extLst>
          </p:cNvPr>
          <p:cNvSpPr txBox="1"/>
          <p:nvPr/>
        </p:nvSpPr>
        <p:spPr>
          <a:xfrm>
            <a:off x="693337" y="2376786"/>
            <a:ext cx="5043368" cy="2308324"/>
          </a:xfrm>
          <a:prstGeom prst="rect">
            <a:avLst/>
          </a:prstGeom>
          <a:noFill/>
          <a:ln>
            <a:solidFill>
              <a:srgbClr val="FC16CB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mm.h</a:t>
            </a:r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/*Get the biggest free data block from priority Queue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Of a given page family*/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static inline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 *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mm_get_biggest_free_block_page_family</a:t>
            </a:r>
            <a:r>
              <a:rPr lang="en-US" dirty="0">
                <a:latin typeface="Baskerville Old Face" panose="02020602080505020303" pitchFamily="18" charset="0"/>
              </a:rPr>
              <a:t> 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</a:t>
            </a:r>
            <a:r>
              <a:rPr lang="en-US" dirty="0" err="1">
                <a:latin typeface="Baskerville Old Face" panose="02020602080505020303" pitchFamily="18" charset="0"/>
              </a:rPr>
              <a:t>vm_page_family_t</a:t>
            </a:r>
            <a:r>
              <a:rPr lang="en-US" dirty="0">
                <a:latin typeface="Baskerville Old Face" panose="02020602080505020303" pitchFamily="18" charset="0"/>
              </a:rPr>
              <a:t> *</a:t>
            </a:r>
            <a:r>
              <a:rPr lang="en-US" dirty="0" err="1">
                <a:latin typeface="Baskerville Old Face" panose="02020602080505020303" pitchFamily="18" charset="0"/>
              </a:rPr>
              <a:t>vm_page_family</a:t>
            </a:r>
            <a:r>
              <a:rPr lang="en-US" dirty="0">
                <a:latin typeface="Baskerville Old Face" panose="02020602080505020303" pitchFamily="18" charset="0"/>
              </a:rPr>
              <a:t> 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657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C0EFA-A004-4112-BB3D-36760621FC69}"/>
              </a:ext>
            </a:extLst>
          </p:cNvPr>
          <p:cNvSpPr txBox="1"/>
          <p:nvPr/>
        </p:nvSpPr>
        <p:spPr>
          <a:xfrm>
            <a:off x="194553" y="606941"/>
            <a:ext cx="422672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Data Structure changes and New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6F2C1-EC5F-44F8-B451-CBD53A0E7C30}"/>
              </a:ext>
            </a:extLst>
          </p:cNvPr>
          <p:cNvSpPr txBox="1"/>
          <p:nvPr/>
        </p:nvSpPr>
        <p:spPr>
          <a:xfrm>
            <a:off x="0" y="0"/>
            <a:ext cx="739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6 -&gt; Free Data block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5C73F-FB58-44E5-AA28-CE7FC9273724}"/>
              </a:ext>
            </a:extLst>
          </p:cNvPr>
          <p:cNvSpPr txBox="1"/>
          <p:nvPr/>
        </p:nvSpPr>
        <p:spPr>
          <a:xfrm>
            <a:off x="588116" y="1372302"/>
            <a:ext cx="3300596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Other Minor Code Changes</a:t>
            </a:r>
          </a:p>
        </p:txBody>
      </p:sp>
    </p:spTree>
    <p:extLst>
      <p:ext uri="{BB962C8B-B14F-4D97-AF65-F5344CB8AC3E}">
        <p14:creationId xmlns:p14="http://schemas.microsoft.com/office/powerpoint/2010/main" val="40646506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2606274" y="1379051"/>
            <a:ext cx="6688049" cy="32316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Phase 7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Implementing </a:t>
            </a:r>
          </a:p>
          <a:p>
            <a:pPr algn="ctr"/>
            <a:r>
              <a:rPr lang="en-US" sz="7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xmalloc</a:t>
            </a:r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 and </a:t>
            </a:r>
            <a:r>
              <a:rPr lang="en-US" sz="7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xfree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99FF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9904-0F34-496D-8FCD-51D9AAE080C1}"/>
              </a:ext>
            </a:extLst>
          </p:cNvPr>
          <p:cNvSpPr txBox="1"/>
          <p:nvPr/>
        </p:nvSpPr>
        <p:spPr>
          <a:xfrm>
            <a:off x="1520650" y="4874638"/>
            <a:ext cx="9502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Baskerville Old Face" panose="02020602080505020303" pitchFamily="18" charset="0"/>
              </a:rPr>
              <a:t>Implementing the interface for Memory Allocation and De-Allocations</a:t>
            </a:r>
          </a:p>
          <a:p>
            <a:r>
              <a:rPr lang="en-US" sz="2400" i="1" dirty="0">
                <a:solidFill>
                  <a:srgbClr val="FFFF00"/>
                </a:solidFill>
                <a:latin typeface="Baskerville Old Face" panose="02020602080505020303" pitchFamily="18" charset="0"/>
              </a:rPr>
              <a:t>	Final Push !!</a:t>
            </a:r>
          </a:p>
        </p:txBody>
      </p:sp>
    </p:spTree>
    <p:extLst>
      <p:ext uri="{BB962C8B-B14F-4D97-AF65-F5344CB8AC3E}">
        <p14:creationId xmlns:p14="http://schemas.microsoft.com/office/powerpoint/2010/main" val="36740751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6AA06D-F1D0-4633-81BF-B718E5F5E877}"/>
              </a:ext>
            </a:extLst>
          </p:cNvPr>
          <p:cNvSpPr/>
          <p:nvPr/>
        </p:nvSpPr>
        <p:spPr>
          <a:xfrm>
            <a:off x="821356" y="4835055"/>
            <a:ext cx="1483543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MMU</a:t>
            </a:r>
          </a:p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(Virtual Address Space of a User space Process)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F6DF-AA7A-4EE3-8287-1829A2CDF04A}"/>
              </a:ext>
            </a:extLst>
          </p:cNvPr>
          <p:cNvSpPr/>
          <p:nvPr/>
        </p:nvSpPr>
        <p:spPr>
          <a:xfrm>
            <a:off x="821356" y="565658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glibC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malloc/free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47549-4FE5-4923-9FE9-DCDD725E5A83}"/>
              </a:ext>
            </a:extLst>
          </p:cNvPr>
          <p:cNvSpPr/>
          <p:nvPr/>
        </p:nvSpPr>
        <p:spPr>
          <a:xfrm>
            <a:off x="5176105" y="565658"/>
            <a:ext cx="1483543" cy="1798572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Space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4EC341D-23BF-4A7E-B1F0-60F5B745D8FC}"/>
              </a:ext>
            </a:extLst>
          </p:cNvPr>
          <p:cNvSpPr/>
          <p:nvPr/>
        </p:nvSpPr>
        <p:spPr>
          <a:xfrm rot="10800000">
            <a:off x="2525393" y="943992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E59D7-89D0-4ACF-BE6D-DE98FC2D6E08}"/>
              </a:ext>
            </a:extLst>
          </p:cNvPr>
          <p:cNvSpPr txBox="1"/>
          <p:nvPr/>
        </p:nvSpPr>
        <p:spPr>
          <a:xfrm>
            <a:off x="2914795" y="691395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malloc(X Bytes)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3DE99C-E254-4817-BD49-254E362C581C}"/>
              </a:ext>
            </a:extLst>
          </p:cNvPr>
          <p:cNvSpPr/>
          <p:nvPr/>
        </p:nvSpPr>
        <p:spPr>
          <a:xfrm>
            <a:off x="3292182" y="1464944"/>
            <a:ext cx="1483543" cy="330741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000000000000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0C7BBC-943A-434D-B21B-4A4FBFD0634F}"/>
              </a:ext>
            </a:extLst>
          </p:cNvPr>
          <p:cNvSpPr/>
          <p:nvPr/>
        </p:nvSpPr>
        <p:spPr>
          <a:xfrm>
            <a:off x="2544849" y="1498144"/>
            <a:ext cx="616085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6D1529-A223-49DE-82E0-579CB940DC52}"/>
              </a:ext>
            </a:extLst>
          </p:cNvPr>
          <p:cNvSpPr/>
          <p:nvPr/>
        </p:nvSpPr>
        <p:spPr>
          <a:xfrm rot="5400000">
            <a:off x="29400" y="3434272"/>
            <a:ext cx="2250332" cy="3307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3E13-2D2C-4389-8910-EE3DDDB5B72F}"/>
              </a:ext>
            </a:extLst>
          </p:cNvPr>
          <p:cNvSpPr txBox="1"/>
          <p:nvPr/>
        </p:nvSpPr>
        <p:spPr>
          <a:xfrm>
            <a:off x="310729" y="2889524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dirty="0">
              <a:latin typeface="Baskerville Old Face" panose="02020602080505020303" pitchFamily="18" charset="0"/>
            </a:endParaRPr>
          </a:p>
          <a:p>
            <a:pPr algn="r"/>
            <a:r>
              <a:rPr lang="en-US" dirty="0" err="1">
                <a:latin typeface="Baskerville Old Face" panose="02020602080505020303" pitchFamily="18" charset="0"/>
              </a:rPr>
              <a:t>mmap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104A44-1450-4D2E-87EA-0CC4A85FE2A3}"/>
              </a:ext>
            </a:extLst>
          </p:cNvPr>
          <p:cNvSpPr/>
          <p:nvPr/>
        </p:nvSpPr>
        <p:spPr>
          <a:xfrm>
            <a:off x="1339393" y="2883245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F285031-E097-4EDA-9942-DFB3E4E1B057}"/>
              </a:ext>
            </a:extLst>
          </p:cNvPr>
          <p:cNvSpPr/>
          <p:nvPr/>
        </p:nvSpPr>
        <p:spPr>
          <a:xfrm rot="16200000">
            <a:off x="1156926" y="3820947"/>
            <a:ext cx="1308370" cy="33074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6D8297-8024-45E2-BFDF-775FD3066CA2}"/>
              </a:ext>
            </a:extLst>
          </p:cNvPr>
          <p:cNvSpPr/>
          <p:nvPr/>
        </p:nvSpPr>
        <p:spPr>
          <a:xfrm>
            <a:off x="811363" y="579151"/>
            <a:ext cx="1483543" cy="1798572"/>
          </a:xfrm>
          <a:prstGeom prst="rect">
            <a:avLst/>
          </a:prstGeom>
          <a:solidFill>
            <a:srgbClr val="FF99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own Memory Manager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4E4C50-27AB-4CEC-8B67-323ABBDB6E7C}"/>
              </a:ext>
            </a:extLst>
          </p:cNvPr>
          <p:cNvSpPr txBox="1"/>
          <p:nvPr/>
        </p:nvSpPr>
        <p:spPr>
          <a:xfrm>
            <a:off x="2822196" y="69340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(X Bytes)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4CAFA-76C9-44D2-862E-E1FB8E14A3D7}"/>
              </a:ext>
            </a:extLst>
          </p:cNvPr>
          <p:cNvSpPr txBox="1"/>
          <p:nvPr/>
        </p:nvSpPr>
        <p:spPr>
          <a:xfrm>
            <a:off x="3599378" y="1795685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X bytes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7AD04-B875-48B8-A9C2-26F5957CEF37}"/>
              </a:ext>
            </a:extLst>
          </p:cNvPr>
          <p:cNvSpPr txBox="1"/>
          <p:nvPr/>
        </p:nvSpPr>
        <p:spPr>
          <a:xfrm>
            <a:off x="0" y="0"/>
            <a:ext cx="589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Component Interaction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B8D4BB-20D3-4B74-874A-D9C20A018EC2}"/>
              </a:ext>
            </a:extLst>
          </p:cNvPr>
          <p:cNvSpPr/>
          <p:nvPr/>
        </p:nvSpPr>
        <p:spPr>
          <a:xfrm>
            <a:off x="1082094" y="1894798"/>
            <a:ext cx="1000107" cy="32458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VM Page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9246D-7BF1-4DDE-B062-EEB5A84F1C40}"/>
              </a:ext>
            </a:extLst>
          </p:cNvPr>
          <p:cNvSpPr/>
          <p:nvPr/>
        </p:nvSpPr>
        <p:spPr>
          <a:xfrm>
            <a:off x="4756607" y="2614816"/>
            <a:ext cx="60960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This phase is the last phase of the core development of our LMM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After completion of this phase, we will have our functionally complete memory manager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+ Some limitations –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how to handle memory allocation for objects whose size exceeds Data VM page size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Baskerville Old Face" panose="02020602080505020303" pitchFamily="18" charset="0"/>
              </a:rPr>
              <a:t>In this phase, We will now implement the APIs which are actually responsible for memory (De)allocation of objects</a:t>
            </a:r>
          </a:p>
          <a:p>
            <a:r>
              <a:rPr lang="en-US" sz="1600" dirty="0">
                <a:latin typeface="Baskerville Old Face" panose="02020602080505020303" pitchFamily="18" charset="0"/>
              </a:rPr>
              <a:t>	as requested by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8026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200336" y="14808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211644" y="449741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350804" y="44974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604648" y="449741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734080" y="44974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218083" y="2592370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151465" y="1461417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211644" y="46603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377341" y="47186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367613" y="84756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604648" y="208341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604648" y="245911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601834" y="83689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506050" y="290260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604499" y="291055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886292" y="292811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984741" y="292634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342910" y="249446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733056" y="2494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229691" y="248727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70157-F059-4A8B-A77C-FFEEC40EDE52}"/>
              </a:ext>
            </a:extLst>
          </p:cNvPr>
          <p:cNvSpPr txBox="1"/>
          <p:nvPr/>
        </p:nvSpPr>
        <p:spPr>
          <a:xfrm>
            <a:off x="4437835" y="14833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9251A-D95C-4D52-A407-B2E2C0F2A38F}"/>
              </a:ext>
            </a:extLst>
          </p:cNvPr>
          <p:cNvSpPr txBox="1"/>
          <p:nvPr/>
        </p:nvSpPr>
        <p:spPr>
          <a:xfrm>
            <a:off x="5537341" y="158036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8DC19-DCE0-4B51-B335-B63053ABB147}"/>
              </a:ext>
            </a:extLst>
          </p:cNvPr>
          <p:cNvSpPr txBox="1"/>
          <p:nvPr/>
        </p:nvSpPr>
        <p:spPr>
          <a:xfrm>
            <a:off x="6761753" y="1508504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CDBFD-2F7F-4631-A112-25DB1D7DDAF7}"/>
              </a:ext>
            </a:extLst>
          </p:cNvPr>
          <p:cNvSpPr txBox="1"/>
          <p:nvPr/>
        </p:nvSpPr>
        <p:spPr>
          <a:xfrm>
            <a:off x="7930239" y="136329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6CA307-0447-40CE-9F67-246D3862134C}"/>
              </a:ext>
            </a:extLst>
          </p:cNvPr>
          <p:cNvSpPr txBox="1"/>
          <p:nvPr/>
        </p:nvSpPr>
        <p:spPr>
          <a:xfrm>
            <a:off x="6864487" y="44974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2136410" y="2915014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6B0F8-43E9-4B9C-B44E-5533FA784E03}"/>
              </a:ext>
            </a:extLst>
          </p:cNvPr>
          <p:cNvSpPr txBox="1"/>
          <p:nvPr/>
        </p:nvSpPr>
        <p:spPr>
          <a:xfrm>
            <a:off x="3612893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10C554-8E29-4343-A136-6BF0452415B9}"/>
              </a:ext>
            </a:extLst>
          </p:cNvPr>
          <p:cNvSpPr txBox="1"/>
          <p:nvPr/>
        </p:nvSpPr>
        <p:spPr>
          <a:xfrm>
            <a:off x="4772892" y="3425444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EE2B82-EC78-4048-821A-6C780232C151}"/>
              </a:ext>
            </a:extLst>
          </p:cNvPr>
          <p:cNvSpPr txBox="1"/>
          <p:nvPr/>
        </p:nvSpPr>
        <p:spPr>
          <a:xfrm>
            <a:off x="6095507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CBD76-28B5-444E-B761-319A2228C13D}"/>
              </a:ext>
            </a:extLst>
          </p:cNvPr>
          <p:cNvSpPr txBox="1"/>
          <p:nvPr/>
        </p:nvSpPr>
        <p:spPr>
          <a:xfrm>
            <a:off x="7360221" y="3444900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0D2426-90BB-4AB7-9E5C-E0E08A450829}"/>
              </a:ext>
            </a:extLst>
          </p:cNvPr>
          <p:cNvSpPr txBox="1"/>
          <p:nvPr/>
        </p:nvSpPr>
        <p:spPr>
          <a:xfrm>
            <a:off x="8779507" y="3435172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C56E1-73E8-475C-A419-390A8C67899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4217839" y="3610110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D854B2-45E7-45CF-92D9-E9F93AB56597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5338952" y="3619099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3C1245-DBBF-4688-94B4-5F9FA1D3F24A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6653673" y="3619099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AFA7DC4-8B7C-49D7-A19E-306AF8A07A7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929713" y="3606598"/>
            <a:ext cx="849794" cy="13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B90C9-437D-45AA-BFE2-F39865073F77}"/>
              </a:ext>
            </a:extLst>
          </p:cNvPr>
          <p:cNvSpPr txBox="1"/>
          <p:nvPr/>
        </p:nvSpPr>
        <p:spPr>
          <a:xfrm>
            <a:off x="5084062" y="3785146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C54EC2-E5FB-4496-9224-6B8501F8C31E}"/>
              </a:ext>
            </a:extLst>
          </p:cNvPr>
          <p:cNvSpPr/>
          <p:nvPr/>
        </p:nvSpPr>
        <p:spPr>
          <a:xfrm>
            <a:off x="7732889" y="210448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E2EC1B-12F0-4251-A4B7-DC3F051CBD6C}"/>
              </a:ext>
            </a:extLst>
          </p:cNvPr>
          <p:cNvCxnSpPr>
            <a:cxnSpLocks/>
          </p:cNvCxnSpPr>
          <p:nvPr/>
        </p:nvCxnSpPr>
        <p:spPr>
          <a:xfrm>
            <a:off x="4217839" y="3598901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772892" y="266832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6079494" y="266832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372528" y="267750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503734" y="163207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 rot="1057733">
            <a:off x="1671913" y="3468098"/>
            <a:ext cx="1970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Baskerville Old Face" panose="02020602080505020303" pitchFamily="18" charset="0"/>
              </a:rPr>
              <a:t>free_block_priority_list_head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5CF26-13AF-4E33-9F3A-D99CD1159BDD}"/>
              </a:ext>
            </a:extLst>
          </p:cNvPr>
          <p:cNvSpPr/>
          <p:nvPr/>
        </p:nvSpPr>
        <p:spPr>
          <a:xfrm>
            <a:off x="9856041" y="898878"/>
            <a:ext cx="1951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xcalloc</a:t>
            </a:r>
            <a:r>
              <a:rPr lang="en-US" dirty="0">
                <a:latin typeface="Baskerville Old Face" panose="02020602080505020303" pitchFamily="18" charset="0"/>
              </a:rPr>
              <a:t>(“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”, 1 ) 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0D76D23-C152-4F58-9654-3AAF6BD27668}"/>
              </a:ext>
            </a:extLst>
          </p:cNvPr>
          <p:cNvSpPr/>
          <p:nvPr/>
        </p:nvSpPr>
        <p:spPr>
          <a:xfrm>
            <a:off x="168116" y="3971984"/>
            <a:ext cx="3123724" cy="132483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*</a:t>
            </a:r>
            <a:r>
              <a:rPr lang="en-US" sz="1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</a:t>
            </a:r>
          </a:p>
          <a:p>
            <a:pPr algn="ctr"/>
            <a:r>
              <a:rPr lang="en-US" sz="1400" dirty="0" err="1">
                <a:solidFill>
                  <a:srgbClr val="FF99FF"/>
                </a:solidFill>
                <a:latin typeface="Baskerville Old Face" panose="02020602080505020303" pitchFamily="18" charset="0"/>
              </a:rPr>
              <a:t>lookup_page_family_by_name</a:t>
            </a:r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3ACDDAEC-95E3-44DB-827F-5E139F625D50}"/>
              </a:ext>
            </a:extLst>
          </p:cNvPr>
          <p:cNvSpPr/>
          <p:nvPr/>
        </p:nvSpPr>
        <p:spPr>
          <a:xfrm rot="12793634">
            <a:off x="906332" y="3147826"/>
            <a:ext cx="253017" cy="863221"/>
          </a:xfrm>
          <a:prstGeom prst="downArrow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6B93C0-415B-47D2-859D-2D0E8CCB8EFB}"/>
              </a:ext>
            </a:extLst>
          </p:cNvPr>
          <p:cNvSpPr/>
          <p:nvPr/>
        </p:nvSpPr>
        <p:spPr>
          <a:xfrm>
            <a:off x="196109" y="3719556"/>
            <a:ext cx="555053" cy="5005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514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3" grpId="0" animBg="1"/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200336" y="14808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218083" y="2592370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151465" y="1461417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2136410" y="2915014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503734" y="163207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 rot="1057733">
            <a:off x="1671913" y="3468098"/>
            <a:ext cx="1970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Baskerville Old Face" panose="02020602080505020303" pitchFamily="18" charset="0"/>
              </a:rPr>
              <a:t>free_block_priority_list_head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5CF26-13AF-4E33-9F3A-D99CD1159BDD}"/>
              </a:ext>
            </a:extLst>
          </p:cNvPr>
          <p:cNvSpPr/>
          <p:nvPr/>
        </p:nvSpPr>
        <p:spPr>
          <a:xfrm>
            <a:off x="9856041" y="898878"/>
            <a:ext cx="1951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xcalloc</a:t>
            </a:r>
            <a:r>
              <a:rPr lang="en-US" dirty="0">
                <a:latin typeface="Baskerville Old Face" panose="02020602080505020303" pitchFamily="18" charset="0"/>
              </a:rPr>
              <a:t>(“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”, 1 ) 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0D76D23-C152-4F58-9654-3AAF6BD27668}"/>
              </a:ext>
            </a:extLst>
          </p:cNvPr>
          <p:cNvSpPr/>
          <p:nvPr/>
        </p:nvSpPr>
        <p:spPr>
          <a:xfrm>
            <a:off x="168116" y="3971984"/>
            <a:ext cx="3279312" cy="162247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*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</a:t>
            </a:r>
          </a:p>
          <a:p>
            <a:pPr algn="ctr"/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lookup_page_family_by_name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3ACDDAEC-95E3-44DB-827F-5E139F625D50}"/>
              </a:ext>
            </a:extLst>
          </p:cNvPr>
          <p:cNvSpPr/>
          <p:nvPr/>
        </p:nvSpPr>
        <p:spPr>
          <a:xfrm rot="12793634">
            <a:off x="906332" y="3147826"/>
            <a:ext cx="253017" cy="863221"/>
          </a:xfrm>
          <a:prstGeom prst="downArrow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6B93C0-415B-47D2-859D-2D0E8CCB8EFB}"/>
              </a:ext>
            </a:extLst>
          </p:cNvPr>
          <p:cNvSpPr/>
          <p:nvPr/>
        </p:nvSpPr>
        <p:spPr>
          <a:xfrm>
            <a:off x="196109" y="3719556"/>
            <a:ext cx="555053" cy="5005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0A269A-3ECF-421E-9C10-0899FC19AE47}"/>
              </a:ext>
            </a:extLst>
          </p:cNvPr>
          <p:cNvSpPr txBox="1"/>
          <p:nvPr/>
        </p:nvSpPr>
        <p:spPr>
          <a:xfrm>
            <a:off x="3518860" y="3499157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Empty PQ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103DAE-346B-4FFA-905A-80126E74EEDE}"/>
              </a:ext>
            </a:extLst>
          </p:cNvPr>
          <p:cNvSpPr txBox="1"/>
          <p:nvPr/>
        </p:nvSpPr>
        <p:spPr>
          <a:xfrm>
            <a:off x="4103213" y="127675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NULL</a:t>
            </a:r>
          </a:p>
        </p:txBody>
      </p:sp>
      <p:sp>
        <p:nvSpPr>
          <p:cNvPr id="79" name="Cloud 78">
            <a:extLst>
              <a:ext uri="{FF2B5EF4-FFF2-40B4-BE49-F238E27FC236}">
                <a16:creationId xmlns:a16="http://schemas.microsoft.com/office/drawing/2014/main" id="{B946E5C0-6380-4638-A1EC-EFE2AA95F062}"/>
              </a:ext>
            </a:extLst>
          </p:cNvPr>
          <p:cNvSpPr/>
          <p:nvPr/>
        </p:nvSpPr>
        <p:spPr>
          <a:xfrm>
            <a:off x="4166323" y="4634400"/>
            <a:ext cx="3297579" cy="132483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-&gt;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first_page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mm_family_new_page_add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A449931-822B-421F-ACCB-AFF69ADE3053}"/>
              </a:ext>
            </a:extLst>
          </p:cNvPr>
          <p:cNvSpPr/>
          <p:nvPr/>
        </p:nvSpPr>
        <p:spPr>
          <a:xfrm>
            <a:off x="4194317" y="4292868"/>
            <a:ext cx="814647" cy="5896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0D1BFDC-4D6C-4A47-9D1D-28DDB501379B}"/>
              </a:ext>
            </a:extLst>
          </p:cNvPr>
          <p:cNvSpPr/>
          <p:nvPr/>
        </p:nvSpPr>
        <p:spPr>
          <a:xfrm>
            <a:off x="4211644" y="449741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ED97F48-36CA-4A0E-B282-898F7AB5F490}"/>
              </a:ext>
            </a:extLst>
          </p:cNvPr>
          <p:cNvSpPr/>
          <p:nvPr/>
        </p:nvSpPr>
        <p:spPr>
          <a:xfrm>
            <a:off x="4229691" y="2487270"/>
            <a:ext cx="915711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BB14F4-9C65-4FBE-9C02-251013946681}"/>
              </a:ext>
            </a:extLst>
          </p:cNvPr>
          <p:cNvSpPr txBox="1"/>
          <p:nvPr/>
        </p:nvSpPr>
        <p:spPr>
          <a:xfrm>
            <a:off x="4437835" y="14833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9AE7DF2-ED0C-4E0F-B428-CE07485E7E68}"/>
              </a:ext>
            </a:extLst>
          </p:cNvPr>
          <p:cNvSpPr txBox="1"/>
          <p:nvPr/>
        </p:nvSpPr>
        <p:spPr>
          <a:xfrm>
            <a:off x="3612893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505A79A2-542F-401F-9B3D-E3A1BC2A8DB4}"/>
              </a:ext>
            </a:extLst>
          </p:cNvPr>
          <p:cNvSpPr/>
          <p:nvPr/>
        </p:nvSpPr>
        <p:spPr>
          <a:xfrm>
            <a:off x="8306382" y="4481004"/>
            <a:ext cx="3717502" cy="208342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mm_split_free_data_block_for_allocation</a:t>
            </a:r>
            <a:r>
              <a:rPr lang="en-US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free_block_meta_data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req_size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3D8FF31-1148-49AD-9EE0-37F81552F602}"/>
              </a:ext>
            </a:extLst>
          </p:cNvPr>
          <p:cNvSpPr/>
          <p:nvPr/>
        </p:nvSpPr>
        <p:spPr>
          <a:xfrm>
            <a:off x="8284047" y="4292868"/>
            <a:ext cx="814647" cy="5896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160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8" grpId="0"/>
      <p:bldP spid="79" grpId="0" animBg="1"/>
      <p:bldP spid="80" grpId="0" animBg="1"/>
      <p:bldP spid="81" grpId="0" animBg="1"/>
      <p:bldP spid="82" grpId="0" animBg="1"/>
      <p:bldP spid="83" grpId="0"/>
      <p:bldP spid="84" grpId="0" animBg="1"/>
      <p:bldP spid="85" grpId="0" animBg="1"/>
      <p:bldP spid="8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200336" y="14808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218083" y="2592370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151465" y="1461417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2136410" y="2915014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503734" y="163207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 rot="1057733">
            <a:off x="1671913" y="3468098"/>
            <a:ext cx="1970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Baskerville Old Face" panose="02020602080505020303" pitchFamily="18" charset="0"/>
              </a:rPr>
              <a:t>free_block_priority_list_head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5CF26-13AF-4E33-9F3A-D99CD1159BDD}"/>
              </a:ext>
            </a:extLst>
          </p:cNvPr>
          <p:cNvSpPr/>
          <p:nvPr/>
        </p:nvSpPr>
        <p:spPr>
          <a:xfrm>
            <a:off x="9856041" y="898878"/>
            <a:ext cx="1951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xcalloc</a:t>
            </a:r>
            <a:r>
              <a:rPr lang="en-US" dirty="0">
                <a:latin typeface="Baskerville Old Face" panose="02020602080505020303" pitchFamily="18" charset="0"/>
              </a:rPr>
              <a:t>(“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”, 1 ) 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0D76D23-C152-4F58-9654-3AAF6BD27668}"/>
              </a:ext>
            </a:extLst>
          </p:cNvPr>
          <p:cNvSpPr/>
          <p:nvPr/>
        </p:nvSpPr>
        <p:spPr>
          <a:xfrm>
            <a:off x="168116" y="3971984"/>
            <a:ext cx="3279312" cy="162247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*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</a:t>
            </a:r>
          </a:p>
          <a:p>
            <a:pPr algn="ctr"/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lookup_page_family_by_name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3ACDDAEC-95E3-44DB-827F-5E139F625D50}"/>
              </a:ext>
            </a:extLst>
          </p:cNvPr>
          <p:cNvSpPr/>
          <p:nvPr/>
        </p:nvSpPr>
        <p:spPr>
          <a:xfrm rot="12793634">
            <a:off x="906332" y="3147826"/>
            <a:ext cx="253017" cy="863221"/>
          </a:xfrm>
          <a:prstGeom prst="downArrow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6B93C0-415B-47D2-859D-2D0E8CCB8EFB}"/>
              </a:ext>
            </a:extLst>
          </p:cNvPr>
          <p:cNvSpPr/>
          <p:nvPr/>
        </p:nvSpPr>
        <p:spPr>
          <a:xfrm>
            <a:off x="196109" y="3719556"/>
            <a:ext cx="555053" cy="5005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103DAE-346B-4FFA-905A-80126E74EEDE}"/>
              </a:ext>
            </a:extLst>
          </p:cNvPr>
          <p:cNvSpPr txBox="1"/>
          <p:nvPr/>
        </p:nvSpPr>
        <p:spPr>
          <a:xfrm>
            <a:off x="4103213" y="127675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NULL</a:t>
            </a:r>
          </a:p>
        </p:txBody>
      </p:sp>
      <p:sp>
        <p:nvSpPr>
          <p:cNvPr id="79" name="Cloud 78">
            <a:extLst>
              <a:ext uri="{FF2B5EF4-FFF2-40B4-BE49-F238E27FC236}">
                <a16:creationId xmlns:a16="http://schemas.microsoft.com/office/drawing/2014/main" id="{B946E5C0-6380-4638-A1EC-EFE2AA95F062}"/>
              </a:ext>
            </a:extLst>
          </p:cNvPr>
          <p:cNvSpPr/>
          <p:nvPr/>
        </p:nvSpPr>
        <p:spPr>
          <a:xfrm>
            <a:off x="4166323" y="4634400"/>
            <a:ext cx="3297579" cy="132483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-&gt;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first_page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mm_family_new_page_add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A449931-822B-421F-ACCB-AFF69ADE3053}"/>
              </a:ext>
            </a:extLst>
          </p:cNvPr>
          <p:cNvSpPr/>
          <p:nvPr/>
        </p:nvSpPr>
        <p:spPr>
          <a:xfrm>
            <a:off x="4194317" y="4292868"/>
            <a:ext cx="814647" cy="5896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0D1BFDC-4D6C-4A47-9D1D-28DDB501379B}"/>
              </a:ext>
            </a:extLst>
          </p:cNvPr>
          <p:cNvSpPr/>
          <p:nvPr/>
        </p:nvSpPr>
        <p:spPr>
          <a:xfrm>
            <a:off x="4211644" y="449741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ED97F48-36CA-4A0E-B282-898F7AB5F490}"/>
              </a:ext>
            </a:extLst>
          </p:cNvPr>
          <p:cNvSpPr/>
          <p:nvPr/>
        </p:nvSpPr>
        <p:spPr>
          <a:xfrm>
            <a:off x="4229691" y="2487270"/>
            <a:ext cx="915711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BB14F4-9C65-4FBE-9C02-251013946681}"/>
              </a:ext>
            </a:extLst>
          </p:cNvPr>
          <p:cNvSpPr txBox="1"/>
          <p:nvPr/>
        </p:nvSpPr>
        <p:spPr>
          <a:xfrm>
            <a:off x="4437835" y="14833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9AE7DF2-ED0C-4E0F-B428-CE07485E7E68}"/>
              </a:ext>
            </a:extLst>
          </p:cNvPr>
          <p:cNvSpPr txBox="1"/>
          <p:nvPr/>
        </p:nvSpPr>
        <p:spPr>
          <a:xfrm>
            <a:off x="3612893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3D8FF31-1148-49AD-9EE0-37F81552F602}"/>
              </a:ext>
            </a:extLst>
          </p:cNvPr>
          <p:cNvSpPr/>
          <p:nvPr/>
        </p:nvSpPr>
        <p:spPr>
          <a:xfrm>
            <a:off x="8306382" y="4339592"/>
            <a:ext cx="814647" cy="5896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6B8938AC-4472-4B4C-BBD1-A049CF74CAD3}"/>
              </a:ext>
            </a:extLst>
          </p:cNvPr>
          <p:cNvSpPr/>
          <p:nvPr/>
        </p:nvSpPr>
        <p:spPr>
          <a:xfrm>
            <a:off x="8306382" y="4481004"/>
            <a:ext cx="3717502" cy="208342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FF00"/>
                </a:solidFill>
                <a:latin typeface="Baskerville Old Face" panose="02020602080505020303" pitchFamily="18" charset="0"/>
              </a:rPr>
              <a:t>mm_split_free_data_block_for_allocation</a:t>
            </a:r>
            <a:r>
              <a:rPr lang="en-US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free_block_meta_data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req_size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9826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BD5BCE4-F280-42BB-BB0E-81B7100E9E86}"/>
              </a:ext>
            </a:extLst>
          </p:cNvPr>
          <p:cNvSpPr/>
          <p:nvPr/>
        </p:nvSpPr>
        <p:spPr>
          <a:xfrm>
            <a:off x="1200336" y="1480873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5B8CCC-2572-45B7-B3BF-21A9AD7CB756}"/>
              </a:ext>
            </a:extLst>
          </p:cNvPr>
          <p:cNvSpPr/>
          <p:nvPr/>
        </p:nvSpPr>
        <p:spPr>
          <a:xfrm>
            <a:off x="4211644" y="449741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50D52C-33C3-4CE7-B758-BE465F1C296B}"/>
              </a:ext>
            </a:extLst>
          </p:cNvPr>
          <p:cNvSpPr/>
          <p:nvPr/>
        </p:nvSpPr>
        <p:spPr>
          <a:xfrm>
            <a:off x="5350804" y="44974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F59504-8A5E-48F6-824A-AC9B2A8BA4A1}"/>
              </a:ext>
            </a:extLst>
          </p:cNvPr>
          <p:cNvSpPr/>
          <p:nvPr/>
        </p:nvSpPr>
        <p:spPr>
          <a:xfrm>
            <a:off x="6604648" y="449741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AE5011-8655-473C-967F-C236DCFF4671}"/>
              </a:ext>
            </a:extLst>
          </p:cNvPr>
          <p:cNvSpPr/>
          <p:nvPr/>
        </p:nvSpPr>
        <p:spPr>
          <a:xfrm>
            <a:off x="7734080" y="44974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C9F1C7-591B-42C7-A945-807538721D8B}"/>
              </a:ext>
            </a:extLst>
          </p:cNvPr>
          <p:cNvSpPr txBox="1"/>
          <p:nvPr/>
        </p:nvSpPr>
        <p:spPr>
          <a:xfrm>
            <a:off x="1218083" y="2592370"/>
            <a:ext cx="91563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foo_t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124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2B05087-D7B2-4B9E-8A6E-28B1ED106152}"/>
              </a:ext>
            </a:extLst>
          </p:cNvPr>
          <p:cNvSpPr/>
          <p:nvPr/>
        </p:nvSpPr>
        <p:spPr>
          <a:xfrm flipV="1">
            <a:off x="2151465" y="1461417"/>
            <a:ext cx="2042808" cy="1424887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A7CE99-5269-4214-B3A7-586C63A7FAC0}"/>
              </a:ext>
            </a:extLst>
          </p:cNvPr>
          <p:cNvSpPr/>
          <p:nvPr/>
        </p:nvSpPr>
        <p:spPr>
          <a:xfrm>
            <a:off x="4211644" y="46603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962FE0-A6A5-4856-A43E-41856943ED62}"/>
              </a:ext>
            </a:extLst>
          </p:cNvPr>
          <p:cNvSpPr/>
          <p:nvPr/>
        </p:nvSpPr>
        <p:spPr>
          <a:xfrm>
            <a:off x="5377341" y="47186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997CD-A48B-46CB-A13E-48853E71C9A7}"/>
              </a:ext>
            </a:extLst>
          </p:cNvPr>
          <p:cNvSpPr/>
          <p:nvPr/>
        </p:nvSpPr>
        <p:spPr>
          <a:xfrm>
            <a:off x="5367613" y="84756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8EFEFD-3CB6-4AAD-93A5-4BD96F8E204D}"/>
              </a:ext>
            </a:extLst>
          </p:cNvPr>
          <p:cNvSpPr/>
          <p:nvPr/>
        </p:nvSpPr>
        <p:spPr>
          <a:xfrm>
            <a:off x="6604648" y="208341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D1B011-103A-4F5F-8EBA-CAED4EA45A50}"/>
              </a:ext>
            </a:extLst>
          </p:cNvPr>
          <p:cNvSpPr/>
          <p:nvPr/>
        </p:nvSpPr>
        <p:spPr>
          <a:xfrm>
            <a:off x="6604648" y="245911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BF9B32-EB3F-4E00-83F0-2E0F8B086112}"/>
              </a:ext>
            </a:extLst>
          </p:cNvPr>
          <p:cNvSpPr/>
          <p:nvPr/>
        </p:nvSpPr>
        <p:spPr>
          <a:xfrm>
            <a:off x="6601834" y="83689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701E1-E633-4A3C-A74F-41A0CF9A6432}"/>
              </a:ext>
            </a:extLst>
          </p:cNvPr>
          <p:cNvSpPr txBox="1"/>
          <p:nvPr/>
        </p:nvSpPr>
        <p:spPr>
          <a:xfrm>
            <a:off x="4506050" y="290260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FD7E7D-E0F9-4932-9698-71718AF74F8F}"/>
              </a:ext>
            </a:extLst>
          </p:cNvPr>
          <p:cNvSpPr txBox="1"/>
          <p:nvPr/>
        </p:nvSpPr>
        <p:spPr>
          <a:xfrm>
            <a:off x="5604499" y="291055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CB0E0-0603-4439-A8E9-2A246B269F7D}"/>
              </a:ext>
            </a:extLst>
          </p:cNvPr>
          <p:cNvSpPr txBox="1"/>
          <p:nvPr/>
        </p:nvSpPr>
        <p:spPr>
          <a:xfrm>
            <a:off x="6886292" y="292811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A0DC67-B01D-44EF-A754-BA8802CEA630}"/>
              </a:ext>
            </a:extLst>
          </p:cNvPr>
          <p:cNvSpPr txBox="1"/>
          <p:nvPr/>
        </p:nvSpPr>
        <p:spPr>
          <a:xfrm>
            <a:off x="7984741" y="292634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828777-1617-4BCF-BE2A-F14548C5EA46}"/>
              </a:ext>
            </a:extLst>
          </p:cNvPr>
          <p:cNvSpPr/>
          <p:nvPr/>
        </p:nvSpPr>
        <p:spPr>
          <a:xfrm>
            <a:off x="5342910" y="249446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26469-985A-4061-BAB7-03A6ABE7F630}"/>
              </a:ext>
            </a:extLst>
          </p:cNvPr>
          <p:cNvSpPr/>
          <p:nvPr/>
        </p:nvSpPr>
        <p:spPr>
          <a:xfrm>
            <a:off x="7733056" y="249445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17059D-FC82-4703-A5ED-3BE269F328FE}"/>
              </a:ext>
            </a:extLst>
          </p:cNvPr>
          <p:cNvSpPr/>
          <p:nvPr/>
        </p:nvSpPr>
        <p:spPr>
          <a:xfrm>
            <a:off x="4229691" y="248727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70157-F059-4A8B-A77C-FFEEC40EDE52}"/>
              </a:ext>
            </a:extLst>
          </p:cNvPr>
          <p:cNvSpPr txBox="1"/>
          <p:nvPr/>
        </p:nvSpPr>
        <p:spPr>
          <a:xfrm>
            <a:off x="4437835" y="14833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9251A-D95C-4D52-A407-B2E2C0F2A38F}"/>
              </a:ext>
            </a:extLst>
          </p:cNvPr>
          <p:cNvSpPr txBox="1"/>
          <p:nvPr/>
        </p:nvSpPr>
        <p:spPr>
          <a:xfrm>
            <a:off x="5537341" y="158036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8DC19-DCE0-4B51-B335-B63053ABB147}"/>
              </a:ext>
            </a:extLst>
          </p:cNvPr>
          <p:cNvSpPr txBox="1"/>
          <p:nvPr/>
        </p:nvSpPr>
        <p:spPr>
          <a:xfrm>
            <a:off x="6761753" y="1508504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CDBFD-2F7F-4631-A112-25DB1D7DDAF7}"/>
              </a:ext>
            </a:extLst>
          </p:cNvPr>
          <p:cNvSpPr txBox="1"/>
          <p:nvPr/>
        </p:nvSpPr>
        <p:spPr>
          <a:xfrm>
            <a:off x="7930239" y="136329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6CA307-0447-40CE-9F67-246D3862134C}"/>
              </a:ext>
            </a:extLst>
          </p:cNvPr>
          <p:cNvSpPr txBox="1"/>
          <p:nvPr/>
        </p:nvSpPr>
        <p:spPr>
          <a:xfrm>
            <a:off x="6864487" y="44974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7D3F08-ECF8-436C-BDC8-C17F6B5A45BA}"/>
              </a:ext>
            </a:extLst>
          </p:cNvPr>
          <p:cNvSpPr/>
          <p:nvPr/>
        </p:nvSpPr>
        <p:spPr>
          <a:xfrm>
            <a:off x="2136410" y="2915014"/>
            <a:ext cx="1420239" cy="785001"/>
          </a:xfrm>
          <a:custGeom>
            <a:avLst/>
            <a:gdLst>
              <a:gd name="connsiteX0" fmla="*/ 0 w 1420239"/>
              <a:gd name="connsiteY0" fmla="*/ 26243 h 785001"/>
              <a:gd name="connsiteX1" fmla="*/ 311285 w 1420239"/>
              <a:gd name="connsiteY1" fmla="*/ 65154 h 785001"/>
              <a:gd name="connsiteX2" fmla="*/ 603115 w 1420239"/>
              <a:gd name="connsiteY2" fmla="*/ 590448 h 785001"/>
              <a:gd name="connsiteX3" fmla="*/ 1420239 w 1420239"/>
              <a:gd name="connsiteY3" fmla="*/ 785001 h 78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785001">
                <a:moveTo>
                  <a:pt x="0" y="26243"/>
                </a:moveTo>
                <a:cubicBezTo>
                  <a:pt x="105383" y="-1319"/>
                  <a:pt x="210766" y="-28880"/>
                  <a:pt x="311285" y="65154"/>
                </a:cubicBezTo>
                <a:cubicBezTo>
                  <a:pt x="411804" y="159188"/>
                  <a:pt x="418289" y="470473"/>
                  <a:pt x="603115" y="590448"/>
                </a:cubicBezTo>
                <a:cubicBezTo>
                  <a:pt x="787941" y="710423"/>
                  <a:pt x="1104090" y="747712"/>
                  <a:pt x="1420239" y="7850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6B0F8-43E9-4B9C-B44E-5533FA784E03}"/>
              </a:ext>
            </a:extLst>
          </p:cNvPr>
          <p:cNvSpPr txBox="1"/>
          <p:nvPr/>
        </p:nvSpPr>
        <p:spPr>
          <a:xfrm>
            <a:off x="3612893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10C554-8E29-4343-A136-6BF0452415B9}"/>
              </a:ext>
            </a:extLst>
          </p:cNvPr>
          <p:cNvSpPr txBox="1"/>
          <p:nvPr/>
        </p:nvSpPr>
        <p:spPr>
          <a:xfrm>
            <a:off x="4772892" y="3425444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EE2B82-EC78-4048-821A-6C780232C151}"/>
              </a:ext>
            </a:extLst>
          </p:cNvPr>
          <p:cNvSpPr txBox="1"/>
          <p:nvPr/>
        </p:nvSpPr>
        <p:spPr>
          <a:xfrm>
            <a:off x="6095507" y="3434433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CBD76-28B5-444E-B761-319A2228C13D}"/>
              </a:ext>
            </a:extLst>
          </p:cNvPr>
          <p:cNvSpPr txBox="1"/>
          <p:nvPr/>
        </p:nvSpPr>
        <p:spPr>
          <a:xfrm>
            <a:off x="7360221" y="3444900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0D2426-90BB-4AB7-9E5C-E0E08A450829}"/>
              </a:ext>
            </a:extLst>
          </p:cNvPr>
          <p:cNvSpPr txBox="1"/>
          <p:nvPr/>
        </p:nvSpPr>
        <p:spPr>
          <a:xfrm>
            <a:off x="8779507" y="3435172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C56E1-73E8-475C-A419-390A8C678991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4217839" y="3610110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D854B2-45E7-45CF-92D9-E9F93AB56597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5338952" y="3619099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3C1245-DBBF-4688-94B4-5F9FA1D3F24A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6653673" y="3619099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AFA7DC4-8B7C-49D7-A19E-306AF8A07A7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929713" y="3606598"/>
            <a:ext cx="849794" cy="13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B90C9-437D-45AA-BFE2-F39865073F77}"/>
              </a:ext>
            </a:extLst>
          </p:cNvPr>
          <p:cNvSpPr txBox="1"/>
          <p:nvPr/>
        </p:nvSpPr>
        <p:spPr>
          <a:xfrm>
            <a:off x="5084062" y="3785146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C54EC2-E5FB-4496-9224-6B8501F8C31E}"/>
              </a:ext>
            </a:extLst>
          </p:cNvPr>
          <p:cNvSpPr/>
          <p:nvPr/>
        </p:nvSpPr>
        <p:spPr>
          <a:xfrm>
            <a:off x="7732889" y="210448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E2EC1B-12F0-4251-A4B7-DC3F051CBD6C}"/>
              </a:ext>
            </a:extLst>
          </p:cNvPr>
          <p:cNvCxnSpPr>
            <a:cxnSpLocks/>
          </p:cNvCxnSpPr>
          <p:nvPr/>
        </p:nvCxnSpPr>
        <p:spPr>
          <a:xfrm>
            <a:off x="4217839" y="3598901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B104F4-FD37-404C-8412-5E0B6E99BEB3}"/>
              </a:ext>
            </a:extLst>
          </p:cNvPr>
          <p:cNvCxnSpPr/>
          <p:nvPr/>
        </p:nvCxnSpPr>
        <p:spPr>
          <a:xfrm>
            <a:off x="4772892" y="266832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6323F-6BD5-4687-B911-C21065E9ED64}"/>
              </a:ext>
            </a:extLst>
          </p:cNvPr>
          <p:cNvCxnSpPr/>
          <p:nvPr/>
        </p:nvCxnSpPr>
        <p:spPr>
          <a:xfrm>
            <a:off x="6079494" y="266832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2D2202-DCB3-4462-9C35-806E622AA276}"/>
              </a:ext>
            </a:extLst>
          </p:cNvPr>
          <p:cNvCxnSpPr/>
          <p:nvPr/>
        </p:nvCxnSpPr>
        <p:spPr>
          <a:xfrm>
            <a:off x="7372528" y="267750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0353F0-843A-40FB-B07B-E6DD314B5F3D}"/>
              </a:ext>
            </a:extLst>
          </p:cNvPr>
          <p:cNvSpPr txBox="1"/>
          <p:nvPr/>
        </p:nvSpPr>
        <p:spPr>
          <a:xfrm rot="17907859">
            <a:off x="2503734" y="163207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1B3324-34CF-40DA-9F7F-3330B66F2650}"/>
              </a:ext>
            </a:extLst>
          </p:cNvPr>
          <p:cNvSpPr txBox="1"/>
          <p:nvPr/>
        </p:nvSpPr>
        <p:spPr>
          <a:xfrm rot="1057733">
            <a:off x="1671913" y="3468098"/>
            <a:ext cx="1970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Baskerville Old Face" panose="02020602080505020303" pitchFamily="18" charset="0"/>
              </a:rPr>
              <a:t>free_block_priority_list_head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5CF26-13AF-4E33-9F3A-D99CD1159BDD}"/>
              </a:ext>
            </a:extLst>
          </p:cNvPr>
          <p:cNvSpPr/>
          <p:nvPr/>
        </p:nvSpPr>
        <p:spPr>
          <a:xfrm>
            <a:off x="9856041" y="898878"/>
            <a:ext cx="1951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xcalloc</a:t>
            </a:r>
            <a:r>
              <a:rPr lang="en-US" dirty="0">
                <a:latin typeface="Baskerville Old Face" panose="02020602080505020303" pitchFamily="18" charset="0"/>
              </a:rPr>
              <a:t>(“</a:t>
            </a:r>
            <a:r>
              <a:rPr lang="en-US" dirty="0" err="1">
                <a:latin typeface="Baskerville Old Face" panose="02020602080505020303" pitchFamily="18" charset="0"/>
              </a:rPr>
              <a:t>foo_t</a:t>
            </a:r>
            <a:r>
              <a:rPr lang="en-US" dirty="0">
                <a:latin typeface="Baskerville Old Face" panose="02020602080505020303" pitchFamily="18" charset="0"/>
              </a:rPr>
              <a:t>”, 1 ) </a:t>
            </a:r>
            <a:endParaRPr lang="en-US" dirty="0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3ACDDAEC-95E3-44DB-827F-5E139F625D50}"/>
              </a:ext>
            </a:extLst>
          </p:cNvPr>
          <p:cNvSpPr/>
          <p:nvPr/>
        </p:nvSpPr>
        <p:spPr>
          <a:xfrm rot="12793634">
            <a:off x="906332" y="3147826"/>
            <a:ext cx="253017" cy="863221"/>
          </a:xfrm>
          <a:prstGeom prst="downArrow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6B93C0-415B-47D2-859D-2D0E8CCB8EFB}"/>
              </a:ext>
            </a:extLst>
          </p:cNvPr>
          <p:cNvSpPr/>
          <p:nvPr/>
        </p:nvSpPr>
        <p:spPr>
          <a:xfrm>
            <a:off x="196109" y="3719556"/>
            <a:ext cx="555053" cy="5005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2" name="Cloud 81">
            <a:extLst>
              <a:ext uri="{FF2B5EF4-FFF2-40B4-BE49-F238E27FC236}">
                <a16:creationId xmlns:a16="http://schemas.microsoft.com/office/drawing/2014/main" id="{D3DA4CF0-4C60-4F41-927F-2144C622E15B}"/>
              </a:ext>
            </a:extLst>
          </p:cNvPr>
          <p:cNvSpPr/>
          <p:nvPr/>
        </p:nvSpPr>
        <p:spPr>
          <a:xfrm>
            <a:off x="168116" y="3971984"/>
            <a:ext cx="3279312" cy="162247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vm_page_family_t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*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pg_family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=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lookup_page_family_by_name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struct_name</a:t>
            </a:r>
            <a:r>
              <a:rPr 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5983937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9307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flowchart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45B132-0B39-42A7-B2B2-325838086177}"/>
              </a:ext>
            </a:extLst>
          </p:cNvPr>
          <p:cNvSpPr/>
          <p:nvPr/>
        </p:nvSpPr>
        <p:spPr>
          <a:xfrm>
            <a:off x="4382216" y="983611"/>
            <a:ext cx="1578544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Request for memory from app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8738B3E-9619-46AB-9AB5-212A3932ACE1}"/>
              </a:ext>
            </a:extLst>
          </p:cNvPr>
          <p:cNvSpPr/>
          <p:nvPr/>
        </p:nvSpPr>
        <p:spPr>
          <a:xfrm>
            <a:off x="5012241" y="1491701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C375DB-5B83-4C34-B803-19752BD947B7}"/>
              </a:ext>
            </a:extLst>
          </p:cNvPr>
          <p:cNvSpPr/>
          <p:nvPr/>
        </p:nvSpPr>
        <p:spPr>
          <a:xfrm>
            <a:off x="4015654" y="2106113"/>
            <a:ext cx="2542674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lookup_page_family_by_name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7E90A8D-EF93-4D94-849B-7D99F2C0ECC0}"/>
              </a:ext>
            </a:extLst>
          </p:cNvPr>
          <p:cNvSpPr/>
          <p:nvPr/>
        </p:nvSpPr>
        <p:spPr>
          <a:xfrm>
            <a:off x="5031492" y="2651100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302F7B-EA90-4028-9165-673AF6DF6658}"/>
              </a:ext>
            </a:extLst>
          </p:cNvPr>
          <p:cNvSpPr/>
          <p:nvPr/>
        </p:nvSpPr>
        <p:spPr>
          <a:xfrm>
            <a:off x="4411094" y="3267115"/>
            <a:ext cx="1578544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Return NULL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8DA8FF3-0E91-4436-B67D-B5199108D500}"/>
              </a:ext>
            </a:extLst>
          </p:cNvPr>
          <p:cNvSpPr/>
          <p:nvPr/>
        </p:nvSpPr>
        <p:spPr>
          <a:xfrm rot="16200000">
            <a:off x="6719336" y="2071400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BA443A-6D3D-4FDF-AD9A-A4A4830661AD}"/>
              </a:ext>
            </a:extLst>
          </p:cNvPr>
          <p:cNvSpPr/>
          <p:nvPr/>
        </p:nvSpPr>
        <p:spPr>
          <a:xfrm>
            <a:off x="7135843" y="2106113"/>
            <a:ext cx="2542674" cy="57751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Can first Data block in PQ satisfy memory request ?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42020E6-F0AF-49DC-A26A-F9714EB598F6}"/>
              </a:ext>
            </a:extLst>
          </p:cNvPr>
          <p:cNvSpPr/>
          <p:nvPr/>
        </p:nvSpPr>
        <p:spPr>
          <a:xfrm>
            <a:off x="8279430" y="2683627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C93E66-D2B3-4FB0-AD11-C70B34B7CA27}"/>
              </a:ext>
            </a:extLst>
          </p:cNvPr>
          <p:cNvSpPr/>
          <p:nvPr/>
        </p:nvSpPr>
        <p:spPr>
          <a:xfrm>
            <a:off x="7527270" y="3296433"/>
            <a:ext cx="2334341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mm_family_new_page_add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 )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C7B0A65-AABA-414C-92BA-EF115CBD86E1}"/>
              </a:ext>
            </a:extLst>
          </p:cNvPr>
          <p:cNvSpPr/>
          <p:nvPr/>
        </p:nvSpPr>
        <p:spPr>
          <a:xfrm>
            <a:off x="8334775" y="3804523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1A5C-BEBB-4494-97BC-2D4DF350F4E3}"/>
              </a:ext>
            </a:extLst>
          </p:cNvPr>
          <p:cNvSpPr/>
          <p:nvPr/>
        </p:nvSpPr>
        <p:spPr>
          <a:xfrm>
            <a:off x="7318937" y="4417328"/>
            <a:ext cx="2542674" cy="83464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Allocate Memory from 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Ist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Data block in PQ by performing block splitting and updating PQ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87AB435-845B-47F7-886C-FEB0ACB9261D}"/>
              </a:ext>
            </a:extLst>
          </p:cNvPr>
          <p:cNvSpPr/>
          <p:nvPr/>
        </p:nvSpPr>
        <p:spPr>
          <a:xfrm rot="16200000">
            <a:off x="10082405" y="1828518"/>
            <a:ext cx="255499" cy="1063276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7BAAD27-16B9-4516-8250-1C75B4BEB7F9}"/>
              </a:ext>
            </a:extLst>
          </p:cNvPr>
          <p:cNvSpPr/>
          <p:nvPr/>
        </p:nvSpPr>
        <p:spPr>
          <a:xfrm>
            <a:off x="10668804" y="2334177"/>
            <a:ext cx="317144" cy="2545616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5624DAC-8CC4-481E-A726-FAD9B6641B7D}"/>
              </a:ext>
            </a:extLst>
          </p:cNvPr>
          <p:cNvSpPr/>
          <p:nvPr/>
        </p:nvSpPr>
        <p:spPr>
          <a:xfrm rot="5400000">
            <a:off x="10217265" y="4450118"/>
            <a:ext cx="255499" cy="98606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CC4B0-3ED9-409A-8A12-6A214AC9A1A8}"/>
              </a:ext>
            </a:extLst>
          </p:cNvPr>
          <p:cNvSpPr txBox="1"/>
          <p:nvPr/>
        </p:nvSpPr>
        <p:spPr>
          <a:xfrm>
            <a:off x="5159241" y="2736519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Not found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65EF47-7BC3-4C3F-92E3-138BA1B794D1}"/>
              </a:ext>
            </a:extLst>
          </p:cNvPr>
          <p:cNvSpPr txBox="1"/>
          <p:nvPr/>
        </p:nvSpPr>
        <p:spPr>
          <a:xfrm>
            <a:off x="6537541" y="2015372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found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5AE433-787A-4137-9E13-F4BC8605F538}"/>
              </a:ext>
            </a:extLst>
          </p:cNvPr>
          <p:cNvSpPr txBox="1"/>
          <p:nvPr/>
        </p:nvSpPr>
        <p:spPr>
          <a:xfrm>
            <a:off x="8462524" y="2774268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2344A5-4490-4BAF-B588-18B2152C6F58}"/>
              </a:ext>
            </a:extLst>
          </p:cNvPr>
          <p:cNvSpPr txBox="1"/>
          <p:nvPr/>
        </p:nvSpPr>
        <p:spPr>
          <a:xfrm>
            <a:off x="9759764" y="2040617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Yes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E6C5E-A25F-46FC-89AE-9DC1B4E84AEF}"/>
              </a:ext>
            </a:extLst>
          </p:cNvPr>
          <p:cNvSpPr txBox="1"/>
          <p:nvPr/>
        </p:nvSpPr>
        <p:spPr>
          <a:xfrm>
            <a:off x="596766" y="1607419"/>
            <a:ext cx="22569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Memory Allocation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7F5102-0D92-49FF-958F-C79FB3E5EF6E}"/>
              </a:ext>
            </a:extLst>
          </p:cNvPr>
          <p:cNvSpPr/>
          <p:nvPr/>
        </p:nvSpPr>
        <p:spPr>
          <a:xfrm>
            <a:off x="6429676" y="1237656"/>
            <a:ext cx="5165558" cy="500914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D9299E-DCCC-466D-B8C0-00CADE3CA41F}"/>
              </a:ext>
            </a:extLst>
          </p:cNvPr>
          <p:cNvSpPr txBox="1"/>
          <p:nvPr/>
        </p:nvSpPr>
        <p:spPr>
          <a:xfrm>
            <a:off x="7578748" y="884910"/>
            <a:ext cx="31293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Baskerville Old Face" panose="02020602080505020303" pitchFamily="18" charset="0"/>
              </a:rPr>
              <a:t>mm_allocate_free_data_block</a:t>
            </a:r>
            <a:r>
              <a:rPr lang="en-US" i="1" dirty="0">
                <a:latin typeface="Baskerville Old Face" panose="02020602080505020303" pitchFamily="18" charset="0"/>
              </a:rPr>
              <a:t>( 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B90422-300A-4B94-BFB7-3C2D76F2498C}"/>
              </a:ext>
            </a:extLst>
          </p:cNvPr>
          <p:cNvSpPr txBox="1"/>
          <p:nvPr/>
        </p:nvSpPr>
        <p:spPr>
          <a:xfrm>
            <a:off x="7013350" y="5238978"/>
            <a:ext cx="4190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Baskerville Old Face" panose="02020602080505020303" pitchFamily="18" charset="0"/>
              </a:rPr>
              <a:t>mm_split_free_data_block_for_allocation</a:t>
            </a:r>
            <a:r>
              <a:rPr lang="en-US" i="1" dirty="0">
                <a:latin typeface="Baskerville Old Face" panose="02020602080505020303" pitchFamily="18" charset="0"/>
              </a:rPr>
              <a:t>(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DE6D4-4849-4189-8C74-030732ED0A40}"/>
              </a:ext>
            </a:extLst>
          </p:cNvPr>
          <p:cNvSpPr txBox="1"/>
          <p:nvPr/>
        </p:nvSpPr>
        <p:spPr>
          <a:xfrm>
            <a:off x="591014" y="5043133"/>
            <a:ext cx="5208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Before Implementing </a:t>
            </a:r>
            <a:r>
              <a:rPr lang="en-US" sz="2400" i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xcalloc</a:t>
            </a:r>
            <a:r>
              <a:rPr lang="en-US" sz="2400" dirty="0">
                <a:latin typeface="Baskerville Old Face" panose="02020602080505020303" pitchFamily="18" charset="0"/>
              </a:rPr>
              <a:t>, we need to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Implement the two APIs</a:t>
            </a:r>
          </a:p>
        </p:txBody>
      </p:sp>
    </p:spTree>
    <p:extLst>
      <p:ext uri="{BB962C8B-B14F-4D97-AF65-F5344CB8AC3E}">
        <p14:creationId xmlns:p14="http://schemas.microsoft.com/office/powerpoint/2010/main" val="373022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3" grpId="0"/>
      <p:bldP spid="28" grpId="0"/>
      <p:bldP spid="29" grpId="0"/>
      <p:bldP spid="30" grpId="0"/>
      <p:bldP spid="5" grpId="0" animBg="1"/>
      <p:bldP spid="34" grpId="0" animBg="1"/>
      <p:bldP spid="35" grpId="0" animBg="1"/>
      <p:bldP spid="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9AFE4-6079-43BE-8F08-2A4BACD5A7B5}"/>
              </a:ext>
            </a:extLst>
          </p:cNvPr>
          <p:cNvSpPr txBox="1"/>
          <p:nvPr/>
        </p:nvSpPr>
        <p:spPr>
          <a:xfrm>
            <a:off x="3108959" y="1049153"/>
            <a:ext cx="674255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askerville Old Face" panose="02020602080505020303" pitchFamily="18" charset="0"/>
              </a:rPr>
              <a:t>static </a:t>
            </a:r>
            <a:r>
              <a:rPr lang="en-US" sz="2800" dirty="0" err="1">
                <a:latin typeface="Baskerville Old Face" panose="02020602080505020303" pitchFamily="18" charset="0"/>
              </a:rPr>
              <a:t>vm_bool_t</a:t>
            </a:r>
            <a:endParaRPr lang="en-US" sz="2800" dirty="0">
              <a:latin typeface="Baskerville Old Face" panose="02020602080505020303" pitchFamily="18" charset="0"/>
            </a:endParaRPr>
          </a:p>
          <a:p>
            <a:r>
              <a:rPr lang="en-US" sz="2800" dirty="0" err="1">
                <a:latin typeface="Baskerville Old Face" panose="02020602080505020303" pitchFamily="18" charset="0"/>
              </a:rPr>
              <a:t>mm_split_free_data_block_for_allocation</a:t>
            </a:r>
            <a:r>
              <a:rPr lang="en-US" sz="2800" dirty="0">
                <a:latin typeface="Baskerville Old Face" panose="02020602080505020303" pitchFamily="18" charset="0"/>
              </a:rPr>
              <a:t> (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            </a:t>
            </a:r>
            <a:r>
              <a:rPr lang="en-US" sz="2800" dirty="0" err="1">
                <a:latin typeface="Baskerville Old Face" panose="02020602080505020303" pitchFamily="18" charset="0"/>
              </a:rPr>
              <a:t>vm_page_family_t</a:t>
            </a:r>
            <a:r>
              <a:rPr lang="en-US" sz="2800" dirty="0">
                <a:latin typeface="Baskerville Old Face" panose="02020602080505020303" pitchFamily="18" charset="0"/>
              </a:rPr>
              <a:t> *</a:t>
            </a:r>
            <a:r>
              <a:rPr lang="en-US" sz="2800" dirty="0" err="1">
                <a:latin typeface="Baskerville Old Face" panose="02020602080505020303" pitchFamily="18" charset="0"/>
              </a:rPr>
              <a:t>vm_page_family</a:t>
            </a:r>
            <a:r>
              <a:rPr lang="en-US" sz="2800" dirty="0">
                <a:latin typeface="Baskerville Old Face" panose="02020602080505020303" pitchFamily="18" charset="0"/>
              </a:rPr>
              <a:t>,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            </a:t>
            </a:r>
            <a:r>
              <a:rPr lang="en-US" sz="2800" dirty="0" err="1">
                <a:latin typeface="Baskerville Old Face" panose="02020602080505020303" pitchFamily="18" charset="0"/>
              </a:rPr>
              <a:t>block_meta_data_t</a:t>
            </a:r>
            <a:r>
              <a:rPr lang="en-US" sz="2800" dirty="0">
                <a:latin typeface="Baskerville Old Face" panose="02020602080505020303" pitchFamily="18" charset="0"/>
              </a:rPr>
              <a:t> *</a:t>
            </a:r>
            <a:r>
              <a:rPr lang="en-US" sz="2800" dirty="0" err="1">
                <a:latin typeface="Baskerville Old Face" panose="02020602080505020303" pitchFamily="18" charset="0"/>
              </a:rPr>
              <a:t>block_meta_data</a:t>
            </a:r>
            <a:r>
              <a:rPr lang="en-US" sz="2800" dirty="0">
                <a:latin typeface="Baskerville Old Face" panose="02020602080505020303" pitchFamily="18" charset="0"/>
              </a:rPr>
              <a:t>,</a:t>
            </a:r>
          </a:p>
          <a:p>
            <a:r>
              <a:rPr lang="en-US" sz="2800" dirty="0">
                <a:latin typeface="Baskerville Old Face" panose="02020602080505020303" pitchFamily="18" charset="0"/>
              </a:rPr>
              <a:t>            uint32_t size)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DD686-8250-462D-89E2-41D0581F1BD1}"/>
              </a:ext>
            </a:extLst>
          </p:cNvPr>
          <p:cNvSpPr txBox="1"/>
          <p:nvPr/>
        </p:nvSpPr>
        <p:spPr>
          <a:xfrm>
            <a:off x="3108959" y="3755094"/>
            <a:ext cx="50449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Scenarios to Cover : </a:t>
            </a:r>
          </a:p>
          <a:p>
            <a:pPr marL="342900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No Split</a:t>
            </a:r>
          </a:p>
          <a:p>
            <a:pPr marL="342900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Full Split</a:t>
            </a:r>
          </a:p>
          <a:p>
            <a:pPr marL="342900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Partial Split (handle internal fragmentation)</a:t>
            </a:r>
          </a:p>
          <a:p>
            <a:pPr marL="342900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Boundary Cases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FDB is the lower most DB in VM data page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FDB is the upper most DB in VM data page</a:t>
            </a:r>
          </a:p>
          <a:p>
            <a:pPr marL="800100" lvl="1" indent="-342900"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10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8256E-3B25-4768-B59C-BAB4346F28EC}"/>
              </a:ext>
            </a:extLst>
          </p:cNvPr>
          <p:cNvSpPr txBox="1"/>
          <p:nvPr/>
        </p:nvSpPr>
        <p:spPr>
          <a:xfrm>
            <a:off x="202130" y="510140"/>
            <a:ext cx="4639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Computing Remaining Size On Split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31255-9E3F-4FAC-876A-7CDD3D04C114}"/>
              </a:ext>
            </a:extLst>
          </p:cNvPr>
          <p:cNvSpPr/>
          <p:nvPr/>
        </p:nvSpPr>
        <p:spPr>
          <a:xfrm>
            <a:off x="5643168" y="600342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48145-41B6-43DA-828B-ECEB1431BB42}"/>
              </a:ext>
            </a:extLst>
          </p:cNvPr>
          <p:cNvSpPr txBox="1"/>
          <p:nvPr/>
        </p:nvSpPr>
        <p:spPr>
          <a:xfrm>
            <a:off x="6965818" y="5932548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849DC-4B32-40EE-918C-8BD7A2C05780}"/>
              </a:ext>
            </a:extLst>
          </p:cNvPr>
          <p:cNvSpPr txBox="1"/>
          <p:nvPr/>
        </p:nvSpPr>
        <p:spPr>
          <a:xfrm>
            <a:off x="6965818" y="54334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55D3D-7FA9-434C-9038-3B39B8066367}"/>
              </a:ext>
            </a:extLst>
          </p:cNvPr>
          <p:cNvSpPr/>
          <p:nvPr/>
        </p:nvSpPr>
        <p:spPr>
          <a:xfrm>
            <a:off x="5642832" y="2252577"/>
            <a:ext cx="1320768" cy="168308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23822-EFAE-4BBF-A7EE-6477C4900E09}"/>
              </a:ext>
            </a:extLst>
          </p:cNvPr>
          <p:cNvSpPr/>
          <p:nvPr/>
        </p:nvSpPr>
        <p:spPr>
          <a:xfrm>
            <a:off x="5627944" y="5221943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49C7D-D8C7-48AD-94AF-DE841FD841FC}"/>
              </a:ext>
            </a:extLst>
          </p:cNvPr>
          <p:cNvSpPr/>
          <p:nvPr/>
        </p:nvSpPr>
        <p:spPr>
          <a:xfrm>
            <a:off x="5627942" y="4849071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C5E4D3-9512-438F-A8B2-828D8E5FF211}"/>
              </a:ext>
            </a:extLst>
          </p:cNvPr>
          <p:cNvSpPr/>
          <p:nvPr/>
        </p:nvSpPr>
        <p:spPr>
          <a:xfrm>
            <a:off x="5616343" y="395550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66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F258-599B-49FC-B50F-71A8594B6C5E}"/>
              </a:ext>
            </a:extLst>
          </p:cNvPr>
          <p:cNvSpPr txBox="1"/>
          <p:nvPr/>
        </p:nvSpPr>
        <p:spPr>
          <a:xfrm>
            <a:off x="7054489" y="553528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68EBF-A23F-48BA-80A8-2B36208128C2}"/>
              </a:ext>
            </a:extLst>
          </p:cNvPr>
          <p:cNvSpPr txBox="1"/>
          <p:nvPr/>
        </p:nvSpPr>
        <p:spPr>
          <a:xfrm>
            <a:off x="7024345" y="438824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93F56-3BFC-4429-8418-ED97B1E27D43}"/>
              </a:ext>
            </a:extLst>
          </p:cNvPr>
          <p:cNvSpPr/>
          <p:nvPr/>
        </p:nvSpPr>
        <p:spPr>
          <a:xfrm>
            <a:off x="5622625" y="1353972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9CBDA-8586-4C7A-9502-92CE96FE868C}"/>
              </a:ext>
            </a:extLst>
          </p:cNvPr>
          <p:cNvSpPr/>
          <p:nvPr/>
        </p:nvSpPr>
        <p:spPr>
          <a:xfrm>
            <a:off x="5636439" y="642786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53D88-8D30-4C5E-AFA6-34B78C876090}"/>
              </a:ext>
            </a:extLst>
          </p:cNvPr>
          <p:cNvSpPr txBox="1"/>
          <p:nvPr/>
        </p:nvSpPr>
        <p:spPr>
          <a:xfrm>
            <a:off x="7006472" y="143119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939D3-CC5C-4238-855D-30C79B55F4CE}"/>
              </a:ext>
            </a:extLst>
          </p:cNvPr>
          <p:cNvSpPr txBox="1"/>
          <p:nvPr/>
        </p:nvSpPr>
        <p:spPr>
          <a:xfrm>
            <a:off x="458298" y="2710858"/>
            <a:ext cx="25090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Baskerville Old Face" panose="02020602080505020303" pitchFamily="18" charset="0"/>
              </a:rPr>
              <a:t>xmalloc</a:t>
            </a:r>
            <a:r>
              <a:rPr lang="en-US" sz="2400" b="1" dirty="0">
                <a:latin typeface="Baskerville Old Face" panose="02020602080505020303" pitchFamily="18" charset="0"/>
              </a:rPr>
              <a:t>(“</a:t>
            </a:r>
            <a:r>
              <a:rPr lang="en-US" sz="2400" b="1" dirty="0" err="1">
                <a:latin typeface="Baskerville Old Face" panose="02020602080505020303" pitchFamily="18" charset="0"/>
              </a:rPr>
              <a:t>foo_t</a:t>
            </a:r>
            <a:r>
              <a:rPr lang="en-US" sz="2400" b="1" dirty="0">
                <a:latin typeface="Baskerville Old Face" panose="02020602080505020303" pitchFamily="18" charset="0"/>
              </a:rPr>
              <a:t>, 1”)</a:t>
            </a:r>
          </a:p>
          <a:p>
            <a:endParaRPr lang="en-US" sz="2400" b="1" dirty="0">
              <a:latin typeface="Baskerville Old Face" panose="02020602080505020303" pitchFamily="18" charset="0"/>
            </a:endParaRPr>
          </a:p>
          <a:p>
            <a:r>
              <a:rPr lang="en-US" sz="1600" b="1" dirty="0" err="1">
                <a:latin typeface="Baskerville Old Face" panose="02020602080505020303" pitchFamily="18" charset="0"/>
              </a:rPr>
              <a:t>sizeof</a:t>
            </a:r>
            <a:r>
              <a:rPr lang="en-US" sz="1600" b="1" dirty="0">
                <a:latin typeface="Baskerville Old Face" panose="02020602080505020303" pitchFamily="18" charset="0"/>
              </a:rPr>
              <a:t>(</a:t>
            </a:r>
            <a:r>
              <a:rPr lang="en-US" sz="1600" b="1" dirty="0" err="1">
                <a:latin typeface="Baskerville Old Face" panose="02020602080505020303" pitchFamily="18" charset="0"/>
              </a:rPr>
              <a:t>foo_t</a:t>
            </a:r>
            <a:r>
              <a:rPr lang="en-US" sz="1600" b="1" dirty="0">
                <a:latin typeface="Baskerville Old Face" panose="02020602080505020303" pitchFamily="18" charset="0"/>
              </a:rPr>
              <a:t>) = 20B</a:t>
            </a:r>
          </a:p>
          <a:p>
            <a:endParaRPr lang="en-US" sz="1600" b="1" dirty="0">
              <a:latin typeface="Baskerville Old Face" panose="02020602080505020303" pitchFamily="18" charset="0"/>
            </a:endParaRPr>
          </a:p>
          <a:p>
            <a:r>
              <a:rPr lang="en-US" sz="1600" b="1" dirty="0">
                <a:latin typeface="Baskerville Old Face" panose="02020602080505020303" pitchFamily="18" charset="0"/>
              </a:rPr>
              <a:t>Size of Meta block = 28B</a:t>
            </a:r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11E63DDB-59D6-4193-AA09-54F3730054BA}"/>
              </a:ext>
            </a:extLst>
          </p:cNvPr>
          <p:cNvSpPr/>
          <p:nvPr/>
        </p:nvSpPr>
        <p:spPr>
          <a:xfrm>
            <a:off x="5445998" y="2252092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0E1E6B-375F-44DF-9601-E872278078E3}"/>
              </a:ext>
            </a:extLst>
          </p:cNvPr>
          <p:cNvSpPr txBox="1"/>
          <p:nvPr/>
        </p:nvSpPr>
        <p:spPr>
          <a:xfrm>
            <a:off x="4924934" y="2740308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90A56-3ED6-4D47-B4E9-B5B061FD0556}"/>
              </a:ext>
            </a:extLst>
          </p:cNvPr>
          <p:cNvSpPr/>
          <p:nvPr/>
        </p:nvSpPr>
        <p:spPr>
          <a:xfrm>
            <a:off x="5636466" y="3529275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0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8256E-3B25-4768-B59C-BAB4346F28EC}"/>
              </a:ext>
            </a:extLst>
          </p:cNvPr>
          <p:cNvSpPr txBox="1"/>
          <p:nvPr/>
        </p:nvSpPr>
        <p:spPr>
          <a:xfrm>
            <a:off x="202130" y="510140"/>
            <a:ext cx="4639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Computing Remaining Size On Split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31255-9E3F-4FAC-876A-7CDD3D04C114}"/>
              </a:ext>
            </a:extLst>
          </p:cNvPr>
          <p:cNvSpPr/>
          <p:nvPr/>
        </p:nvSpPr>
        <p:spPr>
          <a:xfrm>
            <a:off x="5643168" y="600342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48145-41B6-43DA-828B-ECEB1431BB42}"/>
              </a:ext>
            </a:extLst>
          </p:cNvPr>
          <p:cNvSpPr txBox="1"/>
          <p:nvPr/>
        </p:nvSpPr>
        <p:spPr>
          <a:xfrm>
            <a:off x="6965818" y="5932548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849DC-4B32-40EE-918C-8BD7A2C05780}"/>
              </a:ext>
            </a:extLst>
          </p:cNvPr>
          <p:cNvSpPr txBox="1"/>
          <p:nvPr/>
        </p:nvSpPr>
        <p:spPr>
          <a:xfrm>
            <a:off x="6965818" y="54334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55D3D-7FA9-434C-9038-3B39B8066367}"/>
              </a:ext>
            </a:extLst>
          </p:cNvPr>
          <p:cNvSpPr/>
          <p:nvPr/>
        </p:nvSpPr>
        <p:spPr>
          <a:xfrm>
            <a:off x="5642832" y="2242952"/>
            <a:ext cx="1320768" cy="33547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18B (IF)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23822-EFAE-4BBF-A7EE-6477C4900E09}"/>
              </a:ext>
            </a:extLst>
          </p:cNvPr>
          <p:cNvSpPr/>
          <p:nvPr/>
        </p:nvSpPr>
        <p:spPr>
          <a:xfrm>
            <a:off x="5627944" y="5221943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49C7D-D8C7-48AD-94AF-DE841FD841FC}"/>
              </a:ext>
            </a:extLst>
          </p:cNvPr>
          <p:cNvSpPr/>
          <p:nvPr/>
        </p:nvSpPr>
        <p:spPr>
          <a:xfrm>
            <a:off x="5627942" y="4849071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C5E4D3-9512-438F-A8B2-828D8E5FF211}"/>
              </a:ext>
            </a:extLst>
          </p:cNvPr>
          <p:cNvSpPr/>
          <p:nvPr/>
        </p:nvSpPr>
        <p:spPr>
          <a:xfrm>
            <a:off x="5616343" y="395550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F258-599B-49FC-B50F-71A8594B6C5E}"/>
              </a:ext>
            </a:extLst>
          </p:cNvPr>
          <p:cNvSpPr txBox="1"/>
          <p:nvPr/>
        </p:nvSpPr>
        <p:spPr>
          <a:xfrm>
            <a:off x="7054489" y="553528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68EBF-A23F-48BA-80A8-2B36208128C2}"/>
              </a:ext>
            </a:extLst>
          </p:cNvPr>
          <p:cNvSpPr txBox="1"/>
          <p:nvPr/>
        </p:nvSpPr>
        <p:spPr>
          <a:xfrm>
            <a:off x="7024345" y="438824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93F56-3BFC-4429-8418-ED97B1E27D43}"/>
              </a:ext>
            </a:extLst>
          </p:cNvPr>
          <p:cNvSpPr/>
          <p:nvPr/>
        </p:nvSpPr>
        <p:spPr>
          <a:xfrm>
            <a:off x="5622625" y="1353972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9CBDA-8586-4C7A-9502-92CE96FE868C}"/>
              </a:ext>
            </a:extLst>
          </p:cNvPr>
          <p:cNvSpPr/>
          <p:nvPr/>
        </p:nvSpPr>
        <p:spPr>
          <a:xfrm>
            <a:off x="5636439" y="642786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53D88-8D30-4C5E-AFA6-34B78C876090}"/>
              </a:ext>
            </a:extLst>
          </p:cNvPr>
          <p:cNvSpPr txBox="1"/>
          <p:nvPr/>
        </p:nvSpPr>
        <p:spPr>
          <a:xfrm>
            <a:off x="7006472" y="143119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4E4EB-CC20-4903-96E5-1FBADA9877DF}"/>
              </a:ext>
            </a:extLst>
          </p:cNvPr>
          <p:cNvSpPr txBox="1"/>
          <p:nvPr/>
        </p:nvSpPr>
        <p:spPr>
          <a:xfrm>
            <a:off x="333967" y="4610089"/>
            <a:ext cx="4737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Condition for Internal Fragmentation</a:t>
            </a:r>
          </a:p>
          <a:p>
            <a:r>
              <a:rPr lang="en-US" sz="2400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Size of new FDB &lt; </a:t>
            </a:r>
            <a:r>
              <a:rPr lang="en-US" sz="2400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unit_size_of_ds</a:t>
            </a:r>
            <a:endParaRPr lang="en-US" sz="2400" b="1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2C6CD3-0698-495E-AEAC-CB5DED81E7DA}"/>
              </a:ext>
            </a:extLst>
          </p:cNvPr>
          <p:cNvSpPr/>
          <p:nvPr/>
        </p:nvSpPr>
        <p:spPr>
          <a:xfrm>
            <a:off x="5646045" y="3550060"/>
            <a:ext cx="1337875" cy="40544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90AB4-7C88-4281-96A9-0B52E0A08628}"/>
              </a:ext>
            </a:extLst>
          </p:cNvPr>
          <p:cNvSpPr txBox="1"/>
          <p:nvPr/>
        </p:nvSpPr>
        <p:spPr>
          <a:xfrm>
            <a:off x="458298" y="2710858"/>
            <a:ext cx="25090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Baskerville Old Face" panose="02020602080505020303" pitchFamily="18" charset="0"/>
              </a:rPr>
              <a:t>xmalloc</a:t>
            </a:r>
            <a:r>
              <a:rPr lang="en-US" sz="2400" b="1" dirty="0">
                <a:latin typeface="Baskerville Old Face" panose="02020602080505020303" pitchFamily="18" charset="0"/>
              </a:rPr>
              <a:t>(“</a:t>
            </a:r>
            <a:r>
              <a:rPr lang="en-US" sz="2400" b="1" dirty="0" err="1">
                <a:latin typeface="Baskerville Old Face" panose="02020602080505020303" pitchFamily="18" charset="0"/>
              </a:rPr>
              <a:t>foo_t</a:t>
            </a:r>
            <a:r>
              <a:rPr lang="en-US" sz="2400" b="1" dirty="0">
                <a:latin typeface="Baskerville Old Face" panose="02020602080505020303" pitchFamily="18" charset="0"/>
              </a:rPr>
              <a:t>, 1”)</a:t>
            </a:r>
          </a:p>
          <a:p>
            <a:endParaRPr lang="en-US" sz="2400" b="1" dirty="0">
              <a:latin typeface="Baskerville Old Face" panose="02020602080505020303" pitchFamily="18" charset="0"/>
            </a:endParaRPr>
          </a:p>
          <a:p>
            <a:r>
              <a:rPr lang="en-US" sz="1600" b="1" dirty="0" err="1">
                <a:latin typeface="Baskerville Old Face" panose="02020602080505020303" pitchFamily="18" charset="0"/>
              </a:rPr>
              <a:t>sizeof</a:t>
            </a:r>
            <a:r>
              <a:rPr lang="en-US" sz="1600" b="1" dirty="0">
                <a:latin typeface="Baskerville Old Face" panose="02020602080505020303" pitchFamily="18" charset="0"/>
              </a:rPr>
              <a:t>(</a:t>
            </a:r>
            <a:r>
              <a:rPr lang="en-US" sz="1600" b="1" dirty="0" err="1">
                <a:latin typeface="Baskerville Old Face" panose="02020602080505020303" pitchFamily="18" charset="0"/>
              </a:rPr>
              <a:t>foo_t</a:t>
            </a:r>
            <a:r>
              <a:rPr lang="en-US" sz="1600" b="1" dirty="0">
                <a:latin typeface="Baskerville Old Face" panose="02020602080505020303" pitchFamily="18" charset="0"/>
              </a:rPr>
              <a:t>) = 20B</a:t>
            </a:r>
          </a:p>
          <a:p>
            <a:endParaRPr lang="en-US" sz="1600" b="1" dirty="0">
              <a:latin typeface="Baskerville Old Face" panose="02020602080505020303" pitchFamily="18" charset="0"/>
            </a:endParaRPr>
          </a:p>
          <a:p>
            <a:r>
              <a:rPr lang="en-US" sz="1600" b="1" dirty="0">
                <a:latin typeface="Baskerville Old Face" panose="02020602080505020303" pitchFamily="18" charset="0"/>
              </a:rPr>
              <a:t>Size of Meta block = 28B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3C518-A384-4303-9F26-8744B4FFCEA3}"/>
              </a:ext>
            </a:extLst>
          </p:cNvPr>
          <p:cNvSpPr/>
          <p:nvPr/>
        </p:nvSpPr>
        <p:spPr>
          <a:xfrm>
            <a:off x="5634446" y="2588047"/>
            <a:ext cx="1361071" cy="9421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18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CE5ED-FE1C-4BBC-9A79-1EEDBFAFD3A9}"/>
              </a:ext>
            </a:extLst>
          </p:cNvPr>
          <p:cNvSpPr txBox="1"/>
          <p:nvPr/>
        </p:nvSpPr>
        <p:spPr>
          <a:xfrm>
            <a:off x="7038767" y="294567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MB2’</a:t>
            </a: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60AD8FFB-5DBC-4EF3-ABB6-D608102B022E}"/>
              </a:ext>
            </a:extLst>
          </p:cNvPr>
          <p:cNvSpPr/>
          <p:nvPr/>
        </p:nvSpPr>
        <p:spPr>
          <a:xfrm>
            <a:off x="5445998" y="2252092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40ED2-9CBB-459F-8ECD-12A6D8ACA747}"/>
              </a:ext>
            </a:extLst>
          </p:cNvPr>
          <p:cNvSpPr txBox="1"/>
          <p:nvPr/>
        </p:nvSpPr>
        <p:spPr>
          <a:xfrm>
            <a:off x="4924934" y="2740308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0C276-F80B-4315-8061-B902738496BD}"/>
              </a:ext>
            </a:extLst>
          </p:cNvPr>
          <p:cNvSpPr txBox="1"/>
          <p:nvPr/>
        </p:nvSpPr>
        <p:spPr>
          <a:xfrm>
            <a:off x="9625" y="6225930"/>
            <a:ext cx="12277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Baskerville Old Face" panose="02020602080505020303" pitchFamily="18" charset="0"/>
              </a:rPr>
              <a:t>Note : It is also possible that after block splitting, the amount of free memory left may not even accommodate new meta block. Repeat same Example</a:t>
            </a:r>
          </a:p>
          <a:p>
            <a:r>
              <a:rPr lang="en-US" sz="1600" b="1" dirty="0">
                <a:latin typeface="Baskerville Old Face" panose="02020602080505020303" pitchFamily="18" charset="0"/>
              </a:rPr>
              <a:t>By taking FDB size undergoing split as 46B instead of 66B</a:t>
            </a:r>
          </a:p>
        </p:txBody>
      </p:sp>
    </p:spTree>
    <p:extLst>
      <p:ext uri="{BB962C8B-B14F-4D97-AF65-F5344CB8AC3E}">
        <p14:creationId xmlns:p14="http://schemas.microsoft.com/office/powerpoint/2010/main" val="421533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rrow: Curved Right 51">
            <a:extLst>
              <a:ext uri="{FF2B5EF4-FFF2-40B4-BE49-F238E27FC236}">
                <a16:creationId xmlns:a16="http://schemas.microsoft.com/office/drawing/2014/main" id="{D7E2E17B-37EE-478F-A873-2674E1AD8782}"/>
              </a:ext>
            </a:extLst>
          </p:cNvPr>
          <p:cNvSpPr/>
          <p:nvPr/>
        </p:nvSpPr>
        <p:spPr>
          <a:xfrm rot="10540590">
            <a:off x="7620726" y="1674658"/>
            <a:ext cx="447064" cy="13760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urved Right 52">
            <a:extLst>
              <a:ext uri="{FF2B5EF4-FFF2-40B4-BE49-F238E27FC236}">
                <a16:creationId xmlns:a16="http://schemas.microsoft.com/office/drawing/2014/main" id="{F1145DAB-69AE-4452-98EF-6E4CF488EEB9}"/>
              </a:ext>
            </a:extLst>
          </p:cNvPr>
          <p:cNvSpPr/>
          <p:nvPr/>
        </p:nvSpPr>
        <p:spPr>
          <a:xfrm rot="10540590">
            <a:off x="7543986" y="3110886"/>
            <a:ext cx="447064" cy="13760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Arrow: Curved Right 53">
            <a:extLst>
              <a:ext uri="{FF2B5EF4-FFF2-40B4-BE49-F238E27FC236}">
                <a16:creationId xmlns:a16="http://schemas.microsoft.com/office/drawing/2014/main" id="{965007C8-5CB7-48FF-9831-F68C21B22CEE}"/>
              </a:ext>
            </a:extLst>
          </p:cNvPr>
          <p:cNvSpPr/>
          <p:nvPr/>
        </p:nvSpPr>
        <p:spPr>
          <a:xfrm rot="10540590">
            <a:off x="7523881" y="448690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xcalloc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8256E-3B25-4768-B59C-BAB4346F28EC}"/>
              </a:ext>
            </a:extLst>
          </p:cNvPr>
          <p:cNvSpPr txBox="1"/>
          <p:nvPr/>
        </p:nvSpPr>
        <p:spPr>
          <a:xfrm>
            <a:off x="202130" y="510140"/>
            <a:ext cx="4639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Computing Remaining Size On Split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31255-9E3F-4FAC-876A-7CDD3D04C114}"/>
              </a:ext>
            </a:extLst>
          </p:cNvPr>
          <p:cNvSpPr/>
          <p:nvPr/>
        </p:nvSpPr>
        <p:spPr>
          <a:xfrm>
            <a:off x="6160768" y="65733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48145-41B6-43DA-828B-ECEB1431BB42}"/>
              </a:ext>
            </a:extLst>
          </p:cNvPr>
          <p:cNvSpPr txBox="1"/>
          <p:nvPr/>
        </p:nvSpPr>
        <p:spPr>
          <a:xfrm>
            <a:off x="7483418" y="598954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849DC-4B32-40EE-918C-8BD7A2C05780}"/>
              </a:ext>
            </a:extLst>
          </p:cNvPr>
          <p:cNvSpPr txBox="1"/>
          <p:nvPr/>
        </p:nvSpPr>
        <p:spPr>
          <a:xfrm>
            <a:off x="7483418" y="60034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55D3D-7FA9-434C-9038-3B39B8066367}"/>
              </a:ext>
            </a:extLst>
          </p:cNvPr>
          <p:cNvSpPr/>
          <p:nvPr/>
        </p:nvSpPr>
        <p:spPr>
          <a:xfrm>
            <a:off x="6160432" y="2299949"/>
            <a:ext cx="1320768" cy="33547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18B (IF)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23822-EFAE-4BBF-A7EE-6477C4900E09}"/>
              </a:ext>
            </a:extLst>
          </p:cNvPr>
          <p:cNvSpPr/>
          <p:nvPr/>
        </p:nvSpPr>
        <p:spPr>
          <a:xfrm>
            <a:off x="6145544" y="527894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49C7D-D8C7-48AD-94AF-DE841FD841FC}"/>
              </a:ext>
            </a:extLst>
          </p:cNvPr>
          <p:cNvSpPr/>
          <p:nvPr/>
        </p:nvSpPr>
        <p:spPr>
          <a:xfrm>
            <a:off x="6145542" y="4906068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C5E4D3-9512-438F-A8B2-828D8E5FF211}"/>
              </a:ext>
            </a:extLst>
          </p:cNvPr>
          <p:cNvSpPr/>
          <p:nvPr/>
        </p:nvSpPr>
        <p:spPr>
          <a:xfrm>
            <a:off x="6133943" y="401249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F258-599B-49FC-B50F-71A8594B6C5E}"/>
              </a:ext>
            </a:extLst>
          </p:cNvPr>
          <p:cNvSpPr txBox="1"/>
          <p:nvPr/>
        </p:nvSpPr>
        <p:spPr>
          <a:xfrm>
            <a:off x="7572089" y="559228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68EBF-A23F-48BA-80A8-2B36208128C2}"/>
              </a:ext>
            </a:extLst>
          </p:cNvPr>
          <p:cNvSpPr txBox="1"/>
          <p:nvPr/>
        </p:nvSpPr>
        <p:spPr>
          <a:xfrm>
            <a:off x="7541945" y="444523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93F56-3BFC-4429-8418-ED97B1E27D43}"/>
              </a:ext>
            </a:extLst>
          </p:cNvPr>
          <p:cNvSpPr/>
          <p:nvPr/>
        </p:nvSpPr>
        <p:spPr>
          <a:xfrm>
            <a:off x="6140225" y="141096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MB2’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9CBDA-8586-4C7A-9502-92CE96FE868C}"/>
              </a:ext>
            </a:extLst>
          </p:cNvPr>
          <p:cNvSpPr/>
          <p:nvPr/>
        </p:nvSpPr>
        <p:spPr>
          <a:xfrm>
            <a:off x="6154039" y="699783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53D88-8D30-4C5E-AFA6-34B78C876090}"/>
              </a:ext>
            </a:extLst>
          </p:cNvPr>
          <p:cNvSpPr txBox="1"/>
          <p:nvPr/>
        </p:nvSpPr>
        <p:spPr>
          <a:xfrm>
            <a:off x="7524072" y="148818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4E4EB-CC20-4903-96E5-1FBADA9877DF}"/>
              </a:ext>
            </a:extLst>
          </p:cNvPr>
          <p:cNvSpPr txBox="1"/>
          <p:nvPr/>
        </p:nvSpPr>
        <p:spPr>
          <a:xfrm>
            <a:off x="215655" y="3055864"/>
            <a:ext cx="4737194" cy="3108543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Condition for </a:t>
            </a:r>
            <a:r>
              <a:rPr lang="en-US" sz="2400" b="1" dirty="0">
                <a:solidFill>
                  <a:srgbClr val="00B0F0"/>
                </a:solidFill>
                <a:latin typeface="Baskerville Old Face" panose="02020602080505020303" pitchFamily="18" charset="0"/>
              </a:rPr>
              <a:t>Internal Fragmentation</a:t>
            </a:r>
          </a:p>
          <a:p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Case 1 :  Soft IF</a:t>
            </a:r>
          </a:p>
          <a:p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       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sizeof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(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meta_block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) &lt; </a:t>
            </a:r>
            <a:r>
              <a:rPr lang="en-US" b="1" dirty="0">
                <a:solidFill>
                  <a:srgbClr val="92D050"/>
                </a:solidFill>
                <a:latin typeface="Baskerville Old Face" panose="02020602080505020303" pitchFamily="18" charset="0"/>
              </a:rPr>
              <a:t>Remaining Size 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&lt;</a:t>
            </a:r>
          </a:p>
          <a:p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                   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sizeof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(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meta_block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) + 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sizeof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(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foo_t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Baskerville Old Face" panose="02020602080505020303" pitchFamily="18" charset="0"/>
              </a:rPr>
              <a:t>No Special handling during Free</a:t>
            </a:r>
          </a:p>
          <a:p>
            <a:endParaRPr lang="en-US" b="1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  <a:p>
            <a:endParaRPr lang="en-US" b="1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Case 2 :  Hard IF</a:t>
            </a:r>
          </a:p>
          <a:p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        0 &lt; </a:t>
            </a:r>
            <a:r>
              <a:rPr lang="en-US" b="1" dirty="0">
                <a:solidFill>
                  <a:srgbClr val="92D050"/>
                </a:solidFill>
                <a:latin typeface="Baskerville Old Face" panose="02020602080505020303" pitchFamily="18" charset="0"/>
              </a:rPr>
              <a:t>Remaining Size 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&lt; 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sizeof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(</a:t>
            </a:r>
            <a:r>
              <a:rPr lang="en-US" b="1" dirty="0" err="1">
                <a:solidFill>
                  <a:srgbClr val="FFC000"/>
                </a:solidFill>
                <a:latin typeface="Baskerville Old Face" panose="02020602080505020303" pitchFamily="18" charset="0"/>
              </a:rPr>
              <a:t>meta_block</a:t>
            </a:r>
            <a:r>
              <a:rPr lang="en-US" b="1" dirty="0">
                <a:solidFill>
                  <a:srgbClr val="FFC000"/>
                </a:solidFill>
                <a:latin typeface="Baskerville Old Face" panose="02020602080505020303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Baskerville Old Face" panose="02020602080505020303" pitchFamily="18" charset="0"/>
              </a:rPr>
              <a:t>Special Handling during Free</a:t>
            </a:r>
          </a:p>
          <a:p>
            <a:endParaRPr lang="en-US" b="1" dirty="0">
              <a:solidFill>
                <a:srgbClr val="FFC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2C6CD3-0698-495E-AEAC-CB5DED81E7DA}"/>
              </a:ext>
            </a:extLst>
          </p:cNvPr>
          <p:cNvSpPr/>
          <p:nvPr/>
        </p:nvSpPr>
        <p:spPr>
          <a:xfrm>
            <a:off x="6163645" y="3607057"/>
            <a:ext cx="1337875" cy="40544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90AB4-7C88-4281-96A9-0B52E0A08628}"/>
              </a:ext>
            </a:extLst>
          </p:cNvPr>
          <p:cNvSpPr txBox="1"/>
          <p:nvPr/>
        </p:nvSpPr>
        <p:spPr>
          <a:xfrm>
            <a:off x="291372" y="1170648"/>
            <a:ext cx="25090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Baskerville Old Face" panose="02020602080505020303" pitchFamily="18" charset="0"/>
              </a:rPr>
              <a:t>xmalloc</a:t>
            </a:r>
            <a:r>
              <a:rPr lang="en-US" sz="2400" b="1" dirty="0">
                <a:latin typeface="Baskerville Old Face" panose="02020602080505020303" pitchFamily="18" charset="0"/>
              </a:rPr>
              <a:t>(“</a:t>
            </a:r>
            <a:r>
              <a:rPr lang="en-US" sz="2400" b="1" dirty="0" err="1">
                <a:latin typeface="Baskerville Old Face" panose="02020602080505020303" pitchFamily="18" charset="0"/>
              </a:rPr>
              <a:t>foo_t</a:t>
            </a:r>
            <a:r>
              <a:rPr lang="en-US" sz="2400" b="1" dirty="0">
                <a:latin typeface="Baskerville Old Face" panose="02020602080505020303" pitchFamily="18" charset="0"/>
              </a:rPr>
              <a:t>, 1”)</a:t>
            </a:r>
          </a:p>
          <a:p>
            <a:endParaRPr lang="en-US" sz="2400" b="1" dirty="0">
              <a:latin typeface="Baskerville Old Face" panose="02020602080505020303" pitchFamily="18" charset="0"/>
            </a:endParaRPr>
          </a:p>
          <a:p>
            <a:r>
              <a:rPr lang="en-US" sz="1600" b="1" dirty="0" err="1">
                <a:latin typeface="Baskerville Old Face" panose="02020602080505020303" pitchFamily="18" charset="0"/>
              </a:rPr>
              <a:t>sizeof</a:t>
            </a:r>
            <a:r>
              <a:rPr lang="en-US" sz="1600" b="1" dirty="0">
                <a:latin typeface="Baskerville Old Face" panose="02020602080505020303" pitchFamily="18" charset="0"/>
              </a:rPr>
              <a:t>(</a:t>
            </a:r>
            <a:r>
              <a:rPr lang="en-US" sz="1600" b="1" dirty="0" err="1">
                <a:latin typeface="Baskerville Old Face" panose="02020602080505020303" pitchFamily="18" charset="0"/>
              </a:rPr>
              <a:t>foo_t</a:t>
            </a:r>
            <a:r>
              <a:rPr lang="en-US" sz="1600" b="1" dirty="0">
                <a:latin typeface="Baskerville Old Face" panose="02020602080505020303" pitchFamily="18" charset="0"/>
              </a:rPr>
              <a:t>) = 20B</a:t>
            </a:r>
          </a:p>
          <a:p>
            <a:endParaRPr lang="en-US" sz="1600" b="1" dirty="0">
              <a:latin typeface="Baskerville Old Face" panose="02020602080505020303" pitchFamily="18" charset="0"/>
            </a:endParaRPr>
          </a:p>
          <a:p>
            <a:r>
              <a:rPr lang="en-US" sz="1600" b="1" dirty="0">
                <a:latin typeface="Baskerville Old Face" panose="02020602080505020303" pitchFamily="18" charset="0"/>
              </a:rPr>
              <a:t>Size of Meta block = 28B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3C518-A384-4303-9F26-8744B4FFCEA3}"/>
              </a:ext>
            </a:extLst>
          </p:cNvPr>
          <p:cNvSpPr/>
          <p:nvPr/>
        </p:nvSpPr>
        <p:spPr>
          <a:xfrm>
            <a:off x="6152046" y="2645044"/>
            <a:ext cx="1361071" cy="9421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18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60AD8FFB-5DBC-4EF3-ABB6-D608102B022E}"/>
              </a:ext>
            </a:extLst>
          </p:cNvPr>
          <p:cNvSpPr/>
          <p:nvPr/>
        </p:nvSpPr>
        <p:spPr>
          <a:xfrm>
            <a:off x="5963598" y="2309089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FDAEE-D8A7-4A6F-B0E4-F4DA01C177F3}"/>
              </a:ext>
            </a:extLst>
          </p:cNvPr>
          <p:cNvSpPr/>
          <p:nvPr/>
        </p:nvSpPr>
        <p:spPr>
          <a:xfrm>
            <a:off x="9325686" y="65733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0E72D-DEED-4998-A337-B9109E2333BB}"/>
              </a:ext>
            </a:extLst>
          </p:cNvPr>
          <p:cNvSpPr txBox="1"/>
          <p:nvPr/>
        </p:nvSpPr>
        <p:spPr>
          <a:xfrm>
            <a:off x="10648336" y="598954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50D33-4408-4497-B38E-510939DD2BD0}"/>
              </a:ext>
            </a:extLst>
          </p:cNvPr>
          <p:cNvSpPr txBox="1"/>
          <p:nvPr/>
        </p:nvSpPr>
        <p:spPr>
          <a:xfrm>
            <a:off x="10648336" y="60034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C63A36-B6DB-4C69-BE4F-EB661744FB69}"/>
              </a:ext>
            </a:extLst>
          </p:cNvPr>
          <p:cNvSpPr/>
          <p:nvPr/>
        </p:nvSpPr>
        <p:spPr>
          <a:xfrm>
            <a:off x="9325350" y="2299949"/>
            <a:ext cx="1320768" cy="12872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26B (IF)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967547-0397-4807-8014-511A3BE6EAE7}"/>
              </a:ext>
            </a:extLst>
          </p:cNvPr>
          <p:cNvSpPr/>
          <p:nvPr/>
        </p:nvSpPr>
        <p:spPr>
          <a:xfrm>
            <a:off x="9310462" y="527894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A326B8-01A1-4DD6-85EB-1C21359EDC92}"/>
              </a:ext>
            </a:extLst>
          </p:cNvPr>
          <p:cNvSpPr/>
          <p:nvPr/>
        </p:nvSpPr>
        <p:spPr>
          <a:xfrm>
            <a:off x="9310460" y="4906068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A7C64A-5C8D-43DA-9FC4-41F78F3EE237}"/>
              </a:ext>
            </a:extLst>
          </p:cNvPr>
          <p:cNvSpPr/>
          <p:nvPr/>
        </p:nvSpPr>
        <p:spPr>
          <a:xfrm>
            <a:off x="9298861" y="401249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D4A97F-A2AC-4E2C-BA83-862C0D262DAF}"/>
              </a:ext>
            </a:extLst>
          </p:cNvPr>
          <p:cNvSpPr/>
          <p:nvPr/>
        </p:nvSpPr>
        <p:spPr>
          <a:xfrm>
            <a:off x="9305143" y="141096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. . .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1BBC33-6A7C-422F-8B1A-F52F0B4B690B}"/>
              </a:ext>
            </a:extLst>
          </p:cNvPr>
          <p:cNvSpPr/>
          <p:nvPr/>
        </p:nvSpPr>
        <p:spPr>
          <a:xfrm>
            <a:off x="9318957" y="699783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. .B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9F1B0D-8BF1-48D4-9245-54E489CB3E76}"/>
              </a:ext>
            </a:extLst>
          </p:cNvPr>
          <p:cNvSpPr txBox="1"/>
          <p:nvPr/>
        </p:nvSpPr>
        <p:spPr>
          <a:xfrm>
            <a:off x="10688990" y="148818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5307E1-C80A-4CBE-B2DF-147C1E738DC9}"/>
              </a:ext>
            </a:extLst>
          </p:cNvPr>
          <p:cNvSpPr/>
          <p:nvPr/>
        </p:nvSpPr>
        <p:spPr>
          <a:xfrm>
            <a:off x="9328563" y="3607057"/>
            <a:ext cx="1337875" cy="40544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1D544528-9DB3-476F-9252-FDE5A19064B1}"/>
              </a:ext>
            </a:extLst>
          </p:cNvPr>
          <p:cNvSpPr/>
          <p:nvPr/>
        </p:nvSpPr>
        <p:spPr>
          <a:xfrm>
            <a:off x="9128516" y="2309089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F1B6B5-7A04-49CC-9534-AA71A628875A}"/>
              </a:ext>
            </a:extLst>
          </p:cNvPr>
          <p:cNvSpPr txBox="1"/>
          <p:nvPr/>
        </p:nvSpPr>
        <p:spPr>
          <a:xfrm>
            <a:off x="6615458" y="364421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867AFD-E252-4604-8A94-6FDF68A31741}"/>
              </a:ext>
            </a:extLst>
          </p:cNvPr>
          <p:cNvSpPr txBox="1"/>
          <p:nvPr/>
        </p:nvSpPr>
        <p:spPr>
          <a:xfrm>
            <a:off x="9778398" y="366403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2D2A5-901D-47E6-9380-EAD8C9AA70DD}"/>
              </a:ext>
            </a:extLst>
          </p:cNvPr>
          <p:cNvSpPr txBox="1"/>
          <p:nvPr/>
        </p:nvSpPr>
        <p:spPr>
          <a:xfrm>
            <a:off x="6397090" y="6257625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Case 1</a:t>
            </a:r>
          </a:p>
          <a:p>
            <a:pPr algn="ctr"/>
            <a:r>
              <a:rPr lang="en-US" sz="1400" dirty="0"/>
              <a:t>Soft IF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BC7E45-30E3-4838-BFDE-A1393A76F16F}"/>
              </a:ext>
            </a:extLst>
          </p:cNvPr>
          <p:cNvSpPr txBox="1"/>
          <p:nvPr/>
        </p:nvSpPr>
        <p:spPr>
          <a:xfrm>
            <a:off x="9584841" y="6252376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Case 2</a:t>
            </a:r>
          </a:p>
          <a:p>
            <a:pPr algn="ctr"/>
            <a:r>
              <a:rPr lang="en-US" sz="1400" dirty="0"/>
              <a:t>Hard IF</a:t>
            </a:r>
          </a:p>
        </p:txBody>
      </p:sp>
      <p:sp>
        <p:nvSpPr>
          <p:cNvPr id="46" name="Arrow: Curved Right 45">
            <a:extLst>
              <a:ext uri="{FF2B5EF4-FFF2-40B4-BE49-F238E27FC236}">
                <a16:creationId xmlns:a16="http://schemas.microsoft.com/office/drawing/2014/main" id="{70065D14-170E-48E0-897D-B8068ABAD805}"/>
              </a:ext>
            </a:extLst>
          </p:cNvPr>
          <p:cNvSpPr/>
          <p:nvPr/>
        </p:nvSpPr>
        <p:spPr>
          <a:xfrm>
            <a:off x="5658634" y="1888259"/>
            <a:ext cx="447064" cy="13760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urved Right 47">
            <a:extLst>
              <a:ext uri="{FF2B5EF4-FFF2-40B4-BE49-F238E27FC236}">
                <a16:creationId xmlns:a16="http://schemas.microsoft.com/office/drawing/2014/main" id="{8739C3CC-9375-4BD3-AF58-E2786C4B03C1}"/>
              </a:ext>
            </a:extLst>
          </p:cNvPr>
          <p:cNvSpPr/>
          <p:nvPr/>
        </p:nvSpPr>
        <p:spPr>
          <a:xfrm>
            <a:off x="5581894" y="3324487"/>
            <a:ext cx="447064" cy="13760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urved Right 48">
            <a:extLst>
              <a:ext uri="{FF2B5EF4-FFF2-40B4-BE49-F238E27FC236}">
                <a16:creationId xmlns:a16="http://schemas.microsoft.com/office/drawing/2014/main" id="{0BDEBC45-F495-499A-93E0-857DD9AC6F7E}"/>
              </a:ext>
            </a:extLst>
          </p:cNvPr>
          <p:cNvSpPr/>
          <p:nvPr/>
        </p:nvSpPr>
        <p:spPr>
          <a:xfrm>
            <a:off x="5561789" y="4700507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Arrow: Curved Right 54">
            <a:extLst>
              <a:ext uri="{FF2B5EF4-FFF2-40B4-BE49-F238E27FC236}">
                <a16:creationId xmlns:a16="http://schemas.microsoft.com/office/drawing/2014/main" id="{7D2CD3E9-8D0F-4F60-9853-14B026B061B0}"/>
              </a:ext>
            </a:extLst>
          </p:cNvPr>
          <p:cNvSpPr/>
          <p:nvPr/>
        </p:nvSpPr>
        <p:spPr>
          <a:xfrm>
            <a:off x="8758192" y="1784774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Arrow: Curved Right 55">
            <a:extLst>
              <a:ext uri="{FF2B5EF4-FFF2-40B4-BE49-F238E27FC236}">
                <a16:creationId xmlns:a16="http://schemas.microsoft.com/office/drawing/2014/main" id="{F5F4E94D-4D17-46B9-A878-D951CD9D5E90}"/>
              </a:ext>
            </a:extLst>
          </p:cNvPr>
          <p:cNvSpPr/>
          <p:nvPr/>
        </p:nvSpPr>
        <p:spPr>
          <a:xfrm>
            <a:off x="8740308" y="464776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40ED2-9CBB-459F-8ECD-12A6D8ACA747}"/>
              </a:ext>
            </a:extLst>
          </p:cNvPr>
          <p:cNvSpPr txBox="1"/>
          <p:nvPr/>
        </p:nvSpPr>
        <p:spPr>
          <a:xfrm>
            <a:off x="5442534" y="2797305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8DBBA1-455E-4839-B129-0839854C51D3}"/>
              </a:ext>
            </a:extLst>
          </p:cNvPr>
          <p:cNvSpPr txBox="1"/>
          <p:nvPr/>
        </p:nvSpPr>
        <p:spPr>
          <a:xfrm>
            <a:off x="8598730" y="2689802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46B</a:t>
            </a:r>
          </a:p>
        </p:txBody>
      </p:sp>
      <p:sp>
        <p:nvSpPr>
          <p:cNvPr id="57" name="Arrow: Curved Right 56">
            <a:extLst>
              <a:ext uri="{FF2B5EF4-FFF2-40B4-BE49-F238E27FC236}">
                <a16:creationId xmlns:a16="http://schemas.microsoft.com/office/drawing/2014/main" id="{A6B91C88-6E7E-4F2D-8C5A-CB280DC178F9}"/>
              </a:ext>
            </a:extLst>
          </p:cNvPr>
          <p:cNvSpPr/>
          <p:nvPr/>
        </p:nvSpPr>
        <p:spPr>
          <a:xfrm rot="10605864">
            <a:off x="10852650" y="1822403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Curved Right 57">
            <a:extLst>
              <a:ext uri="{FF2B5EF4-FFF2-40B4-BE49-F238E27FC236}">
                <a16:creationId xmlns:a16="http://schemas.microsoft.com/office/drawing/2014/main" id="{60FF10B6-4CD6-413B-82A2-7205EB3DF907}"/>
              </a:ext>
            </a:extLst>
          </p:cNvPr>
          <p:cNvSpPr/>
          <p:nvPr/>
        </p:nvSpPr>
        <p:spPr>
          <a:xfrm rot="10605864">
            <a:off x="10834766" y="468539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5FA2BC-B6F3-443D-827C-470CD51C0AA0}"/>
              </a:ext>
            </a:extLst>
          </p:cNvPr>
          <p:cNvSpPr txBox="1"/>
          <p:nvPr/>
        </p:nvSpPr>
        <p:spPr>
          <a:xfrm>
            <a:off x="10706863" y="444523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FBF88-744E-4C11-95B7-7C0F1757AB2D}"/>
              </a:ext>
            </a:extLst>
          </p:cNvPr>
          <p:cNvSpPr txBox="1"/>
          <p:nvPr/>
        </p:nvSpPr>
        <p:spPr>
          <a:xfrm>
            <a:off x="10737007" y="559228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CE5ED-FE1C-4BBC-9A79-1EEDBFAFD3A9}"/>
              </a:ext>
            </a:extLst>
          </p:cNvPr>
          <p:cNvSpPr txBox="1"/>
          <p:nvPr/>
        </p:nvSpPr>
        <p:spPr>
          <a:xfrm>
            <a:off x="7556367" y="300266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MB2’</a:t>
            </a:r>
          </a:p>
        </p:txBody>
      </p:sp>
    </p:spTree>
    <p:extLst>
      <p:ext uri="{BB962C8B-B14F-4D97-AF65-F5344CB8AC3E}">
        <p14:creationId xmlns:p14="http://schemas.microsoft.com/office/powerpoint/2010/main" val="382784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xmalloc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506AD5-AC4E-44B4-9D69-08E2D77CFB6A}"/>
              </a:ext>
            </a:extLst>
          </p:cNvPr>
          <p:cNvSpPr txBox="1"/>
          <p:nvPr/>
        </p:nvSpPr>
        <p:spPr>
          <a:xfrm>
            <a:off x="1058778" y="1313186"/>
            <a:ext cx="976581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xfree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 ) </a:t>
            </a:r>
            <a:r>
              <a:rPr lang="en-US" dirty="0">
                <a:latin typeface="Baskerville Old Face" panose="02020602080505020303" pitchFamily="18" charset="0"/>
              </a:rPr>
              <a:t>is used by the application to return the Data block back to the LMM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Returned memory will be marked as Available by LMM and is available for future allocations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Challenges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</a:t>
            </a:r>
            <a:r>
              <a:rPr lang="en-US" i="1" dirty="0" err="1">
                <a:latin typeface="Baskerville Old Face" panose="02020602080505020303" pitchFamily="18" charset="0"/>
              </a:rPr>
              <a:t>to_be_free_block</a:t>
            </a:r>
            <a:r>
              <a:rPr lang="en-US" dirty="0">
                <a:latin typeface="Baskerville Old Face" panose="02020602080505020303" pitchFamily="18" charset="0"/>
              </a:rPr>
              <a:t> may have to be merged with pre-existing free data blocks directly above/or</a:t>
            </a: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	beneath it in VM data page</a:t>
            </a:r>
          </a:p>
          <a:p>
            <a:pPr lvl="1"/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Check VM Data Page boundary conditions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Merge Hard Internal Fragmented memory if any 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Note : Soft IF memory will be merged as per the usual algorithm, no special handling required</a:t>
            </a:r>
          </a:p>
          <a:p>
            <a:pPr lvl="1"/>
            <a:endParaRPr lang="en-US" dirty="0">
              <a:latin typeface="Baskerville Old Face" panose="02020602080505020303" pitchFamily="18" charset="0"/>
            </a:endParaRP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Let us see the cases to be covered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1496A-DB46-43AF-9BF1-7926EE34366C}"/>
              </a:ext>
            </a:extLst>
          </p:cNvPr>
          <p:cNvSpPr txBox="1"/>
          <p:nvPr/>
        </p:nvSpPr>
        <p:spPr>
          <a:xfrm>
            <a:off x="329307" y="641204"/>
            <a:ext cx="893102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8573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xmalloc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FDAEE-D8A7-4A6F-B0E4-F4DA01C177F3}"/>
              </a:ext>
            </a:extLst>
          </p:cNvPr>
          <p:cNvSpPr/>
          <p:nvPr/>
        </p:nvSpPr>
        <p:spPr>
          <a:xfrm>
            <a:off x="726956" y="499120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0E72D-DEED-4998-A337-B9109E2333BB}"/>
              </a:ext>
            </a:extLst>
          </p:cNvPr>
          <p:cNvSpPr txBox="1"/>
          <p:nvPr/>
        </p:nvSpPr>
        <p:spPr>
          <a:xfrm>
            <a:off x="2049606" y="583132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50D33-4408-4497-B38E-510939DD2BD0}"/>
              </a:ext>
            </a:extLst>
          </p:cNvPr>
          <p:cNvSpPr txBox="1"/>
          <p:nvPr/>
        </p:nvSpPr>
        <p:spPr>
          <a:xfrm>
            <a:off x="2049606" y="442123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C63A36-B6DB-4C69-BE4F-EB661744FB69}"/>
              </a:ext>
            </a:extLst>
          </p:cNvPr>
          <p:cNvSpPr/>
          <p:nvPr/>
        </p:nvSpPr>
        <p:spPr>
          <a:xfrm>
            <a:off x="726620" y="2141730"/>
            <a:ext cx="1320768" cy="12872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26B (IF)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967547-0397-4807-8014-511A3BE6EAE7}"/>
              </a:ext>
            </a:extLst>
          </p:cNvPr>
          <p:cNvSpPr/>
          <p:nvPr/>
        </p:nvSpPr>
        <p:spPr>
          <a:xfrm>
            <a:off x="711732" y="512072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A326B8-01A1-4DD6-85EB-1C21359EDC92}"/>
              </a:ext>
            </a:extLst>
          </p:cNvPr>
          <p:cNvSpPr/>
          <p:nvPr/>
        </p:nvSpPr>
        <p:spPr>
          <a:xfrm>
            <a:off x="711730" y="4747849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A7C64A-5C8D-43DA-9FC4-41F78F3EE237}"/>
              </a:ext>
            </a:extLst>
          </p:cNvPr>
          <p:cNvSpPr/>
          <p:nvPr/>
        </p:nvSpPr>
        <p:spPr>
          <a:xfrm>
            <a:off x="700131" y="385427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D4A97F-A2AC-4E2C-BA83-862C0D262DAF}"/>
              </a:ext>
            </a:extLst>
          </p:cNvPr>
          <p:cNvSpPr/>
          <p:nvPr/>
        </p:nvSpPr>
        <p:spPr>
          <a:xfrm>
            <a:off x="706413" y="125275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1BBC33-6A7C-422F-8B1A-F52F0B4B690B}"/>
              </a:ext>
            </a:extLst>
          </p:cNvPr>
          <p:cNvSpPr/>
          <p:nvPr/>
        </p:nvSpPr>
        <p:spPr>
          <a:xfrm>
            <a:off x="720227" y="541564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9F1B0D-8BF1-48D4-9245-54E489CB3E76}"/>
              </a:ext>
            </a:extLst>
          </p:cNvPr>
          <p:cNvSpPr txBox="1"/>
          <p:nvPr/>
        </p:nvSpPr>
        <p:spPr>
          <a:xfrm>
            <a:off x="2090260" y="132996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5307E1-C80A-4CBE-B2DF-147C1E738DC9}"/>
              </a:ext>
            </a:extLst>
          </p:cNvPr>
          <p:cNvSpPr/>
          <p:nvPr/>
        </p:nvSpPr>
        <p:spPr>
          <a:xfrm>
            <a:off x="729833" y="3448838"/>
            <a:ext cx="1337875" cy="40544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1D544528-9DB3-476F-9252-FDE5A19064B1}"/>
              </a:ext>
            </a:extLst>
          </p:cNvPr>
          <p:cNvSpPr/>
          <p:nvPr/>
        </p:nvSpPr>
        <p:spPr>
          <a:xfrm>
            <a:off x="529786" y="2150870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867AFD-E252-4604-8A94-6FDF68A31741}"/>
              </a:ext>
            </a:extLst>
          </p:cNvPr>
          <p:cNvSpPr txBox="1"/>
          <p:nvPr/>
        </p:nvSpPr>
        <p:spPr>
          <a:xfrm>
            <a:off x="1179668" y="350582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20B</a:t>
            </a:r>
          </a:p>
        </p:txBody>
      </p:sp>
      <p:sp>
        <p:nvSpPr>
          <p:cNvPr id="55" name="Arrow: Curved Right 54">
            <a:extLst>
              <a:ext uri="{FF2B5EF4-FFF2-40B4-BE49-F238E27FC236}">
                <a16:creationId xmlns:a16="http://schemas.microsoft.com/office/drawing/2014/main" id="{7D2CD3E9-8D0F-4F60-9853-14B026B061B0}"/>
              </a:ext>
            </a:extLst>
          </p:cNvPr>
          <p:cNvSpPr/>
          <p:nvPr/>
        </p:nvSpPr>
        <p:spPr>
          <a:xfrm>
            <a:off x="159462" y="1626555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Arrow: Curved Right 55">
            <a:extLst>
              <a:ext uri="{FF2B5EF4-FFF2-40B4-BE49-F238E27FC236}">
                <a16:creationId xmlns:a16="http://schemas.microsoft.com/office/drawing/2014/main" id="{F5F4E94D-4D17-46B9-A878-D951CD9D5E90}"/>
              </a:ext>
            </a:extLst>
          </p:cNvPr>
          <p:cNvSpPr/>
          <p:nvPr/>
        </p:nvSpPr>
        <p:spPr>
          <a:xfrm>
            <a:off x="141578" y="4489547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8DBBA1-455E-4839-B129-0839854C51D3}"/>
              </a:ext>
            </a:extLst>
          </p:cNvPr>
          <p:cNvSpPr txBox="1"/>
          <p:nvPr/>
        </p:nvSpPr>
        <p:spPr>
          <a:xfrm>
            <a:off x="0" y="2531583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46B</a:t>
            </a:r>
          </a:p>
        </p:txBody>
      </p:sp>
      <p:sp>
        <p:nvSpPr>
          <p:cNvPr id="57" name="Arrow: Curved Right 56">
            <a:extLst>
              <a:ext uri="{FF2B5EF4-FFF2-40B4-BE49-F238E27FC236}">
                <a16:creationId xmlns:a16="http://schemas.microsoft.com/office/drawing/2014/main" id="{A6B91C88-6E7E-4F2D-8C5A-CB280DC178F9}"/>
              </a:ext>
            </a:extLst>
          </p:cNvPr>
          <p:cNvSpPr/>
          <p:nvPr/>
        </p:nvSpPr>
        <p:spPr>
          <a:xfrm rot="10605864">
            <a:off x="2253920" y="1664184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Curved Right 57">
            <a:extLst>
              <a:ext uri="{FF2B5EF4-FFF2-40B4-BE49-F238E27FC236}">
                <a16:creationId xmlns:a16="http://schemas.microsoft.com/office/drawing/2014/main" id="{60FF10B6-4CD6-413B-82A2-7205EB3DF907}"/>
              </a:ext>
            </a:extLst>
          </p:cNvPr>
          <p:cNvSpPr/>
          <p:nvPr/>
        </p:nvSpPr>
        <p:spPr>
          <a:xfrm rot="10605864">
            <a:off x="2236036" y="452717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5FA2BC-B6F3-443D-827C-470CD51C0AA0}"/>
              </a:ext>
            </a:extLst>
          </p:cNvPr>
          <p:cNvSpPr txBox="1"/>
          <p:nvPr/>
        </p:nvSpPr>
        <p:spPr>
          <a:xfrm>
            <a:off x="2108133" y="428701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FBF88-744E-4C11-95B7-7C0F1757AB2D}"/>
              </a:ext>
            </a:extLst>
          </p:cNvPr>
          <p:cNvSpPr txBox="1"/>
          <p:nvPr/>
        </p:nvSpPr>
        <p:spPr>
          <a:xfrm>
            <a:off x="2138277" y="543406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75E230-5FA2-47DC-BBAB-2902B40D5789}"/>
              </a:ext>
            </a:extLst>
          </p:cNvPr>
          <p:cNvSpPr/>
          <p:nvPr/>
        </p:nvSpPr>
        <p:spPr>
          <a:xfrm>
            <a:off x="3748738" y="582833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713424-9BB1-499F-9415-DC958461438F}"/>
              </a:ext>
            </a:extLst>
          </p:cNvPr>
          <p:cNvSpPr txBox="1"/>
          <p:nvPr/>
        </p:nvSpPr>
        <p:spPr>
          <a:xfrm>
            <a:off x="5071388" y="591503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B4CED9-8528-4096-A130-5609312E3B48}"/>
              </a:ext>
            </a:extLst>
          </p:cNvPr>
          <p:cNvSpPr txBox="1"/>
          <p:nvPr/>
        </p:nvSpPr>
        <p:spPr>
          <a:xfrm>
            <a:off x="5071388" y="525836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CDAC2E-C8DC-4441-B19E-5C2A6B365A59}"/>
              </a:ext>
            </a:extLst>
          </p:cNvPr>
          <p:cNvSpPr/>
          <p:nvPr/>
        </p:nvSpPr>
        <p:spPr>
          <a:xfrm>
            <a:off x="3748402" y="2225443"/>
            <a:ext cx="1320768" cy="1712548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481E39F-76E5-462F-999A-B28A6E8B5F08}"/>
              </a:ext>
            </a:extLst>
          </p:cNvPr>
          <p:cNvSpPr/>
          <p:nvPr/>
        </p:nvSpPr>
        <p:spPr>
          <a:xfrm>
            <a:off x="3733514" y="5204434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055C29-CAF8-4979-96ED-A5CE6E168B68}"/>
              </a:ext>
            </a:extLst>
          </p:cNvPr>
          <p:cNvSpPr/>
          <p:nvPr/>
        </p:nvSpPr>
        <p:spPr>
          <a:xfrm>
            <a:off x="3733512" y="4831562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4EF32CC-B060-4645-BD57-21F1835E5936}"/>
              </a:ext>
            </a:extLst>
          </p:cNvPr>
          <p:cNvSpPr/>
          <p:nvPr/>
        </p:nvSpPr>
        <p:spPr>
          <a:xfrm>
            <a:off x="3721913" y="393799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46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94D22F-CDFF-456D-8EF6-3659810EAD02}"/>
              </a:ext>
            </a:extLst>
          </p:cNvPr>
          <p:cNvSpPr/>
          <p:nvPr/>
        </p:nvSpPr>
        <p:spPr>
          <a:xfrm>
            <a:off x="3728195" y="133646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A5A6A80-13A0-42EA-A35A-689606CA979F}"/>
              </a:ext>
            </a:extLst>
          </p:cNvPr>
          <p:cNvSpPr/>
          <p:nvPr/>
        </p:nvSpPr>
        <p:spPr>
          <a:xfrm>
            <a:off x="3742009" y="625277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593652-575D-4CCF-B829-5406E6C0D983}"/>
              </a:ext>
            </a:extLst>
          </p:cNvPr>
          <p:cNvSpPr txBox="1"/>
          <p:nvPr/>
        </p:nvSpPr>
        <p:spPr>
          <a:xfrm>
            <a:off x="5112042" y="141368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71" name="Arrow: Up-Down 70">
            <a:extLst>
              <a:ext uri="{FF2B5EF4-FFF2-40B4-BE49-F238E27FC236}">
                <a16:creationId xmlns:a16="http://schemas.microsoft.com/office/drawing/2014/main" id="{6C362CAA-E396-407F-89C7-597422C1E63E}"/>
              </a:ext>
            </a:extLst>
          </p:cNvPr>
          <p:cNvSpPr/>
          <p:nvPr/>
        </p:nvSpPr>
        <p:spPr>
          <a:xfrm>
            <a:off x="3551568" y="2234583"/>
            <a:ext cx="120096" cy="1703408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Curved Right 73">
            <a:extLst>
              <a:ext uri="{FF2B5EF4-FFF2-40B4-BE49-F238E27FC236}">
                <a16:creationId xmlns:a16="http://schemas.microsoft.com/office/drawing/2014/main" id="{B6041356-27C8-44CA-8DBE-5C5E8FEA787A}"/>
              </a:ext>
            </a:extLst>
          </p:cNvPr>
          <p:cNvSpPr/>
          <p:nvPr/>
        </p:nvSpPr>
        <p:spPr>
          <a:xfrm>
            <a:off x="3181244" y="1710268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Arrow: Curved Right 74">
            <a:extLst>
              <a:ext uri="{FF2B5EF4-FFF2-40B4-BE49-F238E27FC236}">
                <a16:creationId xmlns:a16="http://schemas.microsoft.com/office/drawing/2014/main" id="{B6BA71BE-7648-4BA2-8117-902D07872001}"/>
              </a:ext>
            </a:extLst>
          </p:cNvPr>
          <p:cNvSpPr/>
          <p:nvPr/>
        </p:nvSpPr>
        <p:spPr>
          <a:xfrm>
            <a:off x="3163360" y="4573260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57C50F-30C4-4737-BE3F-647DDD4C2315}"/>
              </a:ext>
            </a:extLst>
          </p:cNvPr>
          <p:cNvSpPr txBox="1"/>
          <p:nvPr/>
        </p:nvSpPr>
        <p:spPr>
          <a:xfrm>
            <a:off x="3021782" y="2615296"/>
            <a:ext cx="67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46B</a:t>
            </a:r>
          </a:p>
        </p:txBody>
      </p:sp>
      <p:sp>
        <p:nvSpPr>
          <p:cNvPr id="77" name="Arrow: Curved Right 76">
            <a:extLst>
              <a:ext uri="{FF2B5EF4-FFF2-40B4-BE49-F238E27FC236}">
                <a16:creationId xmlns:a16="http://schemas.microsoft.com/office/drawing/2014/main" id="{147AE5E8-20B9-4A6B-BDA7-1A328A9450B1}"/>
              </a:ext>
            </a:extLst>
          </p:cNvPr>
          <p:cNvSpPr/>
          <p:nvPr/>
        </p:nvSpPr>
        <p:spPr>
          <a:xfrm rot="10605864">
            <a:off x="5275702" y="1747897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Arrow: Curved Right 77">
            <a:extLst>
              <a:ext uri="{FF2B5EF4-FFF2-40B4-BE49-F238E27FC236}">
                <a16:creationId xmlns:a16="http://schemas.microsoft.com/office/drawing/2014/main" id="{18D7EFA4-0EC5-4464-A801-8C6D29772FB2}"/>
              </a:ext>
            </a:extLst>
          </p:cNvPr>
          <p:cNvSpPr/>
          <p:nvPr/>
        </p:nvSpPr>
        <p:spPr>
          <a:xfrm rot="10605864">
            <a:off x="5257818" y="4610889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63EB9D-6C73-441C-88EE-5EAA3D0794F6}"/>
              </a:ext>
            </a:extLst>
          </p:cNvPr>
          <p:cNvSpPr txBox="1"/>
          <p:nvPr/>
        </p:nvSpPr>
        <p:spPr>
          <a:xfrm>
            <a:off x="5129915" y="437073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AF46C0-26D0-41A2-8EC0-E6E601B9764F}"/>
              </a:ext>
            </a:extLst>
          </p:cNvPr>
          <p:cNvSpPr txBox="1"/>
          <p:nvPr/>
        </p:nvSpPr>
        <p:spPr>
          <a:xfrm>
            <a:off x="5160059" y="551777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97C5FA2-E39F-4CD6-B806-D79A1D09B69E}"/>
              </a:ext>
            </a:extLst>
          </p:cNvPr>
          <p:cNvSpPr/>
          <p:nvPr/>
        </p:nvSpPr>
        <p:spPr>
          <a:xfrm>
            <a:off x="6456576" y="62192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8F3DAC-0B09-46F0-83BD-4C6044D6688D}"/>
              </a:ext>
            </a:extLst>
          </p:cNvPr>
          <p:cNvSpPr txBox="1"/>
          <p:nvPr/>
        </p:nvSpPr>
        <p:spPr>
          <a:xfrm>
            <a:off x="7779226" y="595413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69564C-E540-4336-9D9B-12C4ADFA28FB}"/>
              </a:ext>
            </a:extLst>
          </p:cNvPr>
          <p:cNvSpPr txBox="1"/>
          <p:nvPr/>
        </p:nvSpPr>
        <p:spPr>
          <a:xfrm>
            <a:off x="7779226" y="56493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3CF6A28-5073-4324-8260-48982BF9774A}"/>
              </a:ext>
            </a:extLst>
          </p:cNvPr>
          <p:cNvSpPr/>
          <p:nvPr/>
        </p:nvSpPr>
        <p:spPr>
          <a:xfrm>
            <a:off x="6456240" y="621929"/>
            <a:ext cx="1320768" cy="3355158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106B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183FC68-60AA-4506-9FC0-A8730988C691}"/>
              </a:ext>
            </a:extLst>
          </p:cNvPr>
          <p:cNvSpPr/>
          <p:nvPr/>
        </p:nvSpPr>
        <p:spPr>
          <a:xfrm>
            <a:off x="6441352" y="524353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8CD54DC-6EEC-4544-AB27-180D93A5F651}"/>
              </a:ext>
            </a:extLst>
          </p:cNvPr>
          <p:cNvSpPr/>
          <p:nvPr/>
        </p:nvSpPr>
        <p:spPr>
          <a:xfrm>
            <a:off x="6441350" y="4870658"/>
            <a:ext cx="1337875" cy="35303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85E9B2-DA55-4532-8683-5F1A8A1D3879}"/>
              </a:ext>
            </a:extLst>
          </p:cNvPr>
          <p:cNvSpPr/>
          <p:nvPr/>
        </p:nvSpPr>
        <p:spPr>
          <a:xfrm>
            <a:off x="6429751" y="397708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106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NULL</a:t>
            </a:r>
          </a:p>
        </p:txBody>
      </p:sp>
      <p:sp>
        <p:nvSpPr>
          <p:cNvPr id="94" name="Arrow: Curved Right 93">
            <a:extLst>
              <a:ext uri="{FF2B5EF4-FFF2-40B4-BE49-F238E27FC236}">
                <a16:creationId xmlns:a16="http://schemas.microsoft.com/office/drawing/2014/main" id="{CBCC582A-99D2-4A00-B063-6D8FD9C4C589}"/>
              </a:ext>
            </a:extLst>
          </p:cNvPr>
          <p:cNvSpPr/>
          <p:nvPr/>
        </p:nvSpPr>
        <p:spPr>
          <a:xfrm>
            <a:off x="5871198" y="461235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Arrow: Curved Right 95">
            <a:extLst>
              <a:ext uri="{FF2B5EF4-FFF2-40B4-BE49-F238E27FC236}">
                <a16:creationId xmlns:a16="http://schemas.microsoft.com/office/drawing/2014/main" id="{816D3176-B067-4AAA-B2E7-0B220D81F1FE}"/>
              </a:ext>
            </a:extLst>
          </p:cNvPr>
          <p:cNvSpPr/>
          <p:nvPr/>
        </p:nvSpPr>
        <p:spPr>
          <a:xfrm rot="10605864">
            <a:off x="7965656" y="464998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26EC45-5B63-4A64-9096-32C945308015}"/>
              </a:ext>
            </a:extLst>
          </p:cNvPr>
          <p:cNvSpPr txBox="1"/>
          <p:nvPr/>
        </p:nvSpPr>
        <p:spPr>
          <a:xfrm>
            <a:off x="7837753" y="440982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B363B7B-798F-4D92-B0F0-BF834E68C5C6}"/>
              </a:ext>
            </a:extLst>
          </p:cNvPr>
          <p:cNvSpPr txBox="1"/>
          <p:nvPr/>
        </p:nvSpPr>
        <p:spPr>
          <a:xfrm>
            <a:off x="7867897" y="555687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5176E4D-4339-473E-81ED-7E89765837A4}"/>
              </a:ext>
            </a:extLst>
          </p:cNvPr>
          <p:cNvSpPr/>
          <p:nvPr/>
        </p:nvSpPr>
        <p:spPr>
          <a:xfrm>
            <a:off x="9480396" y="62192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558586-F926-4677-94DB-25ABE58C54AE}"/>
              </a:ext>
            </a:extLst>
          </p:cNvPr>
          <p:cNvSpPr txBox="1"/>
          <p:nvPr/>
        </p:nvSpPr>
        <p:spPr>
          <a:xfrm>
            <a:off x="10803046" y="595413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9243FE6-17FC-4B1D-847B-DE4316CF4B26}"/>
              </a:ext>
            </a:extLst>
          </p:cNvPr>
          <p:cNvSpPr txBox="1"/>
          <p:nvPr/>
        </p:nvSpPr>
        <p:spPr>
          <a:xfrm>
            <a:off x="10803046" y="56493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16B8C2-77E0-4A51-A4DA-17FA60B0931A}"/>
              </a:ext>
            </a:extLst>
          </p:cNvPr>
          <p:cNvSpPr/>
          <p:nvPr/>
        </p:nvSpPr>
        <p:spPr>
          <a:xfrm>
            <a:off x="9480060" y="602678"/>
            <a:ext cx="1320768" cy="4621601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154B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6FCC3EC-6A1C-4E39-BA32-57A71269095E}"/>
              </a:ext>
            </a:extLst>
          </p:cNvPr>
          <p:cNvSpPr/>
          <p:nvPr/>
        </p:nvSpPr>
        <p:spPr>
          <a:xfrm>
            <a:off x="9465172" y="524353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154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NULL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C65F30E-0B75-473C-9216-F5959FB1E94C}"/>
              </a:ext>
            </a:extLst>
          </p:cNvPr>
          <p:cNvSpPr txBox="1"/>
          <p:nvPr/>
        </p:nvSpPr>
        <p:spPr>
          <a:xfrm>
            <a:off x="10891717" y="555687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51AC-3889-4122-A020-994D302939F6}"/>
              </a:ext>
            </a:extLst>
          </p:cNvPr>
          <p:cNvSpPr txBox="1"/>
          <p:nvPr/>
        </p:nvSpPr>
        <p:spPr>
          <a:xfrm>
            <a:off x="117053" y="6343079"/>
            <a:ext cx="9999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Scenario : Free the Data block which is sandwiched between two pre-existing Free Data , Hard IF memory is also present</a:t>
            </a:r>
          </a:p>
        </p:txBody>
      </p:sp>
    </p:spTree>
    <p:extLst>
      <p:ext uri="{BB962C8B-B14F-4D97-AF65-F5344CB8AC3E}">
        <p14:creationId xmlns:p14="http://schemas.microsoft.com/office/powerpoint/2010/main" val="20875150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xmalloc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FDAEE-D8A7-4A6F-B0E4-F4DA01C177F3}"/>
              </a:ext>
            </a:extLst>
          </p:cNvPr>
          <p:cNvSpPr/>
          <p:nvPr/>
        </p:nvSpPr>
        <p:spPr>
          <a:xfrm>
            <a:off x="726956" y="499120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0E72D-DEED-4998-A337-B9109E2333BB}"/>
              </a:ext>
            </a:extLst>
          </p:cNvPr>
          <p:cNvSpPr txBox="1"/>
          <p:nvPr/>
        </p:nvSpPr>
        <p:spPr>
          <a:xfrm>
            <a:off x="2049606" y="583132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50D33-4408-4497-B38E-510939DD2BD0}"/>
              </a:ext>
            </a:extLst>
          </p:cNvPr>
          <p:cNvSpPr txBox="1"/>
          <p:nvPr/>
        </p:nvSpPr>
        <p:spPr>
          <a:xfrm>
            <a:off x="2049606" y="442123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967547-0397-4807-8014-511A3BE6EAE7}"/>
              </a:ext>
            </a:extLst>
          </p:cNvPr>
          <p:cNvSpPr/>
          <p:nvPr/>
        </p:nvSpPr>
        <p:spPr>
          <a:xfrm>
            <a:off x="711732" y="5120721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A326B8-01A1-4DD6-85EB-1C21359EDC92}"/>
              </a:ext>
            </a:extLst>
          </p:cNvPr>
          <p:cNvSpPr/>
          <p:nvPr/>
        </p:nvSpPr>
        <p:spPr>
          <a:xfrm>
            <a:off x="711730" y="4747849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A7C64A-5C8D-43DA-9FC4-41F78F3EE237}"/>
              </a:ext>
            </a:extLst>
          </p:cNvPr>
          <p:cNvSpPr/>
          <p:nvPr/>
        </p:nvSpPr>
        <p:spPr>
          <a:xfrm>
            <a:off x="700131" y="3854278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D4A97F-A2AC-4E2C-BA83-862C0D262DAF}"/>
              </a:ext>
            </a:extLst>
          </p:cNvPr>
          <p:cNvSpPr/>
          <p:nvPr/>
        </p:nvSpPr>
        <p:spPr>
          <a:xfrm>
            <a:off x="735215" y="167773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1BBC33-6A7C-422F-8B1A-F52F0B4B690B}"/>
              </a:ext>
            </a:extLst>
          </p:cNvPr>
          <p:cNvSpPr/>
          <p:nvPr/>
        </p:nvSpPr>
        <p:spPr>
          <a:xfrm>
            <a:off x="738858" y="974674"/>
            <a:ext cx="1320768" cy="6773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5307E1-C80A-4CBE-B2DF-147C1E738DC9}"/>
              </a:ext>
            </a:extLst>
          </p:cNvPr>
          <p:cNvSpPr/>
          <p:nvPr/>
        </p:nvSpPr>
        <p:spPr>
          <a:xfrm>
            <a:off x="729833" y="2561522"/>
            <a:ext cx="1337875" cy="12927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55" name="Arrow: Curved Right 54">
            <a:extLst>
              <a:ext uri="{FF2B5EF4-FFF2-40B4-BE49-F238E27FC236}">
                <a16:creationId xmlns:a16="http://schemas.microsoft.com/office/drawing/2014/main" id="{7D2CD3E9-8D0F-4F60-9853-14B026B061B0}"/>
              </a:ext>
            </a:extLst>
          </p:cNvPr>
          <p:cNvSpPr/>
          <p:nvPr/>
        </p:nvSpPr>
        <p:spPr>
          <a:xfrm>
            <a:off x="159462" y="1995079"/>
            <a:ext cx="447064" cy="24902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Arrow: Curved Right 55">
            <a:extLst>
              <a:ext uri="{FF2B5EF4-FFF2-40B4-BE49-F238E27FC236}">
                <a16:creationId xmlns:a16="http://schemas.microsoft.com/office/drawing/2014/main" id="{F5F4E94D-4D17-46B9-A878-D951CD9D5E90}"/>
              </a:ext>
            </a:extLst>
          </p:cNvPr>
          <p:cNvSpPr/>
          <p:nvPr/>
        </p:nvSpPr>
        <p:spPr>
          <a:xfrm>
            <a:off x="141578" y="4489547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Arrow: Curved Right 56">
            <a:extLst>
              <a:ext uri="{FF2B5EF4-FFF2-40B4-BE49-F238E27FC236}">
                <a16:creationId xmlns:a16="http://schemas.microsoft.com/office/drawing/2014/main" id="{A6B91C88-6E7E-4F2D-8C5A-CB280DC178F9}"/>
              </a:ext>
            </a:extLst>
          </p:cNvPr>
          <p:cNvSpPr/>
          <p:nvPr/>
        </p:nvSpPr>
        <p:spPr>
          <a:xfrm rot="10605864">
            <a:off x="2259368" y="1857075"/>
            <a:ext cx="447064" cy="2665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Curved Right 57">
            <a:extLst>
              <a:ext uri="{FF2B5EF4-FFF2-40B4-BE49-F238E27FC236}">
                <a16:creationId xmlns:a16="http://schemas.microsoft.com/office/drawing/2014/main" id="{60FF10B6-4CD6-413B-82A2-7205EB3DF907}"/>
              </a:ext>
            </a:extLst>
          </p:cNvPr>
          <p:cNvSpPr/>
          <p:nvPr/>
        </p:nvSpPr>
        <p:spPr>
          <a:xfrm rot="10605864">
            <a:off x="2236036" y="452717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5FA2BC-B6F3-443D-827C-470CD51C0AA0}"/>
              </a:ext>
            </a:extLst>
          </p:cNvPr>
          <p:cNvSpPr txBox="1"/>
          <p:nvPr/>
        </p:nvSpPr>
        <p:spPr>
          <a:xfrm>
            <a:off x="2108133" y="428701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FBF88-744E-4C11-95B7-7C0F1757AB2D}"/>
              </a:ext>
            </a:extLst>
          </p:cNvPr>
          <p:cNvSpPr txBox="1"/>
          <p:nvPr/>
        </p:nvSpPr>
        <p:spPr>
          <a:xfrm>
            <a:off x="2138277" y="5434063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51AC-3889-4122-A020-994D302939F6}"/>
              </a:ext>
            </a:extLst>
          </p:cNvPr>
          <p:cNvSpPr txBox="1"/>
          <p:nvPr/>
        </p:nvSpPr>
        <p:spPr>
          <a:xfrm>
            <a:off x="117053" y="6343079"/>
            <a:ext cx="5588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 Old Face" panose="02020602080505020303" pitchFamily="18" charset="0"/>
              </a:rPr>
              <a:t>Scenario :  Example Showing handling page boundary condition…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988A7C-8BDE-4CD8-9ACB-E55525021C7E}"/>
              </a:ext>
            </a:extLst>
          </p:cNvPr>
          <p:cNvSpPr/>
          <p:nvPr/>
        </p:nvSpPr>
        <p:spPr>
          <a:xfrm>
            <a:off x="726714" y="484628"/>
            <a:ext cx="1320768" cy="4692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CBB6FA-2D29-49C2-9E7D-FADD60977678}"/>
              </a:ext>
            </a:extLst>
          </p:cNvPr>
          <p:cNvSpPr txBox="1"/>
          <p:nvPr/>
        </p:nvSpPr>
        <p:spPr>
          <a:xfrm>
            <a:off x="2081470" y="199507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82745A7-88F9-4E34-BC0A-768AA09EA3BB}"/>
              </a:ext>
            </a:extLst>
          </p:cNvPr>
          <p:cNvSpPr/>
          <p:nvPr/>
        </p:nvSpPr>
        <p:spPr>
          <a:xfrm>
            <a:off x="4508080" y="55528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D13D13-0F96-4488-BE20-0503F4BC6BBA}"/>
              </a:ext>
            </a:extLst>
          </p:cNvPr>
          <p:cNvSpPr txBox="1"/>
          <p:nvPr/>
        </p:nvSpPr>
        <p:spPr>
          <a:xfrm>
            <a:off x="5830730" y="588749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604F07-E113-49FF-869C-3BBA5AA38ADA}"/>
              </a:ext>
            </a:extLst>
          </p:cNvPr>
          <p:cNvSpPr txBox="1"/>
          <p:nvPr/>
        </p:nvSpPr>
        <p:spPr>
          <a:xfrm>
            <a:off x="5830730" y="49829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0D115D1-71C2-4B7B-9F4C-20A46015DDF5}"/>
              </a:ext>
            </a:extLst>
          </p:cNvPr>
          <p:cNvSpPr/>
          <p:nvPr/>
        </p:nvSpPr>
        <p:spPr>
          <a:xfrm>
            <a:off x="4492856" y="517689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D2E716C-8387-4060-85B3-D2982E4B61CA}"/>
              </a:ext>
            </a:extLst>
          </p:cNvPr>
          <p:cNvSpPr/>
          <p:nvPr/>
        </p:nvSpPr>
        <p:spPr>
          <a:xfrm>
            <a:off x="4492854" y="4804018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61D34E9-3477-4744-83FF-2C28E76D5FD2}"/>
              </a:ext>
            </a:extLst>
          </p:cNvPr>
          <p:cNvSpPr/>
          <p:nvPr/>
        </p:nvSpPr>
        <p:spPr>
          <a:xfrm>
            <a:off x="4481255" y="391044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9630244-CD24-405A-9AB8-BB9E4B938FF3}"/>
              </a:ext>
            </a:extLst>
          </p:cNvPr>
          <p:cNvSpPr/>
          <p:nvPr/>
        </p:nvSpPr>
        <p:spPr>
          <a:xfrm>
            <a:off x="4516339" y="173390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464EFA5-1066-441C-BF2F-EC64A0B606E7}"/>
              </a:ext>
            </a:extLst>
          </p:cNvPr>
          <p:cNvSpPr/>
          <p:nvPr/>
        </p:nvSpPr>
        <p:spPr>
          <a:xfrm>
            <a:off x="4519982" y="1030843"/>
            <a:ext cx="1320768" cy="677356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44DBF26-95C2-48B7-B45E-648841DF458A}"/>
              </a:ext>
            </a:extLst>
          </p:cNvPr>
          <p:cNvSpPr/>
          <p:nvPr/>
        </p:nvSpPr>
        <p:spPr>
          <a:xfrm>
            <a:off x="4510957" y="2617691"/>
            <a:ext cx="1337875" cy="12927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105" name="Arrow: Curved Right 104">
            <a:extLst>
              <a:ext uri="{FF2B5EF4-FFF2-40B4-BE49-F238E27FC236}">
                <a16:creationId xmlns:a16="http://schemas.microsoft.com/office/drawing/2014/main" id="{A2B57B7F-CF91-42A0-AB39-5D154F998E6B}"/>
              </a:ext>
            </a:extLst>
          </p:cNvPr>
          <p:cNvSpPr/>
          <p:nvPr/>
        </p:nvSpPr>
        <p:spPr>
          <a:xfrm>
            <a:off x="3940586" y="2051248"/>
            <a:ext cx="447064" cy="24902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6" name="Arrow: Curved Right 105">
            <a:extLst>
              <a:ext uri="{FF2B5EF4-FFF2-40B4-BE49-F238E27FC236}">
                <a16:creationId xmlns:a16="http://schemas.microsoft.com/office/drawing/2014/main" id="{4D41BABE-510B-4E26-9564-3474C48B4640}"/>
              </a:ext>
            </a:extLst>
          </p:cNvPr>
          <p:cNvSpPr/>
          <p:nvPr/>
        </p:nvSpPr>
        <p:spPr>
          <a:xfrm>
            <a:off x="3922702" y="454571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Arrow: Curved Right 106">
            <a:extLst>
              <a:ext uri="{FF2B5EF4-FFF2-40B4-BE49-F238E27FC236}">
                <a16:creationId xmlns:a16="http://schemas.microsoft.com/office/drawing/2014/main" id="{6CC1624E-FBE1-4BEC-BC0D-D5B3FC2868F0}"/>
              </a:ext>
            </a:extLst>
          </p:cNvPr>
          <p:cNvSpPr/>
          <p:nvPr/>
        </p:nvSpPr>
        <p:spPr>
          <a:xfrm rot="10605864">
            <a:off x="6040492" y="1913244"/>
            <a:ext cx="447064" cy="2665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Arrow: Curved Right 107">
            <a:extLst>
              <a:ext uri="{FF2B5EF4-FFF2-40B4-BE49-F238E27FC236}">
                <a16:creationId xmlns:a16="http://schemas.microsoft.com/office/drawing/2014/main" id="{727DDFC8-9344-4FAD-A863-B635C492DEF0}"/>
              </a:ext>
            </a:extLst>
          </p:cNvPr>
          <p:cNvSpPr/>
          <p:nvPr/>
        </p:nvSpPr>
        <p:spPr>
          <a:xfrm rot="10605864">
            <a:off x="6017160" y="458334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43C083C-ECFD-4E97-BA2B-4A191E566F88}"/>
              </a:ext>
            </a:extLst>
          </p:cNvPr>
          <p:cNvSpPr txBox="1"/>
          <p:nvPr/>
        </p:nvSpPr>
        <p:spPr>
          <a:xfrm>
            <a:off x="5889257" y="434318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46DE3F-5575-4E38-9E52-D495C0A14969}"/>
              </a:ext>
            </a:extLst>
          </p:cNvPr>
          <p:cNvSpPr txBox="1"/>
          <p:nvPr/>
        </p:nvSpPr>
        <p:spPr>
          <a:xfrm>
            <a:off x="5919401" y="549023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DC349E1-C390-46A0-B608-975A27180B37}"/>
              </a:ext>
            </a:extLst>
          </p:cNvPr>
          <p:cNvSpPr/>
          <p:nvPr/>
        </p:nvSpPr>
        <p:spPr>
          <a:xfrm>
            <a:off x="4507838" y="540797"/>
            <a:ext cx="1320768" cy="4692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A49E33-44F0-47EC-840E-B63E101FD025}"/>
              </a:ext>
            </a:extLst>
          </p:cNvPr>
          <p:cNvSpPr txBox="1"/>
          <p:nvPr/>
        </p:nvSpPr>
        <p:spPr>
          <a:xfrm>
            <a:off x="5862594" y="205124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37C5B28-2F41-491A-A436-016511C14A5A}"/>
              </a:ext>
            </a:extLst>
          </p:cNvPr>
          <p:cNvSpPr/>
          <p:nvPr/>
        </p:nvSpPr>
        <p:spPr>
          <a:xfrm>
            <a:off x="8056182" y="60599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28A10F-DA51-4E00-9719-C30F54C0E878}"/>
              </a:ext>
            </a:extLst>
          </p:cNvPr>
          <p:cNvSpPr txBox="1"/>
          <p:nvPr/>
        </p:nvSpPr>
        <p:spPr>
          <a:xfrm>
            <a:off x="9378832" y="593820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E9039E7-4B74-4E89-AA2F-99594AE2B521}"/>
              </a:ext>
            </a:extLst>
          </p:cNvPr>
          <p:cNvSpPr txBox="1"/>
          <p:nvPr/>
        </p:nvSpPr>
        <p:spPr>
          <a:xfrm>
            <a:off x="9378832" y="54900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D34B7BB-C5FE-4494-A649-F01E20B7A25D}"/>
              </a:ext>
            </a:extLst>
          </p:cNvPr>
          <p:cNvSpPr/>
          <p:nvPr/>
        </p:nvSpPr>
        <p:spPr>
          <a:xfrm>
            <a:off x="8040958" y="522760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C78D39A-598F-413C-A420-0296E007E623}"/>
              </a:ext>
            </a:extLst>
          </p:cNvPr>
          <p:cNvSpPr/>
          <p:nvPr/>
        </p:nvSpPr>
        <p:spPr>
          <a:xfrm>
            <a:off x="8040956" y="4854728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9AFEC2D-E6BC-46CA-8666-91619A496F7C}"/>
              </a:ext>
            </a:extLst>
          </p:cNvPr>
          <p:cNvSpPr/>
          <p:nvPr/>
        </p:nvSpPr>
        <p:spPr>
          <a:xfrm>
            <a:off x="8029357" y="396115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7E55367-0D6E-4FB0-A3F5-F1681C4D1774}"/>
              </a:ext>
            </a:extLst>
          </p:cNvPr>
          <p:cNvSpPr/>
          <p:nvPr/>
        </p:nvSpPr>
        <p:spPr>
          <a:xfrm>
            <a:off x="8064441" y="178461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88B3C20-42AD-41EE-B807-BAA001B80302}"/>
              </a:ext>
            </a:extLst>
          </p:cNvPr>
          <p:cNvSpPr/>
          <p:nvPr/>
        </p:nvSpPr>
        <p:spPr>
          <a:xfrm>
            <a:off x="8068084" y="605999"/>
            <a:ext cx="1320768" cy="11529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44B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C3D9A05-C0A9-4333-91EB-D26312E72996}"/>
              </a:ext>
            </a:extLst>
          </p:cNvPr>
          <p:cNvSpPr/>
          <p:nvPr/>
        </p:nvSpPr>
        <p:spPr>
          <a:xfrm>
            <a:off x="8059059" y="2668401"/>
            <a:ext cx="1337875" cy="12927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123" name="Arrow: Curved Right 122">
            <a:extLst>
              <a:ext uri="{FF2B5EF4-FFF2-40B4-BE49-F238E27FC236}">
                <a16:creationId xmlns:a16="http://schemas.microsoft.com/office/drawing/2014/main" id="{293893DF-D349-47EF-9B1B-98F0EC194EE9}"/>
              </a:ext>
            </a:extLst>
          </p:cNvPr>
          <p:cNvSpPr/>
          <p:nvPr/>
        </p:nvSpPr>
        <p:spPr>
          <a:xfrm>
            <a:off x="7488688" y="2101958"/>
            <a:ext cx="447064" cy="24902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4" name="Arrow: Curved Right 123">
            <a:extLst>
              <a:ext uri="{FF2B5EF4-FFF2-40B4-BE49-F238E27FC236}">
                <a16:creationId xmlns:a16="http://schemas.microsoft.com/office/drawing/2014/main" id="{E3D0FFDC-22D4-4515-9588-6A8084757D2B}"/>
              </a:ext>
            </a:extLst>
          </p:cNvPr>
          <p:cNvSpPr/>
          <p:nvPr/>
        </p:nvSpPr>
        <p:spPr>
          <a:xfrm>
            <a:off x="7470804" y="459642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5" name="Arrow: Curved Right 124">
            <a:extLst>
              <a:ext uri="{FF2B5EF4-FFF2-40B4-BE49-F238E27FC236}">
                <a16:creationId xmlns:a16="http://schemas.microsoft.com/office/drawing/2014/main" id="{C2EBB19F-B73A-4BEE-BA1E-77D1816BC380}"/>
              </a:ext>
            </a:extLst>
          </p:cNvPr>
          <p:cNvSpPr/>
          <p:nvPr/>
        </p:nvSpPr>
        <p:spPr>
          <a:xfrm rot="10605864">
            <a:off x="9588594" y="1963954"/>
            <a:ext cx="447064" cy="2665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6" name="Arrow: Curved Right 125">
            <a:extLst>
              <a:ext uri="{FF2B5EF4-FFF2-40B4-BE49-F238E27FC236}">
                <a16:creationId xmlns:a16="http://schemas.microsoft.com/office/drawing/2014/main" id="{58EE904D-2FF0-4D1C-83C5-4EA65E7B2620}"/>
              </a:ext>
            </a:extLst>
          </p:cNvPr>
          <p:cNvSpPr/>
          <p:nvPr/>
        </p:nvSpPr>
        <p:spPr>
          <a:xfrm rot="10605864">
            <a:off x="9565262" y="463405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963F89A-30BC-4814-9425-DA7958B8CB6E}"/>
              </a:ext>
            </a:extLst>
          </p:cNvPr>
          <p:cNvSpPr txBox="1"/>
          <p:nvPr/>
        </p:nvSpPr>
        <p:spPr>
          <a:xfrm>
            <a:off x="9437359" y="439389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B24D22-6B1B-4105-A4CB-10218EB21223}"/>
              </a:ext>
            </a:extLst>
          </p:cNvPr>
          <p:cNvSpPr txBox="1"/>
          <p:nvPr/>
        </p:nvSpPr>
        <p:spPr>
          <a:xfrm>
            <a:off x="9467503" y="554094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4F20429-5B77-49B4-B44C-CFABC858DD07}"/>
              </a:ext>
            </a:extLst>
          </p:cNvPr>
          <p:cNvSpPr txBox="1"/>
          <p:nvPr/>
        </p:nvSpPr>
        <p:spPr>
          <a:xfrm>
            <a:off x="9410696" y="2101958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</p:spTree>
    <p:extLst>
      <p:ext uri="{BB962C8B-B14F-4D97-AF65-F5344CB8AC3E}">
        <p14:creationId xmlns:p14="http://schemas.microsoft.com/office/powerpoint/2010/main" val="13707861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46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7 -&gt;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xmalloc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&amp;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506AD5-AC4E-44B4-9D69-08E2D77CFB6A}"/>
              </a:ext>
            </a:extLst>
          </p:cNvPr>
          <p:cNvSpPr txBox="1"/>
          <p:nvPr/>
        </p:nvSpPr>
        <p:spPr>
          <a:xfrm>
            <a:off x="519764" y="770021"/>
            <a:ext cx="105272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Points to Note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Fragmented memory cannot reside at the bottom of the VM data page</a:t>
            </a:r>
          </a:p>
          <a:p>
            <a:pPr marL="800100" lvl="1" indent="-342900"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Concept of page families decreases the internal fragmentation problem, but do not completely eliminate it</a:t>
            </a:r>
          </a:p>
          <a:p>
            <a:pPr marL="800100" lvl="1" indent="-342900"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Baskerville Old Face" panose="02020602080505020303" pitchFamily="18" charset="0"/>
              </a:rPr>
              <a:t>Data VM pages which belong to same page family are used to allocate memory of objects of one type</a:t>
            </a:r>
          </a:p>
          <a:p>
            <a:pPr marL="800100" lvl="1" indent="-342900"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800100" lvl="1" indent="-342900"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29550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1709398" y="1379051"/>
            <a:ext cx="8481809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Phase 8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0509263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81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8 -&gt; Testing and Validation 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0F8BB-9A41-469B-8B7A-10929E947904}"/>
              </a:ext>
            </a:extLst>
          </p:cNvPr>
          <p:cNvSpPr txBox="1"/>
          <p:nvPr/>
        </p:nvSpPr>
        <p:spPr>
          <a:xfrm>
            <a:off x="329307" y="641204"/>
            <a:ext cx="2654526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Testing and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A03-792D-43A0-AFB7-301999D34105}"/>
              </a:ext>
            </a:extLst>
          </p:cNvPr>
          <p:cNvSpPr txBox="1"/>
          <p:nvPr/>
        </p:nvSpPr>
        <p:spPr>
          <a:xfrm>
            <a:off x="329307" y="1530417"/>
            <a:ext cx="91839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We have implemented lot of functionality in our project, now it is a time to verify and test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We shall write some printing functions which would dump the state of LMM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Before we begin with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xfree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(), </a:t>
            </a:r>
            <a:r>
              <a:rPr lang="en-US" dirty="0">
                <a:latin typeface="Baskerville Old Face" panose="02020602080505020303" pitchFamily="18" charset="0"/>
              </a:rPr>
              <a:t>let us evaluate our project health and fix if any anomalies observed</a:t>
            </a:r>
          </a:p>
        </p:txBody>
      </p:sp>
    </p:spTree>
    <p:extLst>
      <p:ext uri="{BB962C8B-B14F-4D97-AF65-F5344CB8AC3E}">
        <p14:creationId xmlns:p14="http://schemas.microsoft.com/office/powerpoint/2010/main" val="362192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81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8 -&gt; Testing and Validation 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0F8BB-9A41-469B-8B7A-10929E947904}"/>
              </a:ext>
            </a:extLst>
          </p:cNvPr>
          <p:cNvSpPr txBox="1"/>
          <p:nvPr/>
        </p:nvSpPr>
        <p:spPr>
          <a:xfrm>
            <a:off x="329307" y="641204"/>
            <a:ext cx="2654526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Testing and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51C24-A930-4F93-9683-684FAE87B11A}"/>
              </a:ext>
            </a:extLst>
          </p:cNvPr>
          <p:cNvSpPr/>
          <p:nvPr/>
        </p:nvSpPr>
        <p:spPr>
          <a:xfrm>
            <a:off x="4159139" y="1778810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06A3D-3AE9-43FE-85E2-4872C17267FF}"/>
              </a:ext>
            </a:extLst>
          </p:cNvPr>
          <p:cNvSpPr/>
          <p:nvPr/>
        </p:nvSpPr>
        <p:spPr>
          <a:xfrm>
            <a:off x="7170447" y="747678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87B254-558A-43C1-87F9-766134529499}"/>
              </a:ext>
            </a:extLst>
          </p:cNvPr>
          <p:cNvSpPr/>
          <p:nvPr/>
        </p:nvSpPr>
        <p:spPr>
          <a:xfrm>
            <a:off x="8309607" y="747677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6E9C0E-7962-41FC-AFBE-AD7F019C2C44}"/>
              </a:ext>
            </a:extLst>
          </p:cNvPr>
          <p:cNvSpPr/>
          <p:nvPr/>
        </p:nvSpPr>
        <p:spPr>
          <a:xfrm>
            <a:off x="9563451" y="747678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74F27-D002-49C6-A063-60D475B37F1B}"/>
              </a:ext>
            </a:extLst>
          </p:cNvPr>
          <p:cNvSpPr/>
          <p:nvPr/>
        </p:nvSpPr>
        <p:spPr>
          <a:xfrm>
            <a:off x="10692883" y="747677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55E06-C5A8-426E-9E76-E784F5FBDEB2}"/>
              </a:ext>
            </a:extLst>
          </p:cNvPr>
          <p:cNvSpPr txBox="1"/>
          <p:nvPr/>
        </p:nvSpPr>
        <p:spPr>
          <a:xfrm>
            <a:off x="4176886" y="2890307"/>
            <a:ext cx="87235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emp_t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36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87A561-EE80-4A36-82C8-804078D985FC}"/>
              </a:ext>
            </a:extLst>
          </p:cNvPr>
          <p:cNvSpPr/>
          <p:nvPr/>
        </p:nvSpPr>
        <p:spPr>
          <a:xfrm flipV="1">
            <a:off x="5159824" y="1759354"/>
            <a:ext cx="1993251" cy="1002842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E8402F-81BD-430F-942C-E8D01ECB197E}"/>
              </a:ext>
            </a:extLst>
          </p:cNvPr>
          <p:cNvSpPr/>
          <p:nvPr/>
        </p:nvSpPr>
        <p:spPr>
          <a:xfrm>
            <a:off x="7188867" y="2409161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FC4C0-8FA5-462D-A3EF-DFC6FB7B79D6}"/>
              </a:ext>
            </a:extLst>
          </p:cNvPr>
          <p:cNvSpPr/>
          <p:nvPr/>
        </p:nvSpPr>
        <p:spPr>
          <a:xfrm>
            <a:off x="8336144" y="769798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8E963E-DCF6-44C7-8431-3FFAB96687BC}"/>
              </a:ext>
            </a:extLst>
          </p:cNvPr>
          <p:cNvSpPr/>
          <p:nvPr/>
        </p:nvSpPr>
        <p:spPr>
          <a:xfrm>
            <a:off x="8326416" y="114550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1A3373-F6B7-4590-8454-4C2281368149}"/>
              </a:ext>
            </a:extLst>
          </p:cNvPr>
          <p:cNvSpPr/>
          <p:nvPr/>
        </p:nvSpPr>
        <p:spPr>
          <a:xfrm>
            <a:off x="9563451" y="238134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5C6749-ADDD-45FF-9302-5F87BC086471}"/>
              </a:ext>
            </a:extLst>
          </p:cNvPr>
          <p:cNvSpPr/>
          <p:nvPr/>
        </p:nvSpPr>
        <p:spPr>
          <a:xfrm>
            <a:off x="9563451" y="275705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9C0BA6-148A-40C1-89D1-0FB797C4DCA6}"/>
              </a:ext>
            </a:extLst>
          </p:cNvPr>
          <p:cNvSpPr/>
          <p:nvPr/>
        </p:nvSpPr>
        <p:spPr>
          <a:xfrm>
            <a:off x="9560637" y="113483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11ADE9-DE69-4DAD-888D-D8A846AB8D0D}"/>
              </a:ext>
            </a:extLst>
          </p:cNvPr>
          <p:cNvSpPr txBox="1"/>
          <p:nvPr/>
        </p:nvSpPr>
        <p:spPr>
          <a:xfrm>
            <a:off x="7464853" y="3200538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3F7A4C-6D05-4BAA-8444-47C6511352E6}"/>
              </a:ext>
            </a:extLst>
          </p:cNvPr>
          <p:cNvSpPr txBox="1"/>
          <p:nvPr/>
        </p:nvSpPr>
        <p:spPr>
          <a:xfrm>
            <a:off x="8563302" y="320849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18E41-C6CE-44F0-96CF-ED02564FB5FD}"/>
              </a:ext>
            </a:extLst>
          </p:cNvPr>
          <p:cNvSpPr txBox="1"/>
          <p:nvPr/>
        </p:nvSpPr>
        <p:spPr>
          <a:xfrm>
            <a:off x="9845095" y="322605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43BCD0-CC09-4C67-BA3E-C46D94149338}"/>
              </a:ext>
            </a:extLst>
          </p:cNvPr>
          <p:cNvSpPr txBox="1"/>
          <p:nvPr/>
        </p:nvSpPr>
        <p:spPr>
          <a:xfrm>
            <a:off x="10943544" y="322428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0B87B-F9A0-4892-B7BC-70476E60E228}"/>
              </a:ext>
            </a:extLst>
          </p:cNvPr>
          <p:cNvSpPr/>
          <p:nvPr/>
        </p:nvSpPr>
        <p:spPr>
          <a:xfrm>
            <a:off x="8301713" y="279239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204F6E-292D-491D-A67B-29A213EE4C15}"/>
              </a:ext>
            </a:extLst>
          </p:cNvPr>
          <p:cNvSpPr/>
          <p:nvPr/>
        </p:nvSpPr>
        <p:spPr>
          <a:xfrm>
            <a:off x="10691859" y="279239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42A6D-ADBF-4E89-9FD2-BC9334B6DBCE}"/>
              </a:ext>
            </a:extLst>
          </p:cNvPr>
          <p:cNvSpPr/>
          <p:nvPr/>
        </p:nvSpPr>
        <p:spPr>
          <a:xfrm>
            <a:off x="7188494" y="2785207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A936A-7D3E-4F42-9D90-F2012CA53E79}"/>
              </a:ext>
            </a:extLst>
          </p:cNvPr>
          <p:cNvSpPr txBox="1"/>
          <p:nvPr/>
        </p:nvSpPr>
        <p:spPr>
          <a:xfrm>
            <a:off x="7396638" y="1781292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D8093-08E6-4DA0-8F4E-DDE57D2901F3}"/>
              </a:ext>
            </a:extLst>
          </p:cNvPr>
          <p:cNvSpPr txBox="1"/>
          <p:nvPr/>
        </p:nvSpPr>
        <p:spPr>
          <a:xfrm>
            <a:off x="8496144" y="187830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C820B5-5732-4112-A7D4-411EAC344B93}"/>
              </a:ext>
            </a:extLst>
          </p:cNvPr>
          <p:cNvSpPr txBox="1"/>
          <p:nvPr/>
        </p:nvSpPr>
        <p:spPr>
          <a:xfrm>
            <a:off x="9720556" y="180644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D5ECE1-86D0-4922-B11A-5A6B80DB1D59}"/>
              </a:ext>
            </a:extLst>
          </p:cNvPr>
          <p:cNvSpPr txBox="1"/>
          <p:nvPr/>
        </p:nvSpPr>
        <p:spPr>
          <a:xfrm>
            <a:off x="10889042" y="1661232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3DA0E1-9E8A-4834-85FD-3C804DDE1452}"/>
              </a:ext>
            </a:extLst>
          </p:cNvPr>
          <p:cNvSpPr txBox="1"/>
          <p:nvPr/>
        </p:nvSpPr>
        <p:spPr>
          <a:xfrm>
            <a:off x="9823290" y="747677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928E00-B019-4322-8764-9DA33B36C8C6}"/>
              </a:ext>
            </a:extLst>
          </p:cNvPr>
          <p:cNvSpPr/>
          <p:nvPr/>
        </p:nvSpPr>
        <p:spPr>
          <a:xfrm>
            <a:off x="10691692" y="240241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74890B-121A-4FAF-89F8-AAD4F32A1389}"/>
              </a:ext>
            </a:extLst>
          </p:cNvPr>
          <p:cNvCxnSpPr>
            <a:cxnSpLocks/>
          </p:cNvCxnSpPr>
          <p:nvPr/>
        </p:nvCxnSpPr>
        <p:spPr>
          <a:xfrm>
            <a:off x="7731695" y="296626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839407-C6F1-48C2-B256-BCE3CB48A235}"/>
              </a:ext>
            </a:extLst>
          </p:cNvPr>
          <p:cNvCxnSpPr>
            <a:cxnSpLocks/>
          </p:cNvCxnSpPr>
          <p:nvPr/>
        </p:nvCxnSpPr>
        <p:spPr>
          <a:xfrm>
            <a:off x="9038297" y="296626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FBF838-09F3-4AE0-8F78-5C471B0B74D3}"/>
              </a:ext>
            </a:extLst>
          </p:cNvPr>
          <p:cNvCxnSpPr>
            <a:cxnSpLocks/>
          </p:cNvCxnSpPr>
          <p:nvPr/>
        </p:nvCxnSpPr>
        <p:spPr>
          <a:xfrm>
            <a:off x="10331331" y="2975443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06A789A-906D-44B1-9B23-274FDE2C7DCE}"/>
              </a:ext>
            </a:extLst>
          </p:cNvPr>
          <p:cNvSpPr txBox="1"/>
          <p:nvPr/>
        </p:nvSpPr>
        <p:spPr>
          <a:xfrm rot="17907859">
            <a:off x="5462537" y="1930007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2E8E44-F360-49F4-8DC7-B75448B5AB3D}"/>
              </a:ext>
            </a:extLst>
          </p:cNvPr>
          <p:cNvSpPr txBox="1"/>
          <p:nvPr/>
        </p:nvSpPr>
        <p:spPr>
          <a:xfrm>
            <a:off x="4164567" y="2343318"/>
            <a:ext cx="865943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56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DC73C1-2FEB-4635-A83F-FF752BAE54FB}"/>
              </a:ext>
            </a:extLst>
          </p:cNvPr>
          <p:cNvSpPr/>
          <p:nvPr/>
        </p:nvSpPr>
        <p:spPr>
          <a:xfrm>
            <a:off x="7243691" y="3882031"/>
            <a:ext cx="97600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1269A1-D18D-4304-85F3-FA803C41EF1B}"/>
              </a:ext>
            </a:extLst>
          </p:cNvPr>
          <p:cNvSpPr/>
          <p:nvPr/>
        </p:nvSpPr>
        <p:spPr>
          <a:xfrm>
            <a:off x="8382851" y="388203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1A1E1D-14E9-4842-B933-85B2C12F6FF3}"/>
              </a:ext>
            </a:extLst>
          </p:cNvPr>
          <p:cNvSpPr/>
          <p:nvPr/>
        </p:nvSpPr>
        <p:spPr>
          <a:xfrm>
            <a:off x="9636695" y="3882031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9960F0-0C3A-41F9-A48E-55CCF8D32F56}"/>
              </a:ext>
            </a:extLst>
          </p:cNvPr>
          <p:cNvSpPr/>
          <p:nvPr/>
        </p:nvSpPr>
        <p:spPr>
          <a:xfrm>
            <a:off x="10766127" y="3882030"/>
            <a:ext cx="976008" cy="24365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BD0B60-5D7F-4576-8200-D8E841800FD5}"/>
              </a:ext>
            </a:extLst>
          </p:cNvPr>
          <p:cNvSpPr/>
          <p:nvPr/>
        </p:nvSpPr>
        <p:spPr>
          <a:xfrm>
            <a:off x="7262111" y="5543514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D763E0-5309-4937-95A9-83F45DF31DA1}"/>
              </a:ext>
            </a:extLst>
          </p:cNvPr>
          <p:cNvSpPr/>
          <p:nvPr/>
        </p:nvSpPr>
        <p:spPr>
          <a:xfrm>
            <a:off x="8409388" y="3904151"/>
            <a:ext cx="915880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F130499-3982-44BE-A45A-3D2CBE0C9A74}"/>
              </a:ext>
            </a:extLst>
          </p:cNvPr>
          <p:cNvSpPr/>
          <p:nvPr/>
        </p:nvSpPr>
        <p:spPr>
          <a:xfrm>
            <a:off x="8401271" y="5568875"/>
            <a:ext cx="901153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D651C8-32F2-46A5-8307-1AD3A09D5A84}"/>
              </a:ext>
            </a:extLst>
          </p:cNvPr>
          <p:cNvSpPr/>
          <p:nvPr/>
        </p:nvSpPr>
        <p:spPr>
          <a:xfrm>
            <a:off x="9636695" y="551570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4EED4C-7DD7-423C-8E86-35AF82976848}"/>
              </a:ext>
            </a:extLst>
          </p:cNvPr>
          <p:cNvSpPr/>
          <p:nvPr/>
        </p:nvSpPr>
        <p:spPr>
          <a:xfrm>
            <a:off x="9636695" y="5891406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C27192-3A15-480F-8624-FCF06D3BA67D}"/>
              </a:ext>
            </a:extLst>
          </p:cNvPr>
          <p:cNvSpPr/>
          <p:nvPr/>
        </p:nvSpPr>
        <p:spPr>
          <a:xfrm>
            <a:off x="9633881" y="4269183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E20CD3-D8FE-4E54-8DB0-AACC24604779}"/>
              </a:ext>
            </a:extLst>
          </p:cNvPr>
          <p:cNvSpPr txBox="1"/>
          <p:nvPr/>
        </p:nvSpPr>
        <p:spPr>
          <a:xfrm>
            <a:off x="7538097" y="633489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4042E3-CD44-4069-9BD5-96C026CE9DDB}"/>
              </a:ext>
            </a:extLst>
          </p:cNvPr>
          <p:cNvSpPr txBox="1"/>
          <p:nvPr/>
        </p:nvSpPr>
        <p:spPr>
          <a:xfrm>
            <a:off x="8636546" y="634284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3E714D-83C3-4E68-A388-8788AED4497B}"/>
              </a:ext>
            </a:extLst>
          </p:cNvPr>
          <p:cNvSpPr txBox="1"/>
          <p:nvPr/>
        </p:nvSpPr>
        <p:spPr>
          <a:xfrm>
            <a:off x="9918339" y="6360409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9AAFA8-9ED0-4BA6-AFE9-3A48B427430A}"/>
              </a:ext>
            </a:extLst>
          </p:cNvPr>
          <p:cNvSpPr txBox="1"/>
          <p:nvPr/>
        </p:nvSpPr>
        <p:spPr>
          <a:xfrm>
            <a:off x="11016788" y="635863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7EB582-6B38-4ED5-BCCB-49DB84C7F071}"/>
              </a:ext>
            </a:extLst>
          </p:cNvPr>
          <p:cNvSpPr/>
          <p:nvPr/>
        </p:nvSpPr>
        <p:spPr>
          <a:xfrm>
            <a:off x="8374957" y="592675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8E933A-E305-424A-B694-12175AE20270}"/>
              </a:ext>
            </a:extLst>
          </p:cNvPr>
          <p:cNvSpPr/>
          <p:nvPr/>
        </p:nvSpPr>
        <p:spPr>
          <a:xfrm>
            <a:off x="10765103" y="5926749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E4D8140-E4BA-4D57-B81D-F9C51CB50870}"/>
              </a:ext>
            </a:extLst>
          </p:cNvPr>
          <p:cNvSpPr/>
          <p:nvPr/>
        </p:nvSpPr>
        <p:spPr>
          <a:xfrm>
            <a:off x="7261738" y="5919560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3A4F24-35E4-4CA4-966F-5481B762E5EB}"/>
              </a:ext>
            </a:extLst>
          </p:cNvPr>
          <p:cNvSpPr txBox="1"/>
          <p:nvPr/>
        </p:nvSpPr>
        <p:spPr>
          <a:xfrm>
            <a:off x="7469882" y="491564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5F5B2-3885-488D-8B20-CC0418B06336}"/>
              </a:ext>
            </a:extLst>
          </p:cNvPr>
          <p:cNvSpPr txBox="1"/>
          <p:nvPr/>
        </p:nvSpPr>
        <p:spPr>
          <a:xfrm>
            <a:off x="8569388" y="501265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D65096-7B5E-4C4C-A890-4AFE6E5F0A71}"/>
              </a:ext>
            </a:extLst>
          </p:cNvPr>
          <p:cNvSpPr txBox="1"/>
          <p:nvPr/>
        </p:nvSpPr>
        <p:spPr>
          <a:xfrm>
            <a:off x="9793800" y="4940794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209CD1-7EA2-42C6-9F4E-921F1DB324E8}"/>
              </a:ext>
            </a:extLst>
          </p:cNvPr>
          <p:cNvSpPr txBox="1"/>
          <p:nvPr/>
        </p:nvSpPr>
        <p:spPr>
          <a:xfrm>
            <a:off x="10962286" y="479558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2425A1-99EF-4535-898C-6D03B61CA1EE}"/>
              </a:ext>
            </a:extLst>
          </p:cNvPr>
          <p:cNvSpPr txBox="1"/>
          <p:nvPr/>
        </p:nvSpPr>
        <p:spPr>
          <a:xfrm>
            <a:off x="9896534" y="388203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4A0316-17A7-4C14-91B8-34C21F277589}"/>
              </a:ext>
            </a:extLst>
          </p:cNvPr>
          <p:cNvSpPr/>
          <p:nvPr/>
        </p:nvSpPr>
        <p:spPr>
          <a:xfrm>
            <a:off x="10764936" y="5536772"/>
            <a:ext cx="976008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AF342E3-00C5-40B7-915D-8179DA0DCD93}"/>
              </a:ext>
            </a:extLst>
          </p:cNvPr>
          <p:cNvCxnSpPr>
            <a:cxnSpLocks/>
          </p:cNvCxnSpPr>
          <p:nvPr/>
        </p:nvCxnSpPr>
        <p:spPr>
          <a:xfrm>
            <a:off x="7804939" y="610061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602EC9C-5013-406F-B554-AC367E3DD04F}"/>
              </a:ext>
            </a:extLst>
          </p:cNvPr>
          <p:cNvCxnSpPr>
            <a:cxnSpLocks/>
          </p:cNvCxnSpPr>
          <p:nvPr/>
        </p:nvCxnSpPr>
        <p:spPr>
          <a:xfrm>
            <a:off x="9111541" y="6100619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10A1F5C-60E3-4392-909F-5F4830DCD094}"/>
              </a:ext>
            </a:extLst>
          </p:cNvPr>
          <p:cNvCxnSpPr>
            <a:cxnSpLocks/>
          </p:cNvCxnSpPr>
          <p:nvPr/>
        </p:nvCxnSpPr>
        <p:spPr>
          <a:xfrm>
            <a:off x="10404575" y="610979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2BB08C71-0B61-4BFC-B0EE-13E04D07F3D3}"/>
              </a:ext>
            </a:extLst>
          </p:cNvPr>
          <p:cNvSpPr/>
          <p:nvPr/>
        </p:nvSpPr>
        <p:spPr>
          <a:xfrm>
            <a:off x="5060668" y="2960076"/>
            <a:ext cx="2032035" cy="2204841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80EDC7-8BC5-4545-9C0D-40A0EC41B7A8}"/>
              </a:ext>
            </a:extLst>
          </p:cNvPr>
          <p:cNvSpPr txBox="1"/>
          <p:nvPr/>
        </p:nvSpPr>
        <p:spPr>
          <a:xfrm rot="4945375">
            <a:off x="5383930" y="399821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E91E8E-172F-4353-AEC9-F471F4BD8DA3}"/>
              </a:ext>
            </a:extLst>
          </p:cNvPr>
          <p:cNvSpPr txBox="1"/>
          <p:nvPr/>
        </p:nvSpPr>
        <p:spPr>
          <a:xfrm>
            <a:off x="407736" y="2387686"/>
            <a:ext cx="314466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uapi_mm.h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/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void 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mm_print_memory_usage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char *</a:t>
            </a:r>
            <a:r>
              <a:rPr lang="en-US" dirty="0" err="1">
                <a:latin typeface="Baskerville Old Face" panose="02020602080505020303" pitchFamily="18" charset="0"/>
              </a:rPr>
              <a:t>struct_name</a:t>
            </a:r>
            <a:r>
              <a:rPr lang="en-US" dirty="0">
                <a:latin typeface="Baskerville Old Face" panose="02020602080505020303" pitchFamily="18" charset="0"/>
              </a:rPr>
              <a:t>);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void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mm_print_block_usage</a:t>
            </a:r>
            <a:r>
              <a:rPr lang="en-US" dirty="0">
                <a:latin typeface="Baskerville Old Face" panose="02020602080505020303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862772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81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8 -&gt; Testing and Validation 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0F8BB-9A41-469B-8B7A-10929E947904}"/>
              </a:ext>
            </a:extLst>
          </p:cNvPr>
          <p:cNvSpPr txBox="1"/>
          <p:nvPr/>
        </p:nvSpPr>
        <p:spPr>
          <a:xfrm>
            <a:off x="329307" y="641204"/>
            <a:ext cx="2654526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Testing and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A03-792D-43A0-AFB7-301999D34105}"/>
              </a:ext>
            </a:extLst>
          </p:cNvPr>
          <p:cNvSpPr txBox="1"/>
          <p:nvPr/>
        </p:nvSpPr>
        <p:spPr>
          <a:xfrm>
            <a:off x="329307" y="1530417"/>
            <a:ext cx="7571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CLI Integration (Optional)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Give your System Programming Projects and Application a CLI interface</a:t>
            </a:r>
          </a:p>
        </p:txBody>
      </p:sp>
    </p:spTree>
    <p:extLst>
      <p:ext uri="{BB962C8B-B14F-4D97-AF65-F5344CB8AC3E}">
        <p14:creationId xmlns:p14="http://schemas.microsoft.com/office/powerpoint/2010/main" val="27060606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494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Assignments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0F8BB-9A41-469B-8B7A-10929E947904}"/>
              </a:ext>
            </a:extLst>
          </p:cNvPr>
          <p:cNvSpPr txBox="1"/>
          <p:nvPr/>
        </p:nvSpPr>
        <p:spPr>
          <a:xfrm>
            <a:off x="329307" y="641204"/>
            <a:ext cx="1807501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Assignment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A03-792D-43A0-AFB7-301999D34105}"/>
              </a:ext>
            </a:extLst>
          </p:cNvPr>
          <p:cNvSpPr txBox="1"/>
          <p:nvPr/>
        </p:nvSpPr>
        <p:spPr>
          <a:xfrm>
            <a:off x="79050" y="1313186"/>
            <a:ext cx="120052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Enhance the </a:t>
            </a:r>
            <a:r>
              <a:rPr lang="en-US" dirty="0" err="1">
                <a:latin typeface="Baskerville Old Face" panose="02020602080505020303" pitchFamily="18" charset="0"/>
              </a:rPr>
              <a:t>fn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mm_print_block_usage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( ) </a:t>
            </a:r>
            <a:r>
              <a:rPr lang="en-US" dirty="0">
                <a:latin typeface="Baskerville Old Face" panose="02020602080505020303" pitchFamily="18" charset="0"/>
              </a:rPr>
              <a:t>to add columns which prints the 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total soft and hard internal fragmented </a:t>
            </a:r>
            <a:r>
              <a:rPr lang="en-US" dirty="0">
                <a:latin typeface="Baskerville Old Face" panose="02020602080505020303" pitchFamily="18" charset="0"/>
              </a:rPr>
              <a:t>memory size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Can you intentionally induce hard / soft internally fragmented memory ?  </a:t>
            </a: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 Best of luck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Implement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xrealloc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 (void *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, int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new_units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) </a:t>
            </a: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which should work like standard </a:t>
            </a:r>
            <a:r>
              <a:rPr lang="en-US" dirty="0" err="1">
                <a:latin typeface="Baskerville Old Face" panose="02020602080505020303" pitchFamily="18" charset="0"/>
                <a:sym typeface="Wingdings" panose="05000000000000000000" pitchFamily="2" charset="2"/>
              </a:rPr>
              <a:t>realloc</a:t>
            </a: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Print no of System Calls the LMM has made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# of System Calls = Total no of times the LMM request/release a VM page from/to kernel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Count no of such Sys calls per page family </a:t>
            </a:r>
          </a:p>
        </p:txBody>
      </p:sp>
    </p:spTree>
    <p:extLst>
      <p:ext uri="{BB962C8B-B14F-4D97-AF65-F5344CB8AC3E}">
        <p14:creationId xmlns:p14="http://schemas.microsoft.com/office/powerpoint/2010/main" val="36170462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701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Supporting Anonymous page family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55332-7EAD-46AD-8111-EAF645A649FD}"/>
              </a:ext>
            </a:extLst>
          </p:cNvPr>
          <p:cNvSpPr txBox="1"/>
          <p:nvPr/>
        </p:nvSpPr>
        <p:spPr>
          <a:xfrm>
            <a:off x="329306" y="641204"/>
            <a:ext cx="3953935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Supporting Anonymous page family</a:t>
            </a:r>
          </a:p>
        </p:txBody>
      </p:sp>
    </p:spTree>
    <p:extLst>
      <p:ext uri="{BB962C8B-B14F-4D97-AF65-F5344CB8AC3E}">
        <p14:creationId xmlns:p14="http://schemas.microsoft.com/office/powerpoint/2010/main" val="51320088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5FCEB9-96C5-416C-AD89-414806B44D4B}"/>
              </a:ext>
            </a:extLst>
          </p:cNvPr>
          <p:cNvSpPr txBox="1"/>
          <p:nvPr/>
        </p:nvSpPr>
        <p:spPr>
          <a:xfrm>
            <a:off x="0" y="0"/>
            <a:ext cx="634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Supporting Giant Structures 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A03-792D-43A0-AFB7-301999D34105}"/>
              </a:ext>
            </a:extLst>
          </p:cNvPr>
          <p:cNvSpPr txBox="1"/>
          <p:nvPr/>
        </p:nvSpPr>
        <p:spPr>
          <a:xfrm>
            <a:off x="79050" y="1313186"/>
            <a:ext cx="115868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Supporting Giant Structures :</a:t>
            </a:r>
          </a:p>
          <a:p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Enhance your LMM design such that LMM seamlessly works for memory requests which exceeds VM page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For example, VM page size is 4192B, then LMM should support memory request for structures whose size could be </a:t>
            </a:r>
          </a:p>
          <a:p>
            <a:pPr lvl="1"/>
            <a:r>
              <a:rPr lang="en-US" dirty="0">
                <a:latin typeface="Baskerville Old Face" panose="02020602080505020303" pitchFamily="18" charset="0"/>
                <a:sym typeface="Wingdings" panose="05000000000000000000" pitchFamily="2" charset="2"/>
              </a:rPr>
              <a:t>	anything – 5120B, 6154B </a:t>
            </a:r>
            <a:r>
              <a:rPr lang="en-US" dirty="0" err="1">
                <a:latin typeface="Baskerville Old Face" panose="02020602080505020303" pitchFamily="18" charset="0"/>
                <a:sym typeface="Wingdings" panose="05000000000000000000" pitchFamily="2" charset="2"/>
              </a:rPr>
              <a:t>etc</a:t>
            </a:r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latin typeface="Baskerville Old Face" panose="02020602080505020303" pitchFamily="18" charset="0"/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askerville Old Face" panose="02020602080505020303" pitchFamily="18" charset="0"/>
                <a:sym typeface="Wingdings" panose="05000000000000000000" pitchFamily="2" charset="2"/>
              </a:rPr>
              <a:t>LMM must request as many contiguous VM pages from kernel which suffice to meet memory requirements (Giant VM pages)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55332-7EAD-46AD-8111-EAF645A649FD}"/>
              </a:ext>
            </a:extLst>
          </p:cNvPr>
          <p:cNvSpPr txBox="1"/>
          <p:nvPr/>
        </p:nvSpPr>
        <p:spPr>
          <a:xfrm>
            <a:off x="329307" y="641204"/>
            <a:ext cx="3164664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Supporting Giant Structures</a:t>
            </a:r>
          </a:p>
        </p:txBody>
      </p:sp>
    </p:spTree>
    <p:extLst>
      <p:ext uri="{BB962C8B-B14F-4D97-AF65-F5344CB8AC3E}">
        <p14:creationId xmlns:p14="http://schemas.microsoft.com/office/powerpoint/2010/main" val="402136769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42C28C9C-9091-4193-AAB8-A75E76BA5C0F}"/>
              </a:ext>
            </a:extLst>
          </p:cNvPr>
          <p:cNvSpPr/>
          <p:nvPr/>
        </p:nvSpPr>
        <p:spPr>
          <a:xfrm>
            <a:off x="3835603" y="3326081"/>
            <a:ext cx="1120051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0F8BB-9A41-469B-8B7A-10929E947904}"/>
              </a:ext>
            </a:extLst>
          </p:cNvPr>
          <p:cNvSpPr txBox="1"/>
          <p:nvPr/>
        </p:nvSpPr>
        <p:spPr>
          <a:xfrm>
            <a:off x="329307" y="641204"/>
            <a:ext cx="3164664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Supporting Giant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51C24-A930-4F93-9683-684FAE87B11A}"/>
              </a:ext>
            </a:extLst>
          </p:cNvPr>
          <p:cNvSpPr/>
          <p:nvPr/>
        </p:nvSpPr>
        <p:spPr>
          <a:xfrm>
            <a:off x="945324" y="1952064"/>
            <a:ext cx="976008" cy="17193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06A3D-3AE9-43FE-85E2-4872C17267FF}"/>
              </a:ext>
            </a:extLst>
          </p:cNvPr>
          <p:cNvSpPr/>
          <p:nvPr/>
        </p:nvSpPr>
        <p:spPr>
          <a:xfrm>
            <a:off x="3852412" y="863182"/>
            <a:ext cx="108022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55E06-C5A8-426E-9E76-E784F5FBDEB2}"/>
              </a:ext>
            </a:extLst>
          </p:cNvPr>
          <p:cNvSpPr txBox="1"/>
          <p:nvPr/>
        </p:nvSpPr>
        <p:spPr>
          <a:xfrm>
            <a:off x="963071" y="3063561"/>
            <a:ext cx="87235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emp_t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36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42A6D-ADBF-4E89-9FD2-BC9334B6DBCE}"/>
              </a:ext>
            </a:extLst>
          </p:cNvPr>
          <p:cNvSpPr/>
          <p:nvPr/>
        </p:nvSpPr>
        <p:spPr>
          <a:xfrm>
            <a:off x="3895074" y="1889491"/>
            <a:ext cx="976008" cy="379427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A936A-7D3E-4F42-9D90-F2012CA53E79}"/>
              </a:ext>
            </a:extLst>
          </p:cNvPr>
          <p:cNvSpPr txBox="1"/>
          <p:nvPr/>
        </p:nvSpPr>
        <p:spPr>
          <a:xfrm>
            <a:off x="4068954" y="106905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6A789A-906D-44B1-9B23-274FDE2C7DCE}"/>
              </a:ext>
            </a:extLst>
          </p:cNvPr>
          <p:cNvSpPr txBox="1"/>
          <p:nvPr/>
        </p:nvSpPr>
        <p:spPr>
          <a:xfrm rot="17907859">
            <a:off x="2248722" y="210326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Baskerville Old Face" panose="02020602080505020303" pitchFamily="18" charset="0"/>
              </a:rPr>
              <a:t>first_page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2E8E44-F360-49F4-8DC7-B75448B5AB3D}"/>
              </a:ext>
            </a:extLst>
          </p:cNvPr>
          <p:cNvSpPr txBox="1"/>
          <p:nvPr/>
        </p:nvSpPr>
        <p:spPr>
          <a:xfrm>
            <a:off x="950752" y="2516572"/>
            <a:ext cx="1005403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Student_t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Size = 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6154B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E8402F-81BD-430F-942C-E8D01ECB197E}"/>
              </a:ext>
            </a:extLst>
          </p:cNvPr>
          <p:cNvSpPr/>
          <p:nvPr/>
        </p:nvSpPr>
        <p:spPr>
          <a:xfrm>
            <a:off x="3884807" y="5263041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525C324-70BF-4C87-9E60-1EA03D8D643F}"/>
              </a:ext>
            </a:extLst>
          </p:cNvPr>
          <p:cNvSpPr/>
          <p:nvPr/>
        </p:nvSpPr>
        <p:spPr>
          <a:xfrm>
            <a:off x="5618068" y="3297206"/>
            <a:ext cx="1120051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D87A085-3415-488A-B7AC-B243DB51EB75}"/>
              </a:ext>
            </a:extLst>
          </p:cNvPr>
          <p:cNvSpPr/>
          <p:nvPr/>
        </p:nvSpPr>
        <p:spPr>
          <a:xfrm>
            <a:off x="5634877" y="834307"/>
            <a:ext cx="108022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8ACFC0D-9DAA-4739-8F51-34D4741C22B5}"/>
              </a:ext>
            </a:extLst>
          </p:cNvPr>
          <p:cNvSpPr/>
          <p:nvPr/>
        </p:nvSpPr>
        <p:spPr>
          <a:xfrm>
            <a:off x="5677539" y="1860616"/>
            <a:ext cx="976008" cy="379427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F7FE88-5627-4459-95BA-E2185A2F6542}"/>
              </a:ext>
            </a:extLst>
          </p:cNvPr>
          <p:cNvSpPr txBox="1"/>
          <p:nvPr/>
        </p:nvSpPr>
        <p:spPr>
          <a:xfrm>
            <a:off x="5876193" y="106116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46A853B-F2FB-44D8-97F2-73E63DD47119}"/>
              </a:ext>
            </a:extLst>
          </p:cNvPr>
          <p:cNvSpPr/>
          <p:nvPr/>
        </p:nvSpPr>
        <p:spPr>
          <a:xfrm>
            <a:off x="5667272" y="5234166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74890B-121A-4FAF-89F8-AAD4F32A1389}"/>
              </a:ext>
            </a:extLst>
          </p:cNvPr>
          <p:cNvCxnSpPr>
            <a:cxnSpLocks/>
          </p:cNvCxnSpPr>
          <p:nvPr/>
        </p:nvCxnSpPr>
        <p:spPr>
          <a:xfrm>
            <a:off x="4787388" y="5644951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87A561-EE80-4A36-82C8-804078D985FC}"/>
              </a:ext>
            </a:extLst>
          </p:cNvPr>
          <p:cNvSpPr/>
          <p:nvPr/>
        </p:nvSpPr>
        <p:spPr>
          <a:xfrm flipV="1">
            <a:off x="1946009" y="1932608"/>
            <a:ext cx="1993251" cy="1002842"/>
          </a:xfrm>
          <a:custGeom>
            <a:avLst/>
            <a:gdLst>
              <a:gd name="connsiteX0" fmla="*/ 0 w 2042808"/>
              <a:gd name="connsiteY0" fmla="*/ 49218 h 535601"/>
              <a:gd name="connsiteX1" fmla="*/ 758757 w 2042808"/>
              <a:gd name="connsiteY1" fmla="*/ 29763 h 535601"/>
              <a:gd name="connsiteX2" fmla="*/ 1089498 w 2042808"/>
              <a:gd name="connsiteY2" fmla="*/ 399414 h 535601"/>
              <a:gd name="connsiteX3" fmla="*/ 2042808 w 2042808"/>
              <a:gd name="connsiteY3" fmla="*/ 535601 h 53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808" h="535601">
                <a:moveTo>
                  <a:pt x="0" y="49218"/>
                </a:moveTo>
                <a:cubicBezTo>
                  <a:pt x="288587" y="10307"/>
                  <a:pt x="577174" y="-28603"/>
                  <a:pt x="758757" y="29763"/>
                </a:cubicBezTo>
                <a:cubicBezTo>
                  <a:pt x="940340" y="88129"/>
                  <a:pt x="875490" y="315108"/>
                  <a:pt x="1089498" y="399414"/>
                </a:cubicBezTo>
                <a:cubicBezTo>
                  <a:pt x="1303507" y="483720"/>
                  <a:pt x="1673157" y="509660"/>
                  <a:pt x="2042808" y="53560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4D955C8-3FB1-4B53-8A29-14E01A9920B2}"/>
              </a:ext>
            </a:extLst>
          </p:cNvPr>
          <p:cNvSpPr/>
          <p:nvPr/>
        </p:nvSpPr>
        <p:spPr>
          <a:xfrm>
            <a:off x="7548400" y="3297206"/>
            <a:ext cx="1120051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87F9413-C28A-45E4-88B2-834CF560DC26}"/>
              </a:ext>
            </a:extLst>
          </p:cNvPr>
          <p:cNvSpPr/>
          <p:nvPr/>
        </p:nvSpPr>
        <p:spPr>
          <a:xfrm>
            <a:off x="7565209" y="834307"/>
            <a:ext cx="108022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3B4741C-5E9D-42A0-96D5-5D4F95F02D57}"/>
              </a:ext>
            </a:extLst>
          </p:cNvPr>
          <p:cNvSpPr/>
          <p:nvPr/>
        </p:nvSpPr>
        <p:spPr>
          <a:xfrm>
            <a:off x="7607871" y="1860616"/>
            <a:ext cx="976008" cy="379427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9B1117-E5C4-45FE-AFEE-FE163141DCE1}"/>
              </a:ext>
            </a:extLst>
          </p:cNvPr>
          <p:cNvSpPr txBox="1"/>
          <p:nvPr/>
        </p:nvSpPr>
        <p:spPr>
          <a:xfrm>
            <a:off x="7806525" y="106116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4D44DC2-A106-4022-B1B3-D26EC4960957}"/>
              </a:ext>
            </a:extLst>
          </p:cNvPr>
          <p:cNvSpPr/>
          <p:nvPr/>
        </p:nvSpPr>
        <p:spPr>
          <a:xfrm>
            <a:off x="7597604" y="5234166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DC0979B-76B2-4FB8-B715-6DF20959470A}"/>
              </a:ext>
            </a:extLst>
          </p:cNvPr>
          <p:cNvSpPr/>
          <p:nvPr/>
        </p:nvSpPr>
        <p:spPr>
          <a:xfrm>
            <a:off x="9330865" y="3268331"/>
            <a:ext cx="1120051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854AA0A-64E9-4C4B-A52A-E7BB900E2F71}"/>
              </a:ext>
            </a:extLst>
          </p:cNvPr>
          <p:cNvSpPr/>
          <p:nvPr/>
        </p:nvSpPr>
        <p:spPr>
          <a:xfrm>
            <a:off x="9347674" y="805432"/>
            <a:ext cx="1080228" cy="24365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5B86A9C-CC5D-4C11-96F6-F47AA68889CC}"/>
              </a:ext>
            </a:extLst>
          </p:cNvPr>
          <p:cNvSpPr/>
          <p:nvPr/>
        </p:nvSpPr>
        <p:spPr>
          <a:xfrm>
            <a:off x="9390336" y="1831741"/>
            <a:ext cx="976008" cy="379427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5382FE-05FE-4A9F-B4F1-8AD1F1C675B1}"/>
              </a:ext>
            </a:extLst>
          </p:cNvPr>
          <p:cNvSpPr txBox="1"/>
          <p:nvPr/>
        </p:nvSpPr>
        <p:spPr>
          <a:xfrm>
            <a:off x="9608705" y="105986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FB4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5668159-7352-4B1E-85D3-7E340ADE85CF}"/>
              </a:ext>
            </a:extLst>
          </p:cNvPr>
          <p:cNvSpPr/>
          <p:nvPr/>
        </p:nvSpPr>
        <p:spPr>
          <a:xfrm>
            <a:off x="9380069" y="5205291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3191C1A-9650-4F12-841D-2E62D3780782}"/>
              </a:ext>
            </a:extLst>
          </p:cNvPr>
          <p:cNvCxnSpPr>
            <a:cxnSpLocks/>
          </p:cNvCxnSpPr>
          <p:nvPr/>
        </p:nvCxnSpPr>
        <p:spPr>
          <a:xfrm>
            <a:off x="8500185" y="5616076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C651A38-8BCA-4EE0-8ECD-94E40C68EF44}"/>
              </a:ext>
            </a:extLst>
          </p:cNvPr>
          <p:cNvCxnSpPr>
            <a:cxnSpLocks/>
          </p:cNvCxnSpPr>
          <p:nvPr/>
        </p:nvCxnSpPr>
        <p:spPr>
          <a:xfrm>
            <a:off x="6653547" y="5609704"/>
            <a:ext cx="933855" cy="0"/>
          </a:xfrm>
          <a:prstGeom prst="straightConnector1">
            <a:avLst/>
          </a:prstGeom>
          <a:ln w="3492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E7D831D3-B30E-4DAF-8A9A-D1134892E155}"/>
              </a:ext>
            </a:extLst>
          </p:cNvPr>
          <p:cNvSpPr/>
          <p:nvPr/>
        </p:nvSpPr>
        <p:spPr>
          <a:xfrm>
            <a:off x="3884807" y="1526831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CDDD592-CDB5-4A00-9CC6-6ED58531A39A}"/>
              </a:ext>
            </a:extLst>
          </p:cNvPr>
          <p:cNvSpPr/>
          <p:nvPr/>
        </p:nvSpPr>
        <p:spPr>
          <a:xfrm>
            <a:off x="5686987" y="1488243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2BDE19E-43B9-4E5A-A433-F52482E39B27}"/>
              </a:ext>
            </a:extLst>
          </p:cNvPr>
          <p:cNvSpPr/>
          <p:nvPr/>
        </p:nvSpPr>
        <p:spPr>
          <a:xfrm>
            <a:off x="7606274" y="1488242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D8A1222-B991-4558-BFE3-A03E76480289}"/>
              </a:ext>
            </a:extLst>
          </p:cNvPr>
          <p:cNvSpPr/>
          <p:nvPr/>
        </p:nvSpPr>
        <p:spPr>
          <a:xfrm>
            <a:off x="9390674" y="1468052"/>
            <a:ext cx="976008" cy="35303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53E2B-CF3D-4B8F-ADDC-EE2044E2BD13}"/>
              </a:ext>
            </a:extLst>
          </p:cNvPr>
          <p:cNvSpPr txBox="1"/>
          <p:nvPr/>
        </p:nvSpPr>
        <p:spPr>
          <a:xfrm>
            <a:off x="329307" y="4235959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Page size = 4192B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6680E92-45B7-4618-B657-8EEA36913BAE}"/>
              </a:ext>
            </a:extLst>
          </p:cNvPr>
          <p:cNvSpPr/>
          <p:nvPr/>
        </p:nvSpPr>
        <p:spPr>
          <a:xfrm>
            <a:off x="1953928" y="2857856"/>
            <a:ext cx="1540043" cy="3610523"/>
          </a:xfrm>
          <a:custGeom>
            <a:avLst/>
            <a:gdLst>
              <a:gd name="connsiteX0" fmla="*/ 0 w 1540043"/>
              <a:gd name="connsiteY0" fmla="*/ 97100 h 3610523"/>
              <a:gd name="connsiteX1" fmla="*/ 481264 w 1540043"/>
              <a:gd name="connsiteY1" fmla="*/ 231853 h 3610523"/>
              <a:gd name="connsiteX2" fmla="*/ 577516 w 1540043"/>
              <a:gd name="connsiteY2" fmla="*/ 2118405 h 3610523"/>
              <a:gd name="connsiteX3" fmla="*/ 635268 w 1540043"/>
              <a:gd name="connsiteY3" fmla="*/ 3446691 h 3610523"/>
              <a:gd name="connsiteX4" fmla="*/ 1540043 w 1540043"/>
              <a:gd name="connsiteY4" fmla="*/ 3542944 h 3610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0043" h="3610523">
                <a:moveTo>
                  <a:pt x="0" y="97100"/>
                </a:moveTo>
                <a:cubicBezTo>
                  <a:pt x="192505" y="-3966"/>
                  <a:pt x="385011" y="-105031"/>
                  <a:pt x="481264" y="231853"/>
                </a:cubicBezTo>
                <a:cubicBezTo>
                  <a:pt x="577517" y="568737"/>
                  <a:pt x="551849" y="1582599"/>
                  <a:pt x="577516" y="2118405"/>
                </a:cubicBezTo>
                <a:cubicBezTo>
                  <a:pt x="603183" y="2654211"/>
                  <a:pt x="474847" y="3209268"/>
                  <a:pt x="635268" y="3446691"/>
                </a:cubicBezTo>
                <a:cubicBezTo>
                  <a:pt x="795689" y="3684114"/>
                  <a:pt x="1167866" y="3613529"/>
                  <a:pt x="1540043" y="3542944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7798E1F-5654-48E1-B213-31343D26F0AA}"/>
              </a:ext>
            </a:extLst>
          </p:cNvPr>
          <p:cNvSpPr txBox="1"/>
          <p:nvPr/>
        </p:nvSpPr>
        <p:spPr>
          <a:xfrm>
            <a:off x="3526567" y="6176848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03177E1-DD85-48D9-807E-354602371774}"/>
              </a:ext>
            </a:extLst>
          </p:cNvPr>
          <p:cNvSpPr txBox="1"/>
          <p:nvPr/>
        </p:nvSpPr>
        <p:spPr>
          <a:xfrm>
            <a:off x="4686566" y="6167859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F21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4C970E-599B-47F1-81FC-68C037BBD4E2}"/>
              </a:ext>
            </a:extLst>
          </p:cNvPr>
          <p:cNvSpPr txBox="1"/>
          <p:nvPr/>
        </p:nvSpPr>
        <p:spPr>
          <a:xfrm>
            <a:off x="6009181" y="6176848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C5E2891-4649-441F-9485-80358DA50519}"/>
              </a:ext>
            </a:extLst>
          </p:cNvPr>
          <p:cNvSpPr txBox="1"/>
          <p:nvPr/>
        </p:nvSpPr>
        <p:spPr>
          <a:xfrm>
            <a:off x="7273895" y="6187315"/>
            <a:ext cx="5581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FB4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C97754C-62E9-48F9-A110-73AF7E9DA69C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4131513" y="6352525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239AD0-C865-43A2-8218-857E824A2A76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5252626" y="6361514"/>
            <a:ext cx="756555" cy="10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B59AF37-9A61-48E0-B5D6-826E665654BD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6567347" y="6361514"/>
            <a:ext cx="706548" cy="10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CF2EFFE-99CC-4338-A5B1-A0DD2B3B8172}"/>
              </a:ext>
            </a:extLst>
          </p:cNvPr>
          <p:cNvSpPr txBox="1"/>
          <p:nvPr/>
        </p:nvSpPr>
        <p:spPr>
          <a:xfrm>
            <a:off x="4997736" y="6527561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Priority queue of Free blocks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14455C2-5687-483B-AA10-D9DD8725F8C5}"/>
              </a:ext>
            </a:extLst>
          </p:cNvPr>
          <p:cNvCxnSpPr>
            <a:cxnSpLocks/>
          </p:cNvCxnSpPr>
          <p:nvPr/>
        </p:nvCxnSpPr>
        <p:spPr>
          <a:xfrm>
            <a:off x="4131513" y="6341316"/>
            <a:ext cx="5550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84C1761-9052-40A5-A744-20DE403DEC7F}"/>
              </a:ext>
            </a:extLst>
          </p:cNvPr>
          <p:cNvSpPr txBox="1"/>
          <p:nvPr/>
        </p:nvSpPr>
        <p:spPr>
          <a:xfrm>
            <a:off x="8285340" y="5965765"/>
            <a:ext cx="3565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All FBs are of same sizes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All FBs are fragmented memories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CC05C6-BD5B-44F6-A01D-65512A3464CC}"/>
              </a:ext>
            </a:extLst>
          </p:cNvPr>
          <p:cNvSpPr txBox="1"/>
          <p:nvPr/>
        </p:nvSpPr>
        <p:spPr>
          <a:xfrm>
            <a:off x="0" y="0"/>
            <a:ext cx="634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Supporting Giant Structures 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1516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4327903" y="1379051"/>
            <a:ext cx="3244799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Phase 9</a:t>
            </a:r>
          </a:p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 </a:t>
            </a:r>
            <a:r>
              <a:rPr lang="en-US" sz="72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xfree</a:t>
            </a:r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( 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653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40253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653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endParaRPr lang="en-US" b="1" dirty="0">
              <a:solidFill>
                <a:srgbClr val="FFFF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5FB80-1F17-4CA0-B6A2-D5CC32B11ECA}"/>
              </a:ext>
            </a:extLst>
          </p:cNvPr>
          <p:cNvSpPr txBox="1"/>
          <p:nvPr/>
        </p:nvSpPr>
        <p:spPr>
          <a:xfrm>
            <a:off x="327259" y="625642"/>
            <a:ext cx="1080616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 is incomplete without </a:t>
            </a:r>
            <a:r>
              <a:rPr lang="en-US" dirty="0" err="1">
                <a:latin typeface="Baskerville Old Face" panose="02020602080505020303" pitchFamily="18" charset="0"/>
              </a:rPr>
              <a:t>xfree</a:t>
            </a: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Baskerville Old Face" panose="02020602080505020303" pitchFamily="18" charset="0"/>
              </a:rPr>
              <a:t>xfree</a:t>
            </a:r>
            <a:r>
              <a:rPr lang="en-US" dirty="0">
                <a:latin typeface="Baskerville Old Face" panose="02020602080505020303" pitchFamily="18" charset="0"/>
              </a:rPr>
              <a:t> does the exactly opposite, </a:t>
            </a:r>
            <a:r>
              <a:rPr lang="en-US" dirty="0" err="1">
                <a:latin typeface="Baskerville Old Face" panose="02020602080505020303" pitchFamily="18" charset="0"/>
              </a:rPr>
              <a:t>appln</a:t>
            </a:r>
            <a:r>
              <a:rPr lang="en-US" dirty="0">
                <a:latin typeface="Baskerville Old Face" panose="02020602080505020303" pitchFamily="18" charset="0"/>
              </a:rPr>
              <a:t> returns the memory to LMM using </a:t>
            </a:r>
            <a:r>
              <a:rPr lang="en-US" dirty="0" err="1">
                <a:latin typeface="Baskerville Old Face" panose="02020602080505020303" pitchFamily="18" charset="0"/>
              </a:rPr>
              <a:t>xfree</a:t>
            </a: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Where </a:t>
            </a:r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ptr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0"/>
              </a:rPr>
              <a:t> </a:t>
            </a:r>
            <a:r>
              <a:rPr lang="en-US" dirty="0">
                <a:latin typeface="Baskerville Old Face" panose="02020602080505020303" pitchFamily="18" charset="0"/>
              </a:rPr>
              <a:t>is the pointer to the data block which LMM assigned to </a:t>
            </a:r>
            <a:r>
              <a:rPr lang="en-US" dirty="0" err="1">
                <a:latin typeface="Baskerville Old Face" panose="02020602080505020303" pitchFamily="18" charset="0"/>
              </a:rPr>
              <a:t>appln</a:t>
            </a:r>
            <a:r>
              <a:rPr lang="en-US" dirty="0">
                <a:latin typeface="Baskerville Old Face" panose="02020602080505020303" pitchFamily="18" charset="0"/>
              </a:rPr>
              <a:t> via </a:t>
            </a:r>
            <a:r>
              <a:rPr lang="en-US" dirty="0" err="1">
                <a:latin typeface="Baskerville Old Face" panose="02020602080505020303" pitchFamily="18" charset="0"/>
              </a:rPr>
              <a:t>xmalloc</a:t>
            </a:r>
            <a:r>
              <a:rPr lang="en-US" dirty="0">
                <a:latin typeface="Baskerville Old Face" panose="02020602080505020303" pitchFamily="18" charset="0"/>
              </a:rPr>
              <a:t> during allocation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Algorithm works in 3 simple Steps :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Step 1 : Application invokes </a:t>
            </a:r>
            <a:r>
              <a:rPr lang="en-US" dirty="0" err="1">
                <a:latin typeface="Baskerville Old Face" panose="02020602080505020303" pitchFamily="18" charset="0"/>
              </a:rPr>
              <a:t>xfree</a:t>
            </a: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Step 2 : LMM mark the data block as Free, perform necessary block merging (take care of hard/soft IF)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Step 3 : If VM data page do not have any more allocated data block, then return the VM data page to kernel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28BE8-B5AB-4ED1-A612-C4E3706027C4}"/>
              </a:ext>
            </a:extLst>
          </p:cNvPr>
          <p:cNvSpPr txBox="1"/>
          <p:nvPr/>
        </p:nvSpPr>
        <p:spPr>
          <a:xfrm>
            <a:off x="3522846" y="2056803"/>
            <a:ext cx="2723949" cy="40011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void </a:t>
            </a:r>
            <a:r>
              <a:rPr lang="en-US" sz="2000" b="1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(void *</a:t>
            </a:r>
            <a:r>
              <a:rPr lang="en-US" sz="2000" b="1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ptr</a:t>
            </a:r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D5DF7-4590-4C9E-98BF-1CB634EB7AC3}"/>
              </a:ext>
            </a:extLst>
          </p:cNvPr>
          <p:cNvSpPr txBox="1"/>
          <p:nvPr/>
        </p:nvSpPr>
        <p:spPr>
          <a:xfrm>
            <a:off x="3529192" y="5757878"/>
            <a:ext cx="5133615" cy="584775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  <a:alpha val="5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39700">
              <a:schemeClr val="accent3">
                <a:satMod val="175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0" endPos="65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 prstMaterial="flat">
            <a:bevelT prst="relaxedInset"/>
            <a:bevelB prst="convex"/>
          </a:sp3d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static </a:t>
            </a:r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block_meta_data_t</a:t>
            </a:r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*</a:t>
            </a:r>
          </a:p>
          <a:p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mm_free_blocks</a:t>
            </a:r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block_meta_data_t</a:t>
            </a:r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*</a:t>
            </a:r>
            <a:r>
              <a:rPr lang="en-US" sz="16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to_be_free_block</a:t>
            </a:r>
            <a:r>
              <a:rPr lang="en-US" sz="16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2250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A93C8434-5F4A-4F41-B646-4ABF4775E2B8}"/>
              </a:ext>
            </a:extLst>
          </p:cNvPr>
          <p:cNvSpPr txBox="1"/>
          <p:nvPr/>
        </p:nvSpPr>
        <p:spPr>
          <a:xfrm>
            <a:off x="0" y="0"/>
            <a:ext cx="788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flowchart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45B132-0B39-42A7-B2B2-325838086177}"/>
              </a:ext>
            </a:extLst>
          </p:cNvPr>
          <p:cNvSpPr/>
          <p:nvPr/>
        </p:nvSpPr>
        <p:spPr>
          <a:xfrm>
            <a:off x="538747" y="829607"/>
            <a:ext cx="1578544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Appln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Issues 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ptr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8738B3E-9619-46AB-9AB5-212A3932ACE1}"/>
              </a:ext>
            </a:extLst>
          </p:cNvPr>
          <p:cNvSpPr/>
          <p:nvPr/>
        </p:nvSpPr>
        <p:spPr>
          <a:xfrm>
            <a:off x="1168772" y="1337697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C375DB-5B83-4C34-B803-19752BD947B7}"/>
              </a:ext>
            </a:extLst>
          </p:cNvPr>
          <p:cNvSpPr/>
          <p:nvPr/>
        </p:nvSpPr>
        <p:spPr>
          <a:xfrm>
            <a:off x="172185" y="1952109"/>
            <a:ext cx="2542674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Get meta block B from 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ptr</a:t>
            </a:r>
            <a:endParaRPr lang="en-US" sz="1400" dirty="0">
              <a:solidFill>
                <a:schemeClr val="bg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8DA8FF3-0E91-4436-B67D-B5199108D500}"/>
              </a:ext>
            </a:extLst>
          </p:cNvPr>
          <p:cNvSpPr/>
          <p:nvPr/>
        </p:nvSpPr>
        <p:spPr>
          <a:xfrm rot="16200000">
            <a:off x="2875867" y="1917396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BA443A-6D3D-4FDF-AD9A-A4A4830661AD}"/>
              </a:ext>
            </a:extLst>
          </p:cNvPr>
          <p:cNvSpPr/>
          <p:nvPr/>
        </p:nvSpPr>
        <p:spPr>
          <a:xfrm>
            <a:off x="3292374" y="1952109"/>
            <a:ext cx="2542674" cy="57751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B-&gt;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is_free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= MM_TRUE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42020E6-F0AF-49DC-A26A-F9714EB598F6}"/>
              </a:ext>
            </a:extLst>
          </p:cNvPr>
          <p:cNvSpPr/>
          <p:nvPr/>
        </p:nvSpPr>
        <p:spPr>
          <a:xfrm>
            <a:off x="4435961" y="2529623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C93E66-D2B3-4FB0-AD11-C70B34B7CA27}"/>
              </a:ext>
            </a:extLst>
          </p:cNvPr>
          <p:cNvSpPr/>
          <p:nvPr/>
        </p:nvSpPr>
        <p:spPr>
          <a:xfrm>
            <a:off x="3683801" y="3142429"/>
            <a:ext cx="2334341" cy="50809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Get Next Meta Block M in a VM Data page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C7B0A65-AABA-414C-92BA-EF115CBD86E1}"/>
              </a:ext>
            </a:extLst>
          </p:cNvPr>
          <p:cNvSpPr/>
          <p:nvPr/>
        </p:nvSpPr>
        <p:spPr>
          <a:xfrm>
            <a:off x="4433556" y="3650519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1A5C-BEBB-4494-97BC-2D4DF350F4E3}"/>
              </a:ext>
            </a:extLst>
          </p:cNvPr>
          <p:cNvSpPr/>
          <p:nvPr/>
        </p:nvSpPr>
        <p:spPr>
          <a:xfrm>
            <a:off x="3475468" y="4263324"/>
            <a:ext cx="2542674" cy="83464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If M is already free, Merge M and B to form BM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5AE433-787A-4137-9E13-F4BC8605F538}"/>
              </a:ext>
            </a:extLst>
          </p:cNvPr>
          <p:cNvSpPr txBox="1"/>
          <p:nvPr/>
        </p:nvSpPr>
        <p:spPr>
          <a:xfrm>
            <a:off x="8447665" y="3994689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Yes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0A4374D6-3464-45F6-8EBF-A1B3F9F66D2E}"/>
              </a:ext>
            </a:extLst>
          </p:cNvPr>
          <p:cNvSpPr/>
          <p:nvPr/>
        </p:nvSpPr>
        <p:spPr>
          <a:xfrm>
            <a:off x="4456762" y="5095462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33DAF0-AA17-41AC-AC5C-B357A95B5649}"/>
              </a:ext>
            </a:extLst>
          </p:cNvPr>
          <p:cNvSpPr/>
          <p:nvPr/>
        </p:nvSpPr>
        <p:spPr>
          <a:xfrm>
            <a:off x="3665274" y="5708268"/>
            <a:ext cx="2334341" cy="577514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Get </a:t>
            </a:r>
            <a:r>
              <a:rPr lang="en-US" sz="1400" dirty="0" err="1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Prev</a:t>
            </a:r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Meta Block P in a VM Data page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EA3DE8F0-CC62-49DC-86A9-A24CB495B882}"/>
              </a:ext>
            </a:extLst>
          </p:cNvPr>
          <p:cNvSpPr/>
          <p:nvPr/>
        </p:nvSpPr>
        <p:spPr>
          <a:xfrm rot="16200000">
            <a:off x="6461918" y="5353436"/>
            <a:ext cx="255499" cy="1162306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C80FE9-B98D-4A40-984E-EE89DC0895ED}"/>
              </a:ext>
            </a:extLst>
          </p:cNvPr>
          <p:cNvSpPr/>
          <p:nvPr/>
        </p:nvSpPr>
        <p:spPr>
          <a:xfrm>
            <a:off x="7170821" y="5517267"/>
            <a:ext cx="2542674" cy="83464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If P is already free, Merge BM and P to form BMP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31C9054-E86A-4C66-8BC2-E2A445D516D6}"/>
              </a:ext>
            </a:extLst>
          </p:cNvPr>
          <p:cNvSpPr/>
          <p:nvPr/>
        </p:nvSpPr>
        <p:spPr>
          <a:xfrm rot="10800000">
            <a:off x="8192166" y="4908979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E06153-CCAB-45C2-A50F-CDB8BB9C187F}"/>
              </a:ext>
            </a:extLst>
          </p:cNvPr>
          <p:cNvSpPr/>
          <p:nvPr/>
        </p:nvSpPr>
        <p:spPr>
          <a:xfrm>
            <a:off x="7230183" y="4452721"/>
            <a:ext cx="1981194" cy="456258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Is VM data page empty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5A7B6547-CA05-4B04-AF0C-D0BDB31A600A}"/>
              </a:ext>
            </a:extLst>
          </p:cNvPr>
          <p:cNvSpPr/>
          <p:nvPr/>
        </p:nvSpPr>
        <p:spPr>
          <a:xfrm rot="10800000">
            <a:off x="8221401" y="3859821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64BBEE-3357-4C4F-B7CC-3B23607E32AD}"/>
              </a:ext>
            </a:extLst>
          </p:cNvPr>
          <p:cNvSpPr/>
          <p:nvPr/>
        </p:nvSpPr>
        <p:spPr>
          <a:xfrm>
            <a:off x="7205563" y="3241484"/>
            <a:ext cx="2542674" cy="603039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Return VM Data page to kernel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99D094AF-CEE1-4DAA-8587-F3CA6D4EA2EF}"/>
              </a:ext>
            </a:extLst>
          </p:cNvPr>
          <p:cNvSpPr/>
          <p:nvPr/>
        </p:nvSpPr>
        <p:spPr>
          <a:xfrm rot="16200000">
            <a:off x="9370357" y="4385945"/>
            <a:ext cx="255499" cy="57751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A5E8FA-9E06-4D3B-93DE-43C93DCE3AE0}"/>
              </a:ext>
            </a:extLst>
          </p:cNvPr>
          <p:cNvSpPr txBox="1"/>
          <p:nvPr/>
        </p:nvSpPr>
        <p:spPr>
          <a:xfrm>
            <a:off x="9238224" y="430246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No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B9CA1A-90A9-44FD-A143-C7DA29A76A7B}"/>
              </a:ext>
            </a:extLst>
          </p:cNvPr>
          <p:cNvSpPr/>
          <p:nvPr/>
        </p:nvSpPr>
        <p:spPr>
          <a:xfrm>
            <a:off x="9817635" y="4449705"/>
            <a:ext cx="1627772" cy="43961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Add BMP to PQ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1FBB3-7A31-4128-A8EF-F70CB8FAC0AA}"/>
              </a:ext>
            </a:extLst>
          </p:cNvPr>
          <p:cNvSpPr txBox="1"/>
          <p:nvPr/>
        </p:nvSpPr>
        <p:spPr>
          <a:xfrm>
            <a:off x="6589667" y="903249"/>
            <a:ext cx="44967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We will be going to implement below flowchart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Hard/Soft IF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Let us Build some back ground first</a:t>
            </a:r>
          </a:p>
        </p:txBody>
      </p:sp>
    </p:spTree>
    <p:extLst>
      <p:ext uri="{BB962C8B-B14F-4D97-AF65-F5344CB8AC3E}">
        <p14:creationId xmlns:p14="http://schemas.microsoft.com/office/powerpoint/2010/main" val="169767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9" grpId="0"/>
      <p:bldP spid="27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760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5283E-9C33-4100-9E58-91D7CAE18C15}"/>
              </a:ext>
            </a:extLst>
          </p:cNvPr>
          <p:cNvSpPr txBox="1"/>
          <p:nvPr/>
        </p:nvSpPr>
        <p:spPr>
          <a:xfrm>
            <a:off x="221381" y="683394"/>
            <a:ext cx="113193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There may be possibly some hard IF memory in between two consecutive Free Blocks in a 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VM data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While Merging Two </a:t>
            </a:r>
            <a:r>
              <a:rPr lang="en-US" dirty="0" err="1">
                <a:latin typeface="Baskerville Old Face" panose="02020602080505020303" pitchFamily="18" charset="0"/>
              </a:rPr>
              <a:t>consec</a:t>
            </a:r>
            <a:r>
              <a:rPr lang="en-US" dirty="0">
                <a:latin typeface="Baskerville Old Face" panose="02020602080505020303" pitchFamily="18" charset="0"/>
              </a:rPr>
              <a:t> Free data blocks, Hard IF, if any, also need to be absorbed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Soft IF memory shall be taken care by usual block merging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3FE49-DCC9-433B-87D2-A95A849BB893}"/>
              </a:ext>
            </a:extLst>
          </p:cNvPr>
          <p:cNvSpPr txBox="1"/>
          <p:nvPr/>
        </p:nvSpPr>
        <p:spPr>
          <a:xfrm>
            <a:off x="452387" y="2970042"/>
            <a:ext cx="5801588" cy="3016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Baskerville Old Face" panose="02020602080505020303" pitchFamily="18" charset="0"/>
              </a:rPr>
              <a:t>mm.c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0"/>
            </a:endParaRP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static int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mm_get_hard_internal_memory_frag_size</a:t>
            </a:r>
            <a:r>
              <a:rPr lang="en-US" dirty="0">
                <a:latin typeface="Baskerville Old Face" panose="02020602080505020303" pitchFamily="18" charset="0"/>
              </a:rPr>
              <a:t>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   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 *first,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            </a:t>
            </a:r>
            <a:r>
              <a:rPr lang="en-US" dirty="0" err="1">
                <a:latin typeface="Baskerville Old Face" panose="02020602080505020303" pitchFamily="18" charset="0"/>
              </a:rPr>
              <a:t>block_meta_data_t</a:t>
            </a:r>
            <a:r>
              <a:rPr lang="en-US" dirty="0">
                <a:latin typeface="Baskerville Old Face" panose="02020602080505020303" pitchFamily="18" charset="0"/>
              </a:rPr>
              <a:t> *second){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sz="1400" dirty="0">
                <a:latin typeface="Baskerville Old Face" panose="02020602080505020303" pitchFamily="18" charset="0"/>
              </a:rPr>
              <a:t>   </a:t>
            </a:r>
            <a:r>
              <a:rPr lang="en-US" sz="1400" dirty="0" err="1">
                <a:latin typeface="Baskerville Old Face" panose="02020602080505020303" pitchFamily="18" charset="0"/>
              </a:rPr>
              <a:t>block_meta_data_t</a:t>
            </a:r>
            <a:r>
              <a:rPr lang="en-US" sz="1400" dirty="0">
                <a:latin typeface="Baskerville Old Face" panose="02020602080505020303" pitchFamily="18" charset="0"/>
              </a:rPr>
              <a:t> *</a:t>
            </a:r>
            <a:r>
              <a:rPr lang="en-US" sz="1400" dirty="0" err="1">
                <a:latin typeface="Baskerville Old Face" panose="02020602080505020303" pitchFamily="18" charset="0"/>
              </a:rPr>
              <a:t>next_block</a:t>
            </a:r>
            <a:r>
              <a:rPr lang="en-US" sz="1400" dirty="0">
                <a:latin typeface="Baskerville Old Face" panose="02020602080505020303" pitchFamily="18" charset="0"/>
              </a:rPr>
              <a:t> = NEXT_META_BLOCK_BY_SIZE (first);</a:t>
            </a:r>
          </a:p>
          <a:p>
            <a:r>
              <a:rPr lang="en-US" sz="1400" dirty="0">
                <a:latin typeface="Baskerville Old Face" panose="02020602080505020303" pitchFamily="18" charset="0"/>
              </a:rPr>
              <a:t>   return (int) ((unsigned long) second - (unsigned long)</a:t>
            </a:r>
            <a:r>
              <a:rPr lang="en-US" sz="1400" dirty="0" err="1">
                <a:latin typeface="Baskerville Old Face" panose="02020602080505020303" pitchFamily="18" charset="0"/>
              </a:rPr>
              <a:t>next_block</a:t>
            </a:r>
            <a:r>
              <a:rPr lang="en-US" sz="1400" dirty="0">
                <a:latin typeface="Baskerville Old Face" panose="02020602080505020303" pitchFamily="18" charset="0"/>
              </a:rPr>
              <a:t>);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947F4A-09E8-43A0-8C18-79E67F13D9FC}"/>
              </a:ext>
            </a:extLst>
          </p:cNvPr>
          <p:cNvSpPr/>
          <p:nvPr/>
        </p:nvSpPr>
        <p:spPr>
          <a:xfrm>
            <a:off x="9325686" y="657339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80583-534A-4246-8126-4581DF4E86A7}"/>
              </a:ext>
            </a:extLst>
          </p:cNvPr>
          <p:cNvSpPr txBox="1"/>
          <p:nvPr/>
        </p:nvSpPr>
        <p:spPr>
          <a:xfrm>
            <a:off x="10648336" y="5989545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80DAE-D161-4E3B-A4A5-CFCD9B58C2FB}"/>
              </a:ext>
            </a:extLst>
          </p:cNvPr>
          <p:cNvSpPr txBox="1"/>
          <p:nvPr/>
        </p:nvSpPr>
        <p:spPr>
          <a:xfrm>
            <a:off x="10648336" y="60034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2E54EE-3996-4D21-BA0C-C0E9FA9FFAE1}"/>
              </a:ext>
            </a:extLst>
          </p:cNvPr>
          <p:cNvSpPr/>
          <p:nvPr/>
        </p:nvSpPr>
        <p:spPr>
          <a:xfrm>
            <a:off x="9325350" y="2299949"/>
            <a:ext cx="1320768" cy="12872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26B (IF)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C7792-8702-4126-B053-9575B853FC37}"/>
              </a:ext>
            </a:extLst>
          </p:cNvPr>
          <p:cNvSpPr/>
          <p:nvPr/>
        </p:nvSpPr>
        <p:spPr>
          <a:xfrm>
            <a:off x="9310462" y="5278940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7698A-6A5F-48E0-9F45-365A48998222}"/>
              </a:ext>
            </a:extLst>
          </p:cNvPr>
          <p:cNvSpPr/>
          <p:nvPr/>
        </p:nvSpPr>
        <p:spPr>
          <a:xfrm>
            <a:off x="9310460" y="4906068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C2619-A6E9-4B1F-B7DC-1C1067C8B41E}"/>
              </a:ext>
            </a:extLst>
          </p:cNvPr>
          <p:cNvSpPr/>
          <p:nvPr/>
        </p:nvSpPr>
        <p:spPr>
          <a:xfrm>
            <a:off x="9298861" y="4012497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A4E466-86A0-4E05-ABAE-8A0ECF104363}"/>
              </a:ext>
            </a:extLst>
          </p:cNvPr>
          <p:cNvSpPr/>
          <p:nvPr/>
        </p:nvSpPr>
        <p:spPr>
          <a:xfrm>
            <a:off x="9305143" y="141096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2B638-0359-49DB-A1BE-503A54E7D411}"/>
              </a:ext>
            </a:extLst>
          </p:cNvPr>
          <p:cNvSpPr/>
          <p:nvPr/>
        </p:nvSpPr>
        <p:spPr>
          <a:xfrm>
            <a:off x="9318957" y="699783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D6DB75-6C96-4631-BD01-E45C1DD60A32}"/>
              </a:ext>
            </a:extLst>
          </p:cNvPr>
          <p:cNvSpPr txBox="1"/>
          <p:nvPr/>
        </p:nvSpPr>
        <p:spPr>
          <a:xfrm>
            <a:off x="10706862" y="161658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B3C55-4ED6-400F-BB54-2BE8A39A9852}"/>
              </a:ext>
            </a:extLst>
          </p:cNvPr>
          <p:cNvSpPr/>
          <p:nvPr/>
        </p:nvSpPr>
        <p:spPr>
          <a:xfrm>
            <a:off x="9328563" y="3607057"/>
            <a:ext cx="1337875" cy="40544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A6572B-305D-448D-BF70-152A3A86EFD0}"/>
              </a:ext>
            </a:extLst>
          </p:cNvPr>
          <p:cNvSpPr txBox="1"/>
          <p:nvPr/>
        </p:nvSpPr>
        <p:spPr>
          <a:xfrm>
            <a:off x="9778398" y="366403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20B</a:t>
            </a: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FD4EF234-9990-4680-8CBB-20CDE1F0C179}"/>
              </a:ext>
            </a:extLst>
          </p:cNvPr>
          <p:cNvSpPr/>
          <p:nvPr/>
        </p:nvSpPr>
        <p:spPr>
          <a:xfrm>
            <a:off x="8758192" y="1784774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63B7833D-CA4A-4C39-900E-5F09E5577AEC}"/>
              </a:ext>
            </a:extLst>
          </p:cNvPr>
          <p:cNvSpPr/>
          <p:nvPr/>
        </p:nvSpPr>
        <p:spPr>
          <a:xfrm>
            <a:off x="8740308" y="4647766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2B98AA1C-C6F5-40CD-9460-709AC5075270}"/>
              </a:ext>
            </a:extLst>
          </p:cNvPr>
          <p:cNvSpPr/>
          <p:nvPr/>
        </p:nvSpPr>
        <p:spPr>
          <a:xfrm rot="10605864">
            <a:off x="10852650" y="1822403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Right 23">
            <a:extLst>
              <a:ext uri="{FF2B5EF4-FFF2-40B4-BE49-F238E27FC236}">
                <a16:creationId xmlns:a16="http://schemas.microsoft.com/office/drawing/2014/main" id="{8FE06684-5D16-48EE-BAD4-A044185C5F2D}"/>
              </a:ext>
            </a:extLst>
          </p:cNvPr>
          <p:cNvSpPr/>
          <p:nvPr/>
        </p:nvSpPr>
        <p:spPr>
          <a:xfrm rot="10605864">
            <a:off x="10834766" y="468539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13176-1FA4-4361-8590-02772004D53B}"/>
              </a:ext>
            </a:extLst>
          </p:cNvPr>
          <p:cNvSpPr txBox="1"/>
          <p:nvPr/>
        </p:nvSpPr>
        <p:spPr>
          <a:xfrm>
            <a:off x="10706863" y="444523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88B1D8-2352-49B3-8D4A-C52803442F10}"/>
              </a:ext>
            </a:extLst>
          </p:cNvPr>
          <p:cNvSpPr txBox="1"/>
          <p:nvPr/>
        </p:nvSpPr>
        <p:spPr>
          <a:xfrm>
            <a:off x="10737007" y="5592282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</p:spTree>
    <p:extLst>
      <p:ext uri="{BB962C8B-B14F-4D97-AF65-F5344CB8AC3E}">
        <p14:creationId xmlns:p14="http://schemas.microsoft.com/office/powerpoint/2010/main" val="367149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/>
      <p:bldP spid="2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760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flowchart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3FE49-DCC9-433B-87D2-A95A849BB893}"/>
              </a:ext>
            </a:extLst>
          </p:cNvPr>
          <p:cNvSpPr txBox="1"/>
          <p:nvPr/>
        </p:nvSpPr>
        <p:spPr>
          <a:xfrm>
            <a:off x="675830" y="1497804"/>
            <a:ext cx="10456709" cy="233910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</a:rPr>
              <a:t>We need to discuss two scenarios in order to take care of Hard IF while freeing up the data block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Scenario 1 : When data block to be freed is not the last upper most meta block in a VM data page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Scenario 2 : When data block to be freed is the last upper most meta block in a VM data page </a:t>
            </a: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	(Page Boundary Case)</a:t>
            </a:r>
          </a:p>
        </p:txBody>
      </p:sp>
    </p:spTree>
    <p:extLst>
      <p:ext uri="{BB962C8B-B14F-4D97-AF65-F5344CB8AC3E}">
        <p14:creationId xmlns:p14="http://schemas.microsoft.com/office/powerpoint/2010/main" val="205980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760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flowchart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3FE49-DCC9-433B-87D2-A95A849BB893}"/>
              </a:ext>
            </a:extLst>
          </p:cNvPr>
          <p:cNvSpPr txBox="1"/>
          <p:nvPr/>
        </p:nvSpPr>
        <p:spPr>
          <a:xfrm>
            <a:off x="175316" y="862536"/>
            <a:ext cx="6987810" cy="147732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Scenario 1 : When data block to be freed is not the last upper most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meta block in a VM data page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Whenever a Data block is freed, We need to check if Hard IF memory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is present, if yes, absorb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947F4A-09E8-43A0-8C18-79E67F13D9FC}"/>
              </a:ext>
            </a:extLst>
          </p:cNvPr>
          <p:cNvSpPr/>
          <p:nvPr/>
        </p:nvSpPr>
        <p:spPr>
          <a:xfrm>
            <a:off x="7531998" y="740391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80583-534A-4246-8126-4581DF4E86A7}"/>
              </a:ext>
            </a:extLst>
          </p:cNvPr>
          <p:cNvSpPr txBox="1"/>
          <p:nvPr/>
        </p:nvSpPr>
        <p:spPr>
          <a:xfrm>
            <a:off x="8854648" y="6072597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80DAE-D161-4E3B-A4A5-CFCD9B58C2FB}"/>
              </a:ext>
            </a:extLst>
          </p:cNvPr>
          <p:cNvSpPr txBox="1"/>
          <p:nvPr/>
        </p:nvSpPr>
        <p:spPr>
          <a:xfrm>
            <a:off x="8854648" y="683394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2E54EE-3996-4D21-BA0C-C0E9FA9FFAE1}"/>
              </a:ext>
            </a:extLst>
          </p:cNvPr>
          <p:cNvSpPr/>
          <p:nvPr/>
        </p:nvSpPr>
        <p:spPr>
          <a:xfrm>
            <a:off x="7531662" y="2383001"/>
            <a:ext cx="1320768" cy="12872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26B (IF)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C7792-8702-4126-B053-9575B853FC37}"/>
              </a:ext>
            </a:extLst>
          </p:cNvPr>
          <p:cNvSpPr/>
          <p:nvPr/>
        </p:nvSpPr>
        <p:spPr>
          <a:xfrm>
            <a:off x="7516774" y="5361992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7698A-6A5F-48E0-9F45-365A48998222}"/>
              </a:ext>
            </a:extLst>
          </p:cNvPr>
          <p:cNvSpPr/>
          <p:nvPr/>
        </p:nvSpPr>
        <p:spPr>
          <a:xfrm>
            <a:off x="7516772" y="4989120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C2619-A6E9-4B1F-B7DC-1C1067C8B41E}"/>
              </a:ext>
            </a:extLst>
          </p:cNvPr>
          <p:cNvSpPr/>
          <p:nvPr/>
        </p:nvSpPr>
        <p:spPr>
          <a:xfrm>
            <a:off x="7505173" y="409554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A4E466-86A0-4E05-ABAE-8A0ECF104363}"/>
              </a:ext>
            </a:extLst>
          </p:cNvPr>
          <p:cNvSpPr/>
          <p:nvPr/>
        </p:nvSpPr>
        <p:spPr>
          <a:xfrm>
            <a:off x="7511455" y="1494021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2B638-0359-49DB-A1BE-503A54E7D411}"/>
              </a:ext>
            </a:extLst>
          </p:cNvPr>
          <p:cNvSpPr/>
          <p:nvPr/>
        </p:nvSpPr>
        <p:spPr>
          <a:xfrm>
            <a:off x="7525269" y="782835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D6DB75-6C96-4631-BD01-E45C1DD60A32}"/>
              </a:ext>
            </a:extLst>
          </p:cNvPr>
          <p:cNvSpPr txBox="1"/>
          <p:nvPr/>
        </p:nvSpPr>
        <p:spPr>
          <a:xfrm>
            <a:off x="8913174" y="169963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B3C55-4ED6-400F-BB54-2BE8A39A9852}"/>
              </a:ext>
            </a:extLst>
          </p:cNvPr>
          <p:cNvSpPr/>
          <p:nvPr/>
        </p:nvSpPr>
        <p:spPr>
          <a:xfrm>
            <a:off x="7534875" y="3690109"/>
            <a:ext cx="1337875" cy="40544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A6572B-305D-448D-BF70-152A3A86EFD0}"/>
              </a:ext>
            </a:extLst>
          </p:cNvPr>
          <p:cNvSpPr txBox="1"/>
          <p:nvPr/>
        </p:nvSpPr>
        <p:spPr>
          <a:xfrm>
            <a:off x="7984710" y="374709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20B</a:t>
            </a: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FD4EF234-9990-4680-8CBB-20CDE1F0C179}"/>
              </a:ext>
            </a:extLst>
          </p:cNvPr>
          <p:cNvSpPr/>
          <p:nvPr/>
        </p:nvSpPr>
        <p:spPr>
          <a:xfrm>
            <a:off x="6964504" y="1867826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63B7833D-CA4A-4C39-900E-5F09E5577AEC}"/>
              </a:ext>
            </a:extLst>
          </p:cNvPr>
          <p:cNvSpPr/>
          <p:nvPr/>
        </p:nvSpPr>
        <p:spPr>
          <a:xfrm>
            <a:off x="6946620" y="4730818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2B98AA1C-C6F5-40CD-9460-709AC5075270}"/>
              </a:ext>
            </a:extLst>
          </p:cNvPr>
          <p:cNvSpPr/>
          <p:nvPr/>
        </p:nvSpPr>
        <p:spPr>
          <a:xfrm rot="10605864">
            <a:off x="9058962" y="1905455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Right 23">
            <a:extLst>
              <a:ext uri="{FF2B5EF4-FFF2-40B4-BE49-F238E27FC236}">
                <a16:creationId xmlns:a16="http://schemas.microsoft.com/office/drawing/2014/main" id="{8FE06684-5D16-48EE-BAD4-A044185C5F2D}"/>
              </a:ext>
            </a:extLst>
          </p:cNvPr>
          <p:cNvSpPr/>
          <p:nvPr/>
        </p:nvSpPr>
        <p:spPr>
          <a:xfrm rot="10605864">
            <a:off x="9041078" y="4768447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13176-1FA4-4361-8590-02772004D53B}"/>
              </a:ext>
            </a:extLst>
          </p:cNvPr>
          <p:cNvSpPr txBox="1"/>
          <p:nvPr/>
        </p:nvSpPr>
        <p:spPr>
          <a:xfrm>
            <a:off x="8913175" y="452828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88B1D8-2352-49B3-8D4A-C52803442F10}"/>
              </a:ext>
            </a:extLst>
          </p:cNvPr>
          <p:cNvSpPr txBox="1"/>
          <p:nvPr/>
        </p:nvSpPr>
        <p:spPr>
          <a:xfrm>
            <a:off x="8943319" y="567533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0D8694-293F-4D55-BEDE-D27314668BE6}"/>
              </a:ext>
            </a:extLst>
          </p:cNvPr>
          <p:cNvSpPr/>
          <p:nvPr/>
        </p:nvSpPr>
        <p:spPr>
          <a:xfrm>
            <a:off x="10232174" y="690176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601993-7F52-493A-B7DE-0C97450381F0}"/>
              </a:ext>
            </a:extLst>
          </p:cNvPr>
          <p:cNvSpPr txBox="1"/>
          <p:nvPr/>
        </p:nvSpPr>
        <p:spPr>
          <a:xfrm>
            <a:off x="11554824" y="6022382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0058AB-F29D-4393-8B74-05D24414B699}"/>
              </a:ext>
            </a:extLst>
          </p:cNvPr>
          <p:cNvSpPr txBox="1"/>
          <p:nvPr/>
        </p:nvSpPr>
        <p:spPr>
          <a:xfrm>
            <a:off x="11554824" y="63317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6E56BB-A809-4035-A19A-C56B11A767E8}"/>
              </a:ext>
            </a:extLst>
          </p:cNvPr>
          <p:cNvSpPr/>
          <p:nvPr/>
        </p:nvSpPr>
        <p:spPr>
          <a:xfrm>
            <a:off x="10216950" y="5311777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E8E779-CE23-4B5F-B108-4C1ABCC110A9}"/>
              </a:ext>
            </a:extLst>
          </p:cNvPr>
          <p:cNvSpPr/>
          <p:nvPr/>
        </p:nvSpPr>
        <p:spPr>
          <a:xfrm>
            <a:off x="10216948" y="4938905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09E8A0-6648-4BB6-94E4-9D8426D3C6C3}"/>
              </a:ext>
            </a:extLst>
          </p:cNvPr>
          <p:cNvSpPr/>
          <p:nvPr/>
        </p:nvSpPr>
        <p:spPr>
          <a:xfrm>
            <a:off x="10205349" y="4045334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46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2E8CCC-0757-4382-B098-7658AAE70064}"/>
              </a:ext>
            </a:extLst>
          </p:cNvPr>
          <p:cNvSpPr/>
          <p:nvPr/>
        </p:nvSpPr>
        <p:spPr>
          <a:xfrm>
            <a:off x="10236120" y="2317026"/>
            <a:ext cx="1337875" cy="1712285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46B</a:t>
            </a:r>
          </a:p>
        </p:txBody>
      </p:sp>
      <p:sp>
        <p:nvSpPr>
          <p:cNvPr id="34" name="Arrow: Curved Right 33">
            <a:extLst>
              <a:ext uri="{FF2B5EF4-FFF2-40B4-BE49-F238E27FC236}">
                <a16:creationId xmlns:a16="http://schemas.microsoft.com/office/drawing/2014/main" id="{E343D67A-2709-48A3-A8B3-B26E12AF4D9C}"/>
              </a:ext>
            </a:extLst>
          </p:cNvPr>
          <p:cNvSpPr/>
          <p:nvPr/>
        </p:nvSpPr>
        <p:spPr>
          <a:xfrm>
            <a:off x="9682055" y="4693427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Curved Right 34">
            <a:extLst>
              <a:ext uri="{FF2B5EF4-FFF2-40B4-BE49-F238E27FC236}">
                <a16:creationId xmlns:a16="http://schemas.microsoft.com/office/drawing/2014/main" id="{638E8BF1-A9D5-4427-B648-516A5445AA9C}"/>
              </a:ext>
            </a:extLst>
          </p:cNvPr>
          <p:cNvSpPr/>
          <p:nvPr/>
        </p:nvSpPr>
        <p:spPr>
          <a:xfrm rot="10605864">
            <a:off x="11741254" y="4718232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A8F3D4-5117-457E-B1C9-84AA3DE9BC3B}"/>
              </a:ext>
            </a:extLst>
          </p:cNvPr>
          <p:cNvSpPr txBox="1"/>
          <p:nvPr/>
        </p:nvSpPr>
        <p:spPr>
          <a:xfrm>
            <a:off x="11643495" y="5625119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A924E2-E6B1-455A-AF60-581A98728DEF}"/>
              </a:ext>
            </a:extLst>
          </p:cNvPr>
          <p:cNvSpPr/>
          <p:nvPr/>
        </p:nvSpPr>
        <p:spPr>
          <a:xfrm>
            <a:off x="10243141" y="139458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721F01-DB3A-46F1-8F9C-78564C3373C9}"/>
              </a:ext>
            </a:extLst>
          </p:cNvPr>
          <p:cNvSpPr/>
          <p:nvPr/>
        </p:nvSpPr>
        <p:spPr>
          <a:xfrm>
            <a:off x="10256955" y="683394"/>
            <a:ext cx="1320768" cy="70069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AB9481-6C35-455F-84FE-85A64D8FDCBE}"/>
              </a:ext>
            </a:extLst>
          </p:cNvPr>
          <p:cNvSpPr txBox="1"/>
          <p:nvPr/>
        </p:nvSpPr>
        <p:spPr>
          <a:xfrm>
            <a:off x="11552273" y="162226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179E9-2CF7-4AE6-B63D-BB359D026829}"/>
              </a:ext>
            </a:extLst>
          </p:cNvPr>
          <p:cNvSpPr txBox="1"/>
          <p:nvPr/>
        </p:nvSpPr>
        <p:spPr>
          <a:xfrm>
            <a:off x="1219632" y="2664388"/>
            <a:ext cx="464422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MB2-&gt;</a:t>
            </a:r>
            <a:r>
              <a:rPr lang="en-US" dirty="0" err="1">
                <a:latin typeface="Baskerville Old Face" panose="02020602080505020303" pitchFamily="18" charset="0"/>
              </a:rPr>
              <a:t>is_free</a:t>
            </a:r>
            <a:r>
              <a:rPr lang="en-US" dirty="0">
                <a:latin typeface="Baskerville Old Face" panose="02020602080505020303" pitchFamily="18" charset="0"/>
              </a:rPr>
              <a:t> = MM_TRUE;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if (MB2-&gt;next) {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    MB2-&gt;</a:t>
            </a:r>
            <a:r>
              <a:rPr lang="en-US" dirty="0" err="1">
                <a:latin typeface="Baskerville Old Face" panose="02020602080505020303" pitchFamily="18" charset="0"/>
              </a:rPr>
              <a:t>block_size</a:t>
            </a:r>
            <a:r>
              <a:rPr lang="en-US" dirty="0">
                <a:latin typeface="Baskerville Old Face" panose="02020602080505020303" pitchFamily="18" charset="0"/>
              </a:rPr>
              <a:t> += 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	</a:t>
            </a:r>
            <a:r>
              <a:rPr lang="en-US" dirty="0" err="1">
                <a:latin typeface="Baskerville Old Face" panose="02020602080505020303" pitchFamily="18" charset="0"/>
              </a:rPr>
              <a:t>mm_get_hard_internal_memory_frag_size</a:t>
            </a:r>
            <a:r>
              <a:rPr lang="en-US" dirty="0">
                <a:latin typeface="Baskerville Old Face" panose="02020602080505020303" pitchFamily="18" charset="0"/>
              </a:rPr>
              <a:t> (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		MB2, MB2-&gt;</a:t>
            </a:r>
            <a:r>
              <a:rPr lang="en-US" dirty="0" err="1">
                <a:latin typeface="Baskerville Old Face" panose="02020602080505020303" pitchFamily="18" charset="0"/>
              </a:rPr>
              <a:t>next_block</a:t>
            </a:r>
            <a:r>
              <a:rPr lang="en-US" dirty="0">
                <a:latin typeface="Baskerville Old Face" panose="02020602080505020303" pitchFamily="18" charset="0"/>
              </a:rPr>
              <a:t> );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}</a:t>
            </a:r>
          </a:p>
        </p:txBody>
      </p:sp>
      <p:sp>
        <p:nvSpPr>
          <p:cNvPr id="41" name="Arrow: Curved Right 40">
            <a:extLst>
              <a:ext uri="{FF2B5EF4-FFF2-40B4-BE49-F238E27FC236}">
                <a16:creationId xmlns:a16="http://schemas.microsoft.com/office/drawing/2014/main" id="{8B12A448-B208-4D36-8FC5-11D5B3715943}"/>
              </a:ext>
            </a:extLst>
          </p:cNvPr>
          <p:cNvSpPr/>
          <p:nvPr/>
        </p:nvSpPr>
        <p:spPr>
          <a:xfrm>
            <a:off x="9698694" y="1807767"/>
            <a:ext cx="447064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Arrow: Curved Right 41">
            <a:extLst>
              <a:ext uri="{FF2B5EF4-FFF2-40B4-BE49-F238E27FC236}">
                <a16:creationId xmlns:a16="http://schemas.microsoft.com/office/drawing/2014/main" id="{B2A2B528-435B-41B6-9F9D-8FDF14702906}"/>
              </a:ext>
            </a:extLst>
          </p:cNvPr>
          <p:cNvSpPr/>
          <p:nvPr/>
        </p:nvSpPr>
        <p:spPr>
          <a:xfrm rot="10605864">
            <a:off x="11793232" y="1848238"/>
            <a:ext cx="346309" cy="28587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212EFF-51B9-4E95-85F7-97F9613DEC52}"/>
              </a:ext>
            </a:extLst>
          </p:cNvPr>
          <p:cNvSpPr txBox="1"/>
          <p:nvPr/>
        </p:nvSpPr>
        <p:spPr>
          <a:xfrm>
            <a:off x="11613351" y="4478074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</p:spTree>
    <p:extLst>
      <p:ext uri="{BB962C8B-B14F-4D97-AF65-F5344CB8AC3E}">
        <p14:creationId xmlns:p14="http://schemas.microsoft.com/office/powerpoint/2010/main" val="265478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  <p:bldP spid="38" grpId="0" animBg="1"/>
      <p:bldP spid="39" grpId="0" animBg="1"/>
      <p:bldP spid="40" grpId="0"/>
      <p:bldP spid="41" grpId="0" animBg="1"/>
      <p:bldP spid="42" grpId="0" animBg="1"/>
      <p:bldP spid="3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76749-2969-4F24-8925-D2CD5E9D7A86}"/>
              </a:ext>
            </a:extLst>
          </p:cNvPr>
          <p:cNvSpPr txBox="1"/>
          <p:nvPr/>
        </p:nvSpPr>
        <p:spPr>
          <a:xfrm>
            <a:off x="0" y="0"/>
            <a:ext cx="760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Linux Heap Memory Manager in C -&gt; Phase 9 -&gt; Implementing </a:t>
            </a:r>
            <a:r>
              <a:rPr lang="en-US" b="1" dirty="0" err="1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xfree</a:t>
            </a:r>
            <a:r>
              <a:rPr lang="en-US" b="1" dirty="0">
                <a:solidFill>
                  <a:srgbClr val="FFFF0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-&gt; flowchart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5283E-9C33-4100-9E58-91D7CAE18C15}"/>
              </a:ext>
            </a:extLst>
          </p:cNvPr>
          <p:cNvSpPr txBox="1"/>
          <p:nvPr/>
        </p:nvSpPr>
        <p:spPr>
          <a:xfrm>
            <a:off x="286237" y="1148620"/>
            <a:ext cx="443724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Scenario 2 : Covering the Page Boundary Case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Data block to be freed is Upper most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Don’t bother about Lower most , there is no fragmentation beneath lowest data block in VM page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89689-331B-45EB-B44F-D0F0C69CA8F9}"/>
              </a:ext>
            </a:extLst>
          </p:cNvPr>
          <p:cNvSpPr/>
          <p:nvPr/>
        </p:nvSpPr>
        <p:spPr>
          <a:xfrm>
            <a:off x="5607139" y="817392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1D1AA-9BAB-4995-96EC-CAB17FCBD27E}"/>
              </a:ext>
            </a:extLst>
          </p:cNvPr>
          <p:cNvSpPr txBox="1"/>
          <p:nvPr/>
        </p:nvSpPr>
        <p:spPr>
          <a:xfrm>
            <a:off x="6929789" y="6149598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9C4B3-87ED-4932-997E-EB0E0E2CAB18}"/>
              </a:ext>
            </a:extLst>
          </p:cNvPr>
          <p:cNvSpPr txBox="1"/>
          <p:nvPr/>
        </p:nvSpPr>
        <p:spPr>
          <a:xfrm>
            <a:off x="6929789" y="76039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C5D2D-9FD4-4A60-99BB-84C14D4A488F}"/>
              </a:ext>
            </a:extLst>
          </p:cNvPr>
          <p:cNvSpPr/>
          <p:nvPr/>
        </p:nvSpPr>
        <p:spPr>
          <a:xfrm>
            <a:off x="5591915" y="5438993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9DF41F-24FE-4B23-8A0E-10F0D307FEC7}"/>
              </a:ext>
            </a:extLst>
          </p:cNvPr>
          <p:cNvSpPr/>
          <p:nvPr/>
        </p:nvSpPr>
        <p:spPr>
          <a:xfrm>
            <a:off x="5591913" y="5066121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B8D0E9-6C4E-4E8F-96E1-A2C732AD8537}"/>
              </a:ext>
            </a:extLst>
          </p:cNvPr>
          <p:cNvSpPr/>
          <p:nvPr/>
        </p:nvSpPr>
        <p:spPr>
          <a:xfrm>
            <a:off x="5580314" y="4172550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E30BAE-7580-41F1-B265-082D64AE2F56}"/>
              </a:ext>
            </a:extLst>
          </p:cNvPr>
          <p:cNvSpPr/>
          <p:nvPr/>
        </p:nvSpPr>
        <p:spPr>
          <a:xfrm>
            <a:off x="5615398" y="1996003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  <a:endParaRPr lang="en-US" sz="1050" dirty="0">
              <a:solidFill>
                <a:srgbClr val="FFFF00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32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07F18A-74C4-47F1-81AA-5C06DA4BB011}"/>
              </a:ext>
            </a:extLst>
          </p:cNvPr>
          <p:cNvSpPr/>
          <p:nvPr/>
        </p:nvSpPr>
        <p:spPr>
          <a:xfrm>
            <a:off x="5619041" y="1292946"/>
            <a:ext cx="1320768" cy="6773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7F8C26-546B-4364-81DF-289C0B44DE5E}"/>
              </a:ext>
            </a:extLst>
          </p:cNvPr>
          <p:cNvSpPr/>
          <p:nvPr/>
        </p:nvSpPr>
        <p:spPr>
          <a:xfrm>
            <a:off x="5610016" y="2879794"/>
            <a:ext cx="1337875" cy="12927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30" name="Arrow: Curved Right 29">
            <a:extLst>
              <a:ext uri="{FF2B5EF4-FFF2-40B4-BE49-F238E27FC236}">
                <a16:creationId xmlns:a16="http://schemas.microsoft.com/office/drawing/2014/main" id="{F5C27477-783D-4107-93AF-95F95975D5FF}"/>
              </a:ext>
            </a:extLst>
          </p:cNvPr>
          <p:cNvSpPr/>
          <p:nvPr/>
        </p:nvSpPr>
        <p:spPr>
          <a:xfrm>
            <a:off x="5039645" y="2313351"/>
            <a:ext cx="447064" cy="24902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Curved Right 30">
            <a:extLst>
              <a:ext uri="{FF2B5EF4-FFF2-40B4-BE49-F238E27FC236}">
                <a16:creationId xmlns:a16="http://schemas.microsoft.com/office/drawing/2014/main" id="{E82CE36F-7CA3-46DF-AD16-08BF2B972336}"/>
              </a:ext>
            </a:extLst>
          </p:cNvPr>
          <p:cNvSpPr/>
          <p:nvPr/>
        </p:nvSpPr>
        <p:spPr>
          <a:xfrm>
            <a:off x="5021761" y="4807819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Curved Right 31">
            <a:extLst>
              <a:ext uri="{FF2B5EF4-FFF2-40B4-BE49-F238E27FC236}">
                <a16:creationId xmlns:a16="http://schemas.microsoft.com/office/drawing/2014/main" id="{4708FAE9-BC80-4383-8C7D-B06F058EC250}"/>
              </a:ext>
            </a:extLst>
          </p:cNvPr>
          <p:cNvSpPr/>
          <p:nvPr/>
        </p:nvSpPr>
        <p:spPr>
          <a:xfrm rot="10605864">
            <a:off x="7139551" y="2175347"/>
            <a:ext cx="447064" cy="2665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Arrow: Curved Right 32">
            <a:extLst>
              <a:ext uri="{FF2B5EF4-FFF2-40B4-BE49-F238E27FC236}">
                <a16:creationId xmlns:a16="http://schemas.microsoft.com/office/drawing/2014/main" id="{C609119D-43CC-48E5-95C3-E2A4ED683AD9}"/>
              </a:ext>
            </a:extLst>
          </p:cNvPr>
          <p:cNvSpPr/>
          <p:nvPr/>
        </p:nvSpPr>
        <p:spPr>
          <a:xfrm rot="10605864">
            <a:off x="7116219" y="4845448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1A4162-A6A5-4A66-9C49-72A290948227}"/>
              </a:ext>
            </a:extLst>
          </p:cNvPr>
          <p:cNvSpPr txBox="1"/>
          <p:nvPr/>
        </p:nvSpPr>
        <p:spPr>
          <a:xfrm>
            <a:off x="6988316" y="4605290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FC68E0-5B86-4B86-ABBA-773B2760DA27}"/>
              </a:ext>
            </a:extLst>
          </p:cNvPr>
          <p:cNvSpPr txBox="1"/>
          <p:nvPr/>
        </p:nvSpPr>
        <p:spPr>
          <a:xfrm>
            <a:off x="7018460" y="5752335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B614DD-FBDC-483D-98ED-C31F6F5E5E4D}"/>
              </a:ext>
            </a:extLst>
          </p:cNvPr>
          <p:cNvSpPr/>
          <p:nvPr/>
        </p:nvSpPr>
        <p:spPr>
          <a:xfrm>
            <a:off x="5606897" y="802900"/>
            <a:ext cx="1320768" cy="4692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12B (IF)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513EDB-2873-4CFA-BF20-98819B95ECCA}"/>
              </a:ext>
            </a:extLst>
          </p:cNvPr>
          <p:cNvSpPr txBox="1"/>
          <p:nvPr/>
        </p:nvSpPr>
        <p:spPr>
          <a:xfrm>
            <a:off x="6961653" y="231335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7AB457-A5AE-49F9-A544-6D29E42F7A12}"/>
              </a:ext>
            </a:extLst>
          </p:cNvPr>
          <p:cNvSpPr/>
          <p:nvPr/>
        </p:nvSpPr>
        <p:spPr>
          <a:xfrm>
            <a:off x="9263141" y="814518"/>
            <a:ext cx="1361072" cy="551253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5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18929A-BAD9-45F0-B43C-D0B8203F7A89}"/>
              </a:ext>
            </a:extLst>
          </p:cNvPr>
          <p:cNvSpPr txBox="1"/>
          <p:nvPr/>
        </p:nvSpPr>
        <p:spPr>
          <a:xfrm>
            <a:off x="10585791" y="6146724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D2695E-AC37-47BB-AE57-46F1D39F483B}"/>
              </a:ext>
            </a:extLst>
          </p:cNvPr>
          <p:cNvSpPr txBox="1"/>
          <p:nvPr/>
        </p:nvSpPr>
        <p:spPr>
          <a:xfrm>
            <a:off x="10585791" y="757521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054265-D9F3-439D-BD0C-742E6FDEC19A}"/>
              </a:ext>
            </a:extLst>
          </p:cNvPr>
          <p:cNvSpPr/>
          <p:nvPr/>
        </p:nvSpPr>
        <p:spPr>
          <a:xfrm>
            <a:off x="9247917" y="5436119"/>
            <a:ext cx="1361071" cy="8460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20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= MB2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23FE31-1DE5-47C5-8726-D17AA6EB1A16}"/>
              </a:ext>
            </a:extLst>
          </p:cNvPr>
          <p:cNvSpPr/>
          <p:nvPr/>
        </p:nvSpPr>
        <p:spPr>
          <a:xfrm>
            <a:off x="9247915" y="5063247"/>
            <a:ext cx="1337875" cy="35303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914FEC-ED8F-47FE-8D41-1615168CE370}"/>
              </a:ext>
            </a:extLst>
          </p:cNvPr>
          <p:cNvSpPr/>
          <p:nvPr/>
        </p:nvSpPr>
        <p:spPr>
          <a:xfrm>
            <a:off x="9236316" y="4169676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=FALSE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60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MB1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4022DE-9B0B-4873-BC31-E1D0127E8B13}"/>
              </a:ext>
            </a:extLst>
          </p:cNvPr>
          <p:cNvSpPr/>
          <p:nvPr/>
        </p:nvSpPr>
        <p:spPr>
          <a:xfrm>
            <a:off x="9271400" y="1993129"/>
            <a:ext cx="1361071" cy="8737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Is_free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TRUE</a:t>
            </a:r>
          </a:p>
          <a:p>
            <a:pPr algn="ctr"/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block_size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</a:t>
            </a:r>
            <a:r>
              <a:rPr lang="en-US" sz="10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44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prev_block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MB2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_</a:t>
            </a:r>
            <a:r>
              <a:rPr lang="en-US" sz="105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next_block</a:t>
            </a:r>
            <a:r>
              <a:rPr lang="en-US" sz="1050" dirty="0">
                <a:solidFill>
                  <a:schemeClr val="bg1"/>
                </a:solidFill>
                <a:latin typeface="Baskerville Old Face" panose="02020602080505020303" pitchFamily="18" charset="0"/>
              </a:rPr>
              <a:t> = NULL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617D74-1AE2-4E2A-ADDC-605F57BC613B}"/>
              </a:ext>
            </a:extLst>
          </p:cNvPr>
          <p:cNvSpPr/>
          <p:nvPr/>
        </p:nvSpPr>
        <p:spPr>
          <a:xfrm>
            <a:off x="9275043" y="833768"/>
            <a:ext cx="1320768" cy="1152910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6661F8-A331-4EFF-ADCB-C5B9925F816B}"/>
              </a:ext>
            </a:extLst>
          </p:cNvPr>
          <p:cNvSpPr/>
          <p:nvPr/>
        </p:nvSpPr>
        <p:spPr>
          <a:xfrm>
            <a:off x="9266018" y="2876920"/>
            <a:ext cx="1337875" cy="129275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plastic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60B</a:t>
            </a:r>
          </a:p>
        </p:txBody>
      </p:sp>
      <p:sp>
        <p:nvSpPr>
          <p:cNvPr id="47" name="Arrow: Curved Right 46">
            <a:extLst>
              <a:ext uri="{FF2B5EF4-FFF2-40B4-BE49-F238E27FC236}">
                <a16:creationId xmlns:a16="http://schemas.microsoft.com/office/drawing/2014/main" id="{96ADDC76-7908-4653-94CF-A94170B407B7}"/>
              </a:ext>
            </a:extLst>
          </p:cNvPr>
          <p:cNvSpPr/>
          <p:nvPr/>
        </p:nvSpPr>
        <p:spPr>
          <a:xfrm>
            <a:off x="8695647" y="2310477"/>
            <a:ext cx="447064" cy="24902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urved Right 47">
            <a:extLst>
              <a:ext uri="{FF2B5EF4-FFF2-40B4-BE49-F238E27FC236}">
                <a16:creationId xmlns:a16="http://schemas.microsoft.com/office/drawing/2014/main" id="{F0BF43C2-1696-454F-98D6-A69B3A2F3247}"/>
              </a:ext>
            </a:extLst>
          </p:cNvPr>
          <p:cNvSpPr/>
          <p:nvPr/>
        </p:nvSpPr>
        <p:spPr>
          <a:xfrm>
            <a:off x="8677763" y="4804945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urved Right 48">
            <a:extLst>
              <a:ext uri="{FF2B5EF4-FFF2-40B4-BE49-F238E27FC236}">
                <a16:creationId xmlns:a16="http://schemas.microsoft.com/office/drawing/2014/main" id="{9FA412C2-AD22-44D2-A9AD-D9BF857DF2CF}"/>
              </a:ext>
            </a:extLst>
          </p:cNvPr>
          <p:cNvSpPr/>
          <p:nvPr/>
        </p:nvSpPr>
        <p:spPr>
          <a:xfrm rot="10605864">
            <a:off x="10795553" y="2172473"/>
            <a:ext cx="447064" cy="2665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row: Curved Right 49">
            <a:extLst>
              <a:ext uri="{FF2B5EF4-FFF2-40B4-BE49-F238E27FC236}">
                <a16:creationId xmlns:a16="http://schemas.microsoft.com/office/drawing/2014/main" id="{9E58586C-DC1B-452F-B463-8B6FF6C6CABD}"/>
              </a:ext>
            </a:extLst>
          </p:cNvPr>
          <p:cNvSpPr/>
          <p:nvPr/>
        </p:nvSpPr>
        <p:spPr>
          <a:xfrm rot="10605864">
            <a:off x="10772221" y="4842574"/>
            <a:ext cx="447064" cy="115338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099659-9C95-4273-9471-D718D6833017}"/>
              </a:ext>
            </a:extLst>
          </p:cNvPr>
          <p:cNvSpPr txBox="1"/>
          <p:nvPr/>
        </p:nvSpPr>
        <p:spPr>
          <a:xfrm>
            <a:off x="10644318" y="4602416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469095-E423-4839-ABC5-48F72CF6669F}"/>
              </a:ext>
            </a:extLst>
          </p:cNvPr>
          <p:cNvSpPr txBox="1"/>
          <p:nvPr/>
        </p:nvSpPr>
        <p:spPr>
          <a:xfrm>
            <a:off x="10674462" y="5749461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358AC6-F7A3-400F-96C9-A43243C69226}"/>
              </a:ext>
            </a:extLst>
          </p:cNvPr>
          <p:cNvSpPr txBox="1"/>
          <p:nvPr/>
        </p:nvSpPr>
        <p:spPr>
          <a:xfrm>
            <a:off x="10617655" y="2310477"/>
            <a:ext cx="563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MB3</a:t>
            </a:r>
          </a:p>
        </p:txBody>
      </p:sp>
    </p:spTree>
    <p:extLst>
      <p:ext uri="{BB962C8B-B14F-4D97-AF65-F5344CB8AC3E}">
        <p14:creationId xmlns:p14="http://schemas.microsoft.com/office/powerpoint/2010/main" val="167782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4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D1BF-D044-478D-94E0-11789B144B26}"/>
              </a:ext>
            </a:extLst>
          </p:cNvPr>
          <p:cNvSpPr/>
          <p:nvPr/>
        </p:nvSpPr>
        <p:spPr>
          <a:xfrm>
            <a:off x="2037631" y="1074509"/>
            <a:ext cx="8505854" cy="470898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System C Project</a:t>
            </a:r>
          </a:p>
          <a:p>
            <a:pPr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Linux 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FF"/>
                </a:solidFill>
                <a:latin typeface="Baskerville Old Face" panose="02020602080505020303" pitchFamily="18" charset="0"/>
              </a:rPr>
              <a:t>Heap Memory Manager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latin typeface="Baskerville Old Face" panose="02020602080505020303" pitchFamily="18" charset="0"/>
              </a:rPr>
              <a:t>In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CEC4F-C12E-45DB-B22C-1CB5BBED5A6A}"/>
              </a:ext>
            </a:extLst>
          </p:cNvPr>
          <p:cNvSpPr txBox="1"/>
          <p:nvPr/>
        </p:nvSpPr>
        <p:spPr>
          <a:xfrm>
            <a:off x="8649746" y="6036408"/>
            <a:ext cx="3182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Author : Abhishek Sagar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Website : </a:t>
            </a:r>
            <a:r>
              <a:rPr lang="en-US" dirty="0">
                <a:solidFill>
                  <a:srgbClr val="FFFF00"/>
                </a:solidFill>
                <a:latin typeface="Baskerville Old Face" panose="02020602080505020303" pitchFamily="18" charset="0"/>
              </a:rPr>
              <a:t>www.csepracticals.com</a:t>
            </a:r>
          </a:p>
        </p:txBody>
      </p:sp>
    </p:spTree>
    <p:extLst>
      <p:ext uri="{BB962C8B-B14F-4D97-AF65-F5344CB8AC3E}">
        <p14:creationId xmlns:p14="http://schemas.microsoft.com/office/powerpoint/2010/main" val="6356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15716</Words>
  <Application>Microsoft Office PowerPoint</Application>
  <PresentationFormat>Widescreen</PresentationFormat>
  <Paragraphs>3107</Paragraphs>
  <Slides>121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8" baseType="lpstr">
      <vt:lpstr>Aptos</vt:lpstr>
      <vt:lpstr>Aptos Display</vt:lpstr>
      <vt:lpstr>Arial</vt:lpstr>
      <vt:lpstr>Baskerville Old Face</vt:lpstr>
      <vt:lpstr>Century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Sagar</dc:creator>
  <cp:lastModifiedBy>Kamble Prashant (MS/EVC-PA5-XC)</cp:lastModifiedBy>
  <cp:revision>1</cp:revision>
  <dcterms:created xsi:type="dcterms:W3CDTF">2024-09-16T19:04:53Z</dcterms:created>
  <dcterms:modified xsi:type="dcterms:W3CDTF">2025-04-21T09:56:32Z</dcterms:modified>
</cp:coreProperties>
</file>